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60" r:id="rId5"/>
    <p:sldId id="266" r:id="rId6"/>
    <p:sldId id="262" r:id="rId7"/>
    <p:sldId id="264" r:id="rId8"/>
    <p:sldId id="263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7" r:id="rId17"/>
    <p:sldId id="278" r:id="rId18"/>
    <p:sldId id="279" r:id="rId19"/>
    <p:sldId id="280" r:id="rId20"/>
    <p:sldId id="29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00"/>
    <a:srgbClr val="BFE8F7"/>
    <a:srgbClr val="1E86DE"/>
    <a:srgbClr val="FFFFFF"/>
    <a:srgbClr val="9FDBF3"/>
    <a:srgbClr val="64B3D8"/>
    <a:srgbClr val="3687C6"/>
    <a:srgbClr val="0A5C6D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90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8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8.xml"/><Relationship Id="rId4" Type="http://schemas.openxmlformats.org/officeDocument/2006/relationships/image" Target="../media/image1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132.xml"/><Relationship Id="rId4" Type="http://schemas.openxmlformats.org/officeDocument/2006/relationships/image" Target="../media/image2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wmf"/><Relationship Id="rId8" Type="http://schemas.openxmlformats.org/officeDocument/2006/relationships/oleObject" Target="../embeddings/oleObject3.bin"/><Relationship Id="rId7" Type="http://schemas.openxmlformats.org/officeDocument/2006/relationships/image" Target="../media/image4.wmf"/><Relationship Id="rId6" Type="http://schemas.openxmlformats.org/officeDocument/2006/relationships/oleObject" Target="../embeddings/oleObject2.bin"/><Relationship Id="rId5" Type="http://schemas.openxmlformats.org/officeDocument/2006/relationships/tags" Target="../tags/tag135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2" Type="http://schemas.openxmlformats.org/officeDocument/2006/relationships/tags" Target="../tags/tag134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36.xml"/><Relationship Id="rId1" Type="http://schemas.openxmlformats.org/officeDocument/2006/relationships/tags" Target="../tags/tag13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7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40.xml"/><Relationship Id="rId11" Type="http://schemas.openxmlformats.org/officeDocument/2006/relationships/image" Target="../media/image9.wmf"/><Relationship Id="rId10" Type="http://schemas.openxmlformats.org/officeDocument/2006/relationships/oleObject" Target="../embeddings/oleObject7.bin"/><Relationship Id="rId1" Type="http://schemas.openxmlformats.org/officeDocument/2006/relationships/tags" Target="../tags/tag1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8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44.xml"/><Relationship Id="rId1" Type="http://schemas.openxmlformats.org/officeDocument/2006/relationships/tags" Target="../tags/tag14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148.xml"/><Relationship Id="rId7" Type="http://schemas.openxmlformats.org/officeDocument/2006/relationships/image" Target="../media/image3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0" Type="http://schemas.openxmlformats.org/officeDocument/2006/relationships/vmlDrawing" Target="../drawings/vmlDrawing4.vml"/><Relationship Id="rId1" Type="http://schemas.openxmlformats.org/officeDocument/2006/relationships/tags" Target="../tags/tag14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150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4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ags" Target="../tags/tag15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15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160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ags" Target="../tags/tag16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tags" Target="../tags/tag16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175.xml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Relationship Id="rId3" Type="http://schemas.openxmlformats.org/officeDocument/2006/relationships/image" Target="../media/image32.png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178.xml"/><Relationship Id="rId4" Type="http://schemas.openxmlformats.org/officeDocument/2006/relationships/image" Target="../media/image40.png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181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85.xml"/><Relationship Id="rId3" Type="http://schemas.openxmlformats.org/officeDocument/2006/relationships/image" Target="../media/image39.png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188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91.xml"/><Relationship Id="rId3" Type="http://schemas.openxmlformats.org/officeDocument/2006/relationships/image" Target="../media/image45.png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tags" Target="../tags/tag193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9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197.xml"/><Relationship Id="rId3" Type="http://schemas.openxmlformats.org/officeDocument/2006/relationships/image" Target="../media/image52.pn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200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203.xml"/><Relationship Id="rId3" Type="http://schemas.openxmlformats.org/officeDocument/2006/relationships/image" Target="../media/image55.png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tags" Target="../tags/tag206.xml"/><Relationship Id="rId3" Type="http://schemas.openxmlformats.org/officeDocument/2006/relationships/image" Target="../media/image55.png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209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3"/>
            </p:custDataLst>
          </p:nvPr>
        </p:nvCxnSpPr>
        <p:spPr>
          <a:xfrm>
            <a:off x="633560" y="1428830"/>
            <a:ext cx="619326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63295" y="1266190"/>
                <a:ext cx="10265410" cy="36461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indent="457200">
                  <a:lnSpc>
                    <a:spcPct val="150000"/>
                  </a:lnSpc>
                  <a:buNone/>
                </a:pPr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设随机过程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X</m:t>
                        </m:r>
                        <m:d>
                          <m:d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t</m:t>
                            </m:r>
                          </m:e>
                        </m:d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t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的状态空间为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I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 ，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表示时间的集合，是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的变化范围。如果对时间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的任意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个数值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&lt;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&lt;…&lt;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≥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3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，在多个条件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𝐼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𝑖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2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,…,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−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下，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的条件分布函数等于在单一条件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𝑛</m:t>
                            </m:r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下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的条件分布函数，即： </a:t>
                </a:r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0" indent="45720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,…,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∈</m:t>
                      </m:r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0" indent="457200">
                  <a:lnSpc>
                    <a:spcPct val="150000"/>
                  </a:lnSpc>
                  <a:buNone/>
                </a:pPr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则称过程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𝑋</m:t>
                        </m:r>
                        <m:d>
                          <m:d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具有马尔可夫性</a:t>
                </a:r>
                <a:r>
                  <a:rPr lang="zh-CN" altLang="zh-CN" sz="2200" dirty="0" smtClean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，称</a:t>
                </a:r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此过程为马尔可夫过程。</a:t>
                </a:r>
                <a:endParaRPr lang="zh-CN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295" y="1266190"/>
                <a:ext cx="10265410" cy="36461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3"/>
            </p:custDataLst>
          </p:nvPr>
        </p:nvCxnSpPr>
        <p:spPr>
          <a:xfrm>
            <a:off x="633560" y="1428830"/>
            <a:ext cx="619326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ontent Placeholder 2"/>
              <p:cNvSpPr txBox="1"/>
              <p:nvPr/>
            </p:nvSpPr>
            <p:spPr>
              <a:xfrm>
                <a:off x="482600" y="1083945"/>
                <a:ext cx="10852785" cy="4520565"/>
              </a:xfrm>
              <a:prstGeom prst="rect">
                <a:avLst/>
              </a:prstGeom>
            </p:spPr>
            <p:txBody>
              <a:bodyPr vert="horz" lIns="91392" tIns="45696" rIns="91392" bIns="45696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457200">
                  <a:lnSpc>
                    <a:spcPct val="150000"/>
                  </a:lnSpc>
                  <a:buNone/>
                </a:pPr>
                <a:r>
                  <a:rPr lang="zh-CN" altLang="zh-CN" sz="2200" dirty="0" smtClean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时间和状态都是离散的马尔可夫过程称为马尔可夫链，它可以看作在时间集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0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上对离散状态的过程相继观察的结果。设马尔可夫链的状态空间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𝐼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,…</m:t>
                        </m:r>
                      </m:e>
                    </m:d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zh-CN" altLang="zh-CN" sz="2200" dirty="0" smtClean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。</a:t>
                </a: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通常用条件分布律来表示马尔可夫链的马尔可夫性</a:t>
                </a:r>
                <a:r>
                  <a:rPr lang="zh-CN" altLang="en-US" sz="2200" dirty="0" smtClean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，</a:t>
                </a:r>
                <a:r>
                  <a:rPr lang="zh-CN" altLang="zh-CN" sz="2200" dirty="0" smtClean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即</a:t>
                </a:r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对任意的正整数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0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≤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&lt;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&lt;…&lt;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𝑚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zh-CN" altLang="en-US" sz="2200" b="0" i="1" smtClean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且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𝑚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𝑚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∈</m:t>
                    </m:r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，有：</a:t>
                </a:r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0" indent="45720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𝑚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200">
                                      <a:solidFill>
                                        <a:prstClr val="black">
                                          <a:lumMod val="85000"/>
                                          <a:lumOff val="15000"/>
                                        </a:prstClr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𝑚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0" indent="457200">
                  <a:lnSpc>
                    <a:spcPct val="150000"/>
                  </a:lnSpc>
                  <a:buNone/>
                </a:pPr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zh-CN" altLang="zh-CN" sz="2200" i="1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200">
                                <a:solidFill>
                                  <a:prstClr val="black">
                                    <a:lumMod val="85000"/>
                                    <a:lumOff val="15000"/>
                                  </a:prstClr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𝐼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。称条件概率</a:t>
                </a:r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0" indent="45720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𝑚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𝑚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≜</m:t>
                      </m:r>
                      <m:r>
                        <a:rPr lang="en-US" altLang="zh-CN" sz="2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Cambria Math" panose="02040503050406030204"/>
                          <a:ea typeface="微软雅黑" panose="020B0503020204020204" charset="-122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sz="2200" i="1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𝑚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200"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>
                                  <a:solidFill>
                                    <a:prstClr val="black">
                                      <a:lumMod val="85000"/>
                                      <a:lumOff val="15000"/>
                                    </a:prstClr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0" indent="457200">
                  <a:lnSpc>
                    <a:spcPct val="150000"/>
                  </a:lnSpc>
                  <a:buNone/>
                </a:pPr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为马氏链在时刻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处于状态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条件下，在时刻</a:t>
                </a:r>
                <a14:m>
                  <m:oMath xmlns:m="http://schemas.openxmlformats.org/officeDocument/2006/math"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𝑚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Cambria Math" panose="02040503050406030204"/>
                        <a:ea typeface="微软雅黑" panose="020B0503020204020204" charset="-122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转移到状态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200">
                            <a:solidFill>
                              <a:prstClr val="black">
                                <a:lumMod val="85000"/>
                                <a:lumOff val="15000"/>
                              </a:prstClr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的转移概率。</a:t>
                </a:r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0" indent="457200">
                  <a:lnSpc>
                    <a:spcPct val="150000"/>
                  </a:lnSpc>
                  <a:buNone/>
                </a:pPr>
                <a:endParaRPr lang="en-US" altLang="zh-CN" sz="22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083945"/>
                <a:ext cx="10852785" cy="4520565"/>
              </a:xfrm>
              <a:prstGeom prst="rect">
                <a:avLst/>
              </a:prstGeom>
              <a:blipFill rotWithShape="1">
                <a:blip r:embed="rId4"/>
                <a:stretch>
                  <a:fillRect b="-10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5098415" y="844550"/>
            <a:ext cx="6572885" cy="4286250"/>
            <a:chOff x="8029" y="1330"/>
            <a:chExt cx="10351" cy="6750"/>
          </a:xfrm>
        </p:grpSpPr>
        <p:sp>
          <p:nvSpPr>
            <p:cNvPr id="3" name="椭圆 2"/>
            <p:cNvSpPr/>
            <p:nvPr/>
          </p:nvSpPr>
          <p:spPr>
            <a:xfrm>
              <a:off x="12672" y="3077"/>
              <a:ext cx="1156" cy="1156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5" name="椭圆 4"/>
            <p:cNvSpPr/>
            <p:nvPr/>
          </p:nvSpPr>
          <p:spPr>
            <a:xfrm>
              <a:off x="10165" y="6206"/>
              <a:ext cx="1084" cy="1039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Y</a:t>
              </a:r>
              <a:endParaRPr lang="en-US" altLang="zh-CN"/>
            </a:p>
          </p:txBody>
        </p:sp>
        <p:sp>
          <p:nvSpPr>
            <p:cNvPr id="7" name="椭圆 6"/>
            <p:cNvSpPr/>
            <p:nvPr/>
          </p:nvSpPr>
          <p:spPr>
            <a:xfrm>
              <a:off x="15366" y="6299"/>
              <a:ext cx="1086" cy="114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Z</a:t>
              </a:r>
              <a:endParaRPr lang="en-US" altLang="zh-CN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2841" y="1330"/>
              <a:ext cx="113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0.9</a:t>
              </a:r>
              <a:endParaRPr lang="en-US" altLang="zh-CN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12565" y="1910"/>
              <a:ext cx="1246" cy="1260"/>
            </a:xfrm>
            <a:custGeom>
              <a:avLst/>
              <a:gdLst>
                <a:gd name="connisteX0" fmla="*/ 184946 w 791071"/>
                <a:gd name="connsiteY0" fmla="*/ 800284 h 800284"/>
                <a:gd name="connisteX1" fmla="*/ 29371 w 791071"/>
                <a:gd name="connsiteY1" fmla="*/ 607879 h 800284"/>
                <a:gd name="connisteX2" fmla="*/ 22386 w 791071"/>
                <a:gd name="connsiteY2" fmla="*/ 281489 h 800284"/>
                <a:gd name="connisteX3" fmla="*/ 207171 w 791071"/>
                <a:gd name="connsiteY3" fmla="*/ 59239 h 800284"/>
                <a:gd name="connisteX4" fmla="*/ 414816 w 791071"/>
                <a:gd name="connsiteY4" fmla="*/ 184 h 800284"/>
                <a:gd name="connisteX5" fmla="*/ 629446 w 791071"/>
                <a:gd name="connsiteY5" fmla="*/ 66859 h 800284"/>
                <a:gd name="connisteX6" fmla="*/ 770416 w 791071"/>
                <a:gd name="connsiteY6" fmla="*/ 259264 h 800284"/>
                <a:gd name="connisteX7" fmla="*/ 785021 w 791071"/>
                <a:gd name="connsiteY7" fmla="*/ 481514 h 800284"/>
                <a:gd name="connisteX8" fmla="*/ 748191 w 791071"/>
                <a:gd name="connsiteY8" fmla="*/ 607879 h 800284"/>
                <a:gd name="connisteX9" fmla="*/ 651671 w 791071"/>
                <a:gd name="connsiteY9" fmla="*/ 792664 h 8002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</a:cxnLst>
              <a:rect l="l" t="t" r="r" b="b"/>
              <a:pathLst>
                <a:path w="791072" h="800285">
                  <a:moveTo>
                    <a:pt x="184947" y="800285"/>
                  </a:moveTo>
                  <a:cubicBezTo>
                    <a:pt x="153832" y="768535"/>
                    <a:pt x="61757" y="711385"/>
                    <a:pt x="29372" y="607880"/>
                  </a:cubicBezTo>
                  <a:cubicBezTo>
                    <a:pt x="-3013" y="504375"/>
                    <a:pt x="-13173" y="391345"/>
                    <a:pt x="22387" y="281490"/>
                  </a:cubicBezTo>
                  <a:cubicBezTo>
                    <a:pt x="57947" y="171635"/>
                    <a:pt x="128432" y="115755"/>
                    <a:pt x="207172" y="59240"/>
                  </a:cubicBezTo>
                  <a:cubicBezTo>
                    <a:pt x="285912" y="2725"/>
                    <a:pt x="330362" y="-1085"/>
                    <a:pt x="414817" y="185"/>
                  </a:cubicBezTo>
                  <a:cubicBezTo>
                    <a:pt x="499272" y="1455"/>
                    <a:pt x="558327" y="14790"/>
                    <a:pt x="629447" y="66860"/>
                  </a:cubicBezTo>
                  <a:cubicBezTo>
                    <a:pt x="700567" y="118930"/>
                    <a:pt x="739302" y="176080"/>
                    <a:pt x="770417" y="259265"/>
                  </a:cubicBezTo>
                  <a:cubicBezTo>
                    <a:pt x="801532" y="342450"/>
                    <a:pt x="789467" y="411665"/>
                    <a:pt x="785022" y="481515"/>
                  </a:cubicBezTo>
                  <a:cubicBezTo>
                    <a:pt x="780577" y="551365"/>
                    <a:pt x="774862" y="545650"/>
                    <a:pt x="748192" y="607880"/>
                  </a:cubicBezTo>
                  <a:cubicBezTo>
                    <a:pt x="721522" y="670110"/>
                    <a:pt x="670087" y="758375"/>
                    <a:pt x="651672" y="792665"/>
                  </a:cubicBezTo>
                </a:path>
              </a:pathLst>
            </a:custGeom>
            <a:noFill/>
            <a:ln w="22225">
              <a:tailEnd type="arrow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2" name="直接箭头连接符 51"/>
            <p:cNvCxnSpPr/>
            <p:nvPr/>
          </p:nvCxnSpPr>
          <p:spPr>
            <a:xfrm flipH="1">
              <a:off x="10921" y="3912"/>
              <a:ext cx="1751" cy="2294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3" name="文本框 52"/>
            <p:cNvSpPr txBox="1"/>
            <p:nvPr/>
          </p:nvSpPr>
          <p:spPr>
            <a:xfrm>
              <a:off x="10754" y="4606"/>
              <a:ext cx="142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0.075</a:t>
              </a:r>
              <a:endParaRPr lang="en-US" altLang="zh-CN"/>
            </a:p>
          </p:txBody>
        </p:sp>
        <p:cxnSp>
          <p:nvCxnSpPr>
            <p:cNvPr id="54" name="直接箭头连接符 53"/>
            <p:cNvCxnSpPr>
              <a:endCxn id="7" idx="0"/>
            </p:cNvCxnSpPr>
            <p:nvPr/>
          </p:nvCxnSpPr>
          <p:spPr>
            <a:xfrm>
              <a:off x="13779" y="4070"/>
              <a:ext cx="2130" cy="2229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14607" y="4723"/>
              <a:ext cx="13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0.025</a:t>
              </a:r>
              <a:endParaRPr lang="en-US" altLang="zh-CN"/>
            </a:p>
          </p:txBody>
        </p:sp>
        <p:cxnSp>
          <p:nvCxnSpPr>
            <p:cNvPr id="56" name="直接箭头连接符 55"/>
            <p:cNvCxnSpPr/>
            <p:nvPr/>
          </p:nvCxnSpPr>
          <p:spPr>
            <a:xfrm flipV="1">
              <a:off x="11202" y="4210"/>
              <a:ext cx="1620" cy="2089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11945" y="5186"/>
              <a:ext cx="142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0.15</a:t>
              </a:r>
              <a:endParaRPr lang="en-US" altLang="zh-CN"/>
            </a:p>
          </p:txBody>
        </p:sp>
        <p:cxnSp>
          <p:nvCxnSpPr>
            <p:cNvPr id="58" name="直接箭头连接符 57"/>
            <p:cNvCxnSpPr/>
            <p:nvPr/>
          </p:nvCxnSpPr>
          <p:spPr>
            <a:xfrm>
              <a:off x="11387" y="6660"/>
              <a:ext cx="3978" cy="46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12729" y="6080"/>
              <a:ext cx="12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0.05</a:t>
              </a:r>
              <a:endParaRPr lang="en-US" altLang="zh-CN"/>
            </a:p>
          </p:txBody>
        </p:sp>
        <p:sp>
          <p:nvSpPr>
            <p:cNvPr id="60" name="任意多边形 59"/>
            <p:cNvSpPr/>
            <p:nvPr/>
          </p:nvSpPr>
          <p:spPr>
            <a:xfrm rot="16380000">
              <a:off x="8998" y="6107"/>
              <a:ext cx="1246" cy="1260"/>
            </a:xfrm>
            <a:custGeom>
              <a:avLst/>
              <a:gdLst>
                <a:gd name="connisteX0" fmla="*/ 184946 w 791071"/>
                <a:gd name="connsiteY0" fmla="*/ 800284 h 800284"/>
                <a:gd name="connisteX1" fmla="*/ 29371 w 791071"/>
                <a:gd name="connsiteY1" fmla="*/ 607879 h 800284"/>
                <a:gd name="connisteX2" fmla="*/ 22386 w 791071"/>
                <a:gd name="connsiteY2" fmla="*/ 281489 h 800284"/>
                <a:gd name="connisteX3" fmla="*/ 207171 w 791071"/>
                <a:gd name="connsiteY3" fmla="*/ 59239 h 800284"/>
                <a:gd name="connisteX4" fmla="*/ 414816 w 791071"/>
                <a:gd name="connsiteY4" fmla="*/ 184 h 800284"/>
                <a:gd name="connisteX5" fmla="*/ 629446 w 791071"/>
                <a:gd name="connsiteY5" fmla="*/ 66859 h 800284"/>
                <a:gd name="connisteX6" fmla="*/ 770416 w 791071"/>
                <a:gd name="connsiteY6" fmla="*/ 259264 h 800284"/>
                <a:gd name="connisteX7" fmla="*/ 785021 w 791071"/>
                <a:gd name="connsiteY7" fmla="*/ 481514 h 800284"/>
                <a:gd name="connisteX8" fmla="*/ 748191 w 791071"/>
                <a:gd name="connsiteY8" fmla="*/ 607879 h 800284"/>
                <a:gd name="connisteX9" fmla="*/ 651671 w 791071"/>
                <a:gd name="connsiteY9" fmla="*/ 792664 h 8002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</a:cxnLst>
              <a:rect l="l" t="t" r="r" b="b"/>
              <a:pathLst>
                <a:path w="791072" h="800285">
                  <a:moveTo>
                    <a:pt x="184947" y="800285"/>
                  </a:moveTo>
                  <a:cubicBezTo>
                    <a:pt x="153832" y="768535"/>
                    <a:pt x="61757" y="711385"/>
                    <a:pt x="29372" y="607880"/>
                  </a:cubicBezTo>
                  <a:cubicBezTo>
                    <a:pt x="-3013" y="504375"/>
                    <a:pt x="-13173" y="391345"/>
                    <a:pt x="22387" y="281490"/>
                  </a:cubicBezTo>
                  <a:cubicBezTo>
                    <a:pt x="57947" y="171635"/>
                    <a:pt x="128432" y="115755"/>
                    <a:pt x="207172" y="59240"/>
                  </a:cubicBezTo>
                  <a:cubicBezTo>
                    <a:pt x="285912" y="2725"/>
                    <a:pt x="330362" y="-1085"/>
                    <a:pt x="414817" y="185"/>
                  </a:cubicBezTo>
                  <a:cubicBezTo>
                    <a:pt x="499272" y="1455"/>
                    <a:pt x="558327" y="14790"/>
                    <a:pt x="629447" y="66860"/>
                  </a:cubicBezTo>
                  <a:cubicBezTo>
                    <a:pt x="700567" y="118930"/>
                    <a:pt x="739302" y="176080"/>
                    <a:pt x="770417" y="259265"/>
                  </a:cubicBezTo>
                  <a:cubicBezTo>
                    <a:pt x="801532" y="342450"/>
                    <a:pt x="789467" y="411665"/>
                    <a:pt x="785022" y="481515"/>
                  </a:cubicBezTo>
                  <a:cubicBezTo>
                    <a:pt x="780577" y="551365"/>
                    <a:pt x="774862" y="545650"/>
                    <a:pt x="748192" y="607880"/>
                  </a:cubicBezTo>
                  <a:cubicBezTo>
                    <a:pt x="721522" y="670110"/>
                    <a:pt x="670087" y="758375"/>
                    <a:pt x="651672" y="792665"/>
                  </a:cubicBezTo>
                </a:path>
              </a:pathLst>
            </a:custGeom>
            <a:noFill/>
            <a:ln w="22225">
              <a:tailEnd type="arrow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8029" y="6383"/>
              <a:ext cx="9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0.8</a:t>
              </a:r>
              <a:endParaRPr lang="en-US" altLang="zh-CN"/>
            </a:p>
          </p:txBody>
        </p:sp>
        <p:cxnSp>
          <p:nvCxnSpPr>
            <p:cNvPr id="62" name="直接箭头连接符 61"/>
            <p:cNvCxnSpPr/>
            <p:nvPr/>
          </p:nvCxnSpPr>
          <p:spPr>
            <a:xfrm flipH="1">
              <a:off x="11234" y="6987"/>
              <a:ext cx="4050" cy="11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3" name="文本框 62"/>
            <p:cNvSpPr txBox="1"/>
            <p:nvPr/>
          </p:nvSpPr>
          <p:spPr>
            <a:xfrm>
              <a:off x="12927" y="7134"/>
              <a:ext cx="15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0.25</a:t>
              </a:r>
              <a:endParaRPr lang="en-US" altLang="zh-CN"/>
            </a:p>
          </p:txBody>
        </p:sp>
        <p:cxnSp>
          <p:nvCxnSpPr>
            <p:cNvPr id="64" name="直接箭头连接符 63"/>
            <p:cNvCxnSpPr>
              <a:stCxn id="7" idx="1"/>
            </p:cNvCxnSpPr>
            <p:nvPr/>
          </p:nvCxnSpPr>
          <p:spPr>
            <a:xfrm flipH="1" flipV="1">
              <a:off x="13452" y="4280"/>
              <a:ext cx="2073" cy="2186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5" name="文本框 64"/>
            <p:cNvSpPr txBox="1"/>
            <p:nvPr/>
          </p:nvSpPr>
          <p:spPr>
            <a:xfrm>
              <a:off x="13530" y="5190"/>
              <a:ext cx="118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0.25</a:t>
              </a:r>
              <a:endParaRPr lang="en-US" altLang="zh-CN"/>
            </a:p>
          </p:txBody>
        </p:sp>
        <p:sp>
          <p:nvSpPr>
            <p:cNvPr id="66" name="任意多边形 65"/>
            <p:cNvSpPr/>
            <p:nvPr/>
          </p:nvSpPr>
          <p:spPr>
            <a:xfrm rot="6660000">
              <a:off x="16343" y="6643"/>
              <a:ext cx="1246" cy="1260"/>
            </a:xfrm>
            <a:custGeom>
              <a:avLst/>
              <a:gdLst>
                <a:gd name="connisteX0" fmla="*/ 184946 w 791071"/>
                <a:gd name="connsiteY0" fmla="*/ 800284 h 800284"/>
                <a:gd name="connisteX1" fmla="*/ 29371 w 791071"/>
                <a:gd name="connsiteY1" fmla="*/ 607879 h 800284"/>
                <a:gd name="connisteX2" fmla="*/ 22386 w 791071"/>
                <a:gd name="connsiteY2" fmla="*/ 281489 h 800284"/>
                <a:gd name="connisteX3" fmla="*/ 207171 w 791071"/>
                <a:gd name="connsiteY3" fmla="*/ 59239 h 800284"/>
                <a:gd name="connisteX4" fmla="*/ 414816 w 791071"/>
                <a:gd name="connsiteY4" fmla="*/ 184 h 800284"/>
                <a:gd name="connisteX5" fmla="*/ 629446 w 791071"/>
                <a:gd name="connsiteY5" fmla="*/ 66859 h 800284"/>
                <a:gd name="connisteX6" fmla="*/ 770416 w 791071"/>
                <a:gd name="connsiteY6" fmla="*/ 259264 h 800284"/>
                <a:gd name="connisteX7" fmla="*/ 785021 w 791071"/>
                <a:gd name="connsiteY7" fmla="*/ 481514 h 800284"/>
                <a:gd name="connisteX8" fmla="*/ 748191 w 791071"/>
                <a:gd name="connsiteY8" fmla="*/ 607879 h 800284"/>
                <a:gd name="connisteX9" fmla="*/ 651671 w 791071"/>
                <a:gd name="connsiteY9" fmla="*/ 792664 h 8002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</a:cxnLst>
              <a:rect l="l" t="t" r="r" b="b"/>
              <a:pathLst>
                <a:path w="791072" h="800285">
                  <a:moveTo>
                    <a:pt x="184947" y="800285"/>
                  </a:moveTo>
                  <a:cubicBezTo>
                    <a:pt x="153832" y="768535"/>
                    <a:pt x="61757" y="711385"/>
                    <a:pt x="29372" y="607880"/>
                  </a:cubicBezTo>
                  <a:cubicBezTo>
                    <a:pt x="-3013" y="504375"/>
                    <a:pt x="-13173" y="391345"/>
                    <a:pt x="22387" y="281490"/>
                  </a:cubicBezTo>
                  <a:cubicBezTo>
                    <a:pt x="57947" y="171635"/>
                    <a:pt x="128432" y="115755"/>
                    <a:pt x="207172" y="59240"/>
                  </a:cubicBezTo>
                  <a:cubicBezTo>
                    <a:pt x="285912" y="2725"/>
                    <a:pt x="330362" y="-1085"/>
                    <a:pt x="414817" y="185"/>
                  </a:cubicBezTo>
                  <a:cubicBezTo>
                    <a:pt x="499272" y="1455"/>
                    <a:pt x="558327" y="14790"/>
                    <a:pt x="629447" y="66860"/>
                  </a:cubicBezTo>
                  <a:cubicBezTo>
                    <a:pt x="700567" y="118930"/>
                    <a:pt x="739302" y="176080"/>
                    <a:pt x="770417" y="259265"/>
                  </a:cubicBezTo>
                  <a:cubicBezTo>
                    <a:pt x="801532" y="342450"/>
                    <a:pt x="789467" y="411665"/>
                    <a:pt x="785022" y="481515"/>
                  </a:cubicBezTo>
                  <a:cubicBezTo>
                    <a:pt x="780577" y="551365"/>
                    <a:pt x="774862" y="545650"/>
                    <a:pt x="748192" y="607880"/>
                  </a:cubicBezTo>
                  <a:cubicBezTo>
                    <a:pt x="721522" y="670110"/>
                    <a:pt x="670087" y="758375"/>
                    <a:pt x="651672" y="792665"/>
                  </a:cubicBezTo>
                </a:path>
              </a:pathLst>
            </a:custGeom>
            <a:noFill/>
            <a:ln w="22225">
              <a:tailEnd type="arrow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7404" y="7500"/>
              <a:ext cx="97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0.5</a:t>
              </a:r>
              <a:endParaRPr lang="en-US" altLang="zh-CN"/>
            </a:p>
          </p:txBody>
        </p:sp>
      </p:grpSp>
      <p:graphicFrame>
        <p:nvGraphicFramePr>
          <p:cNvPr id="68" name="对象 6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8980" y="3353435"/>
          <a:ext cx="3497580" cy="148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" r:id="rId3" imgW="1676400" imgH="711200" progId="Equation.KSEE3">
                  <p:embed/>
                </p:oleObj>
              </mc:Choice>
              <mc:Fallback>
                <p:oleObj name="" r:id="rId3" imgW="16764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8980" y="3353435"/>
                        <a:ext cx="3497580" cy="1483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1" name="直接连接符 70"/>
          <p:cNvCxnSpPr/>
          <p:nvPr>
            <p:custDataLst>
              <p:tags r:id="rId5"/>
            </p:custDataLst>
          </p:nvPr>
        </p:nvCxnSpPr>
        <p:spPr>
          <a:xfrm>
            <a:off x="889465" y="1291670"/>
            <a:ext cx="619326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72" name="文本框 71"/>
          <p:cNvSpPr txBox="1"/>
          <p:nvPr/>
        </p:nvSpPr>
        <p:spPr>
          <a:xfrm>
            <a:off x="889635" y="2449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状态转移概率矩阵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932180" y="1107440"/>
            <a:ext cx="297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初始状态概率向量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π</a:t>
            </a:r>
            <a:r>
              <a:rPr lang="en-US" altLang="zh-CN" baseline="-25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endParaRPr lang="en-US" altLang="zh-CN" baseline="-25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aphicFrame>
        <p:nvGraphicFramePr>
          <p:cNvPr id="74" name="对象 7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09103" y="1648778"/>
          <a:ext cx="267779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" r:id="rId6" imgW="1282700" imgH="241300" progId="Equation.KSEE3">
                  <p:embed/>
                </p:oleObj>
              </mc:Choice>
              <mc:Fallback>
                <p:oleObj name="" r:id="rId6" imgW="12827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09103" y="1648778"/>
                        <a:ext cx="2677795" cy="50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" name="组合 75"/>
          <p:cNvGrpSpPr/>
          <p:nvPr/>
        </p:nvGrpSpPr>
        <p:grpSpPr>
          <a:xfrm rot="0">
            <a:off x="636905" y="1153160"/>
            <a:ext cx="276225" cy="276225"/>
            <a:chOff x="9611" y="3018"/>
            <a:chExt cx="726" cy="726"/>
          </a:xfrm>
        </p:grpSpPr>
        <p:sp>
          <p:nvSpPr>
            <p:cNvPr id="77" name="椭圆 76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79" name="组合 78"/>
          <p:cNvGrpSpPr/>
          <p:nvPr/>
        </p:nvGrpSpPr>
        <p:grpSpPr>
          <a:xfrm rot="0">
            <a:off x="660400" y="2494915"/>
            <a:ext cx="276225" cy="276225"/>
            <a:chOff x="9611" y="3018"/>
            <a:chExt cx="726" cy="726"/>
          </a:xfrm>
        </p:grpSpPr>
        <p:sp>
          <p:nvSpPr>
            <p:cNvPr id="80" name="椭圆 79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1508760" y="3030855"/>
            <a:ext cx="494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  <p:sp>
        <p:nvSpPr>
          <p:cNvPr id="83" name="文本框 82"/>
          <p:cNvSpPr txBox="1"/>
          <p:nvPr/>
        </p:nvSpPr>
        <p:spPr>
          <a:xfrm>
            <a:off x="2569845" y="3030855"/>
            <a:ext cx="37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</a:t>
            </a:r>
            <a:endParaRPr lang="en-US" altLang="zh-CN"/>
          </a:p>
        </p:txBody>
      </p:sp>
      <p:sp>
        <p:nvSpPr>
          <p:cNvPr id="84" name="文本框 83"/>
          <p:cNvSpPr txBox="1"/>
          <p:nvPr/>
        </p:nvSpPr>
        <p:spPr>
          <a:xfrm>
            <a:off x="3512185" y="3053080"/>
            <a:ext cx="397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Z</a:t>
            </a:r>
            <a:endParaRPr lang="en-US" altLang="zh-CN"/>
          </a:p>
        </p:txBody>
      </p:sp>
      <p:graphicFrame>
        <p:nvGraphicFramePr>
          <p:cNvPr id="85" name="对象 8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59841" y="5120006"/>
          <a:ext cx="10130790" cy="1486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" name="" r:id="rId8" imgW="4851400" imgH="711200" progId="Equation.KSEE3">
                  <p:embed/>
                </p:oleObj>
              </mc:Choice>
              <mc:Fallback>
                <p:oleObj name="" r:id="rId8" imgW="48514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59841" y="5120006"/>
                        <a:ext cx="10130790" cy="1486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文本框 86"/>
          <p:cNvSpPr txBox="1"/>
          <p:nvPr/>
        </p:nvSpPr>
        <p:spPr>
          <a:xfrm>
            <a:off x="913765" y="4884420"/>
            <a:ext cx="248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下一个状态的概率向量</a:t>
            </a:r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 rot="0">
            <a:off x="612775" y="4930140"/>
            <a:ext cx="276225" cy="276225"/>
            <a:chOff x="9611" y="3018"/>
            <a:chExt cx="726" cy="726"/>
          </a:xfrm>
        </p:grpSpPr>
        <p:sp>
          <p:nvSpPr>
            <p:cNvPr id="89" name="椭圆 88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0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3"/>
            </p:custDataLst>
          </p:nvPr>
        </p:nvCxnSpPr>
        <p:spPr>
          <a:xfrm>
            <a:off x="889465" y="1291670"/>
            <a:ext cx="619326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文本框 4"/>
          <p:cNvSpPr txBox="1"/>
          <p:nvPr/>
        </p:nvSpPr>
        <p:spPr>
          <a:xfrm>
            <a:off x="889635" y="2311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第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3</a:t>
            </a:r>
            <a:r>
              <a:rPr lang="zh-CN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个状态概率向量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π</a:t>
            </a:r>
            <a:r>
              <a:rPr lang="en-US" altLang="zh-CN" baseline="-25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37895" y="1107440"/>
            <a:ext cx="4058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第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个状态概率向量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π</a:t>
            </a:r>
            <a:r>
              <a:rPr lang="en-US" altLang="zh-CN" baseline="-25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</a:t>
            </a:r>
            <a:endParaRPr lang="en-US" altLang="zh-CN" baseline="-25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636905" y="1153160"/>
            <a:ext cx="276225" cy="276225"/>
            <a:chOff x="9611" y="3018"/>
            <a:chExt cx="726" cy="726"/>
          </a:xfrm>
        </p:grpSpPr>
        <p:sp>
          <p:nvSpPr>
            <p:cNvPr id="12" name="椭圆 11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 rot="0">
            <a:off x="660400" y="2356485"/>
            <a:ext cx="276225" cy="276225"/>
            <a:chOff x="9611" y="3018"/>
            <a:chExt cx="726" cy="726"/>
          </a:xfrm>
        </p:grpSpPr>
        <p:sp>
          <p:nvSpPr>
            <p:cNvPr id="18" name="椭圆 17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 rot="0">
            <a:off x="636905" y="4233545"/>
            <a:ext cx="276225" cy="276225"/>
            <a:chOff x="9611" y="3018"/>
            <a:chExt cx="726" cy="726"/>
          </a:xfrm>
        </p:grpSpPr>
        <p:sp>
          <p:nvSpPr>
            <p:cNvPr id="27" name="椭圆 26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42758" y="2748916"/>
          <a:ext cx="899096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4" imgW="4305300" imgH="241300" progId="Equation.KSEE3">
                  <p:embed/>
                </p:oleObj>
              </mc:Choice>
              <mc:Fallback>
                <p:oleObj name="" r:id="rId4" imgW="43053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2758" y="2748916"/>
                        <a:ext cx="899096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62113" y="1593851"/>
          <a:ext cx="894016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6" imgW="4279900" imgH="241300" progId="Equation.KSEE3">
                  <p:embed/>
                </p:oleObj>
              </mc:Choice>
              <mc:Fallback>
                <p:oleObj name="" r:id="rId6" imgW="42799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62113" y="1593851"/>
                        <a:ext cx="894016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01286" y="6013768"/>
          <a:ext cx="998220" cy="33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8" imgW="495300" imgH="165100" progId="Equation.KSEE3">
                  <p:embed/>
                </p:oleObj>
              </mc:Choice>
              <mc:Fallback>
                <p:oleObj name="" r:id="rId8" imgW="4953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01286" y="6013768"/>
                        <a:ext cx="998220" cy="334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 rot="16200000">
            <a:off x="5824220" y="3576320"/>
            <a:ext cx="58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......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913765" y="5555615"/>
            <a:ext cx="5363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概率向量达到稳态时可以得到如下公式</a:t>
            </a:r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 rot="0">
            <a:off x="612775" y="5601335"/>
            <a:ext cx="276225" cy="276225"/>
            <a:chOff x="9611" y="3018"/>
            <a:chExt cx="726" cy="726"/>
          </a:xfrm>
        </p:grpSpPr>
        <p:sp>
          <p:nvSpPr>
            <p:cNvPr id="34" name="椭圆 33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40" name="对象 3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16431" y="4776788"/>
          <a:ext cx="883031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" r:id="rId10" imgW="4381500" imgH="241300" progId="Equation.KSEE3">
                  <p:embed/>
                </p:oleObj>
              </mc:Choice>
              <mc:Fallback>
                <p:oleObj name="" r:id="rId10" imgW="43815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16431" y="4776788"/>
                        <a:ext cx="8830310" cy="48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937895" y="4187825"/>
            <a:ext cx="248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</a:t>
            </a:r>
            <a:r>
              <a:rPr lang="en-US" altLang="zh-CN"/>
              <a:t>24</a:t>
            </a:r>
            <a:r>
              <a:rPr lang="zh-CN" altLang="en-US"/>
              <a:t>个概率向量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π</a:t>
            </a:r>
            <a:r>
              <a:rPr lang="en-US" altLang="zh-CN" baseline="-25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24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3"/>
            </p:custDataLst>
          </p:nvPr>
        </p:nvCxnSpPr>
        <p:spPr>
          <a:xfrm>
            <a:off x="889465" y="1291670"/>
            <a:ext cx="619326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6" name="文本框 5"/>
          <p:cNvSpPr txBox="1"/>
          <p:nvPr/>
        </p:nvSpPr>
        <p:spPr>
          <a:xfrm>
            <a:off x="937895" y="1107440"/>
            <a:ext cx="4058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初始</a:t>
            </a:r>
            <a:r>
              <a:rPr lang="zh-CN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状态概率向量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π</a:t>
            </a:r>
            <a:r>
              <a:rPr lang="en-US" altLang="zh-CN" baseline="-25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0</a:t>
            </a:r>
            <a:endParaRPr lang="en-US" altLang="zh-CN" baseline="-25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636905" y="1153160"/>
            <a:ext cx="276225" cy="276225"/>
            <a:chOff x="9611" y="3018"/>
            <a:chExt cx="726" cy="726"/>
          </a:xfrm>
        </p:grpSpPr>
        <p:sp>
          <p:nvSpPr>
            <p:cNvPr id="12" name="椭圆 11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16430" y="3525203"/>
          <a:ext cx="883031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4" imgW="4381500" imgH="241300" progId="Equation.KSEE3">
                  <p:embed/>
                </p:oleObj>
              </mc:Choice>
              <mc:Fallback>
                <p:oleObj name="" r:id="rId4" imgW="43815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16430" y="3525203"/>
                        <a:ext cx="8830310" cy="48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937895" y="2936240"/>
            <a:ext cx="248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</a:t>
            </a:r>
            <a:r>
              <a:rPr lang="en-US" altLang="zh-CN"/>
              <a:t>24</a:t>
            </a:r>
            <a:r>
              <a:rPr lang="zh-CN" altLang="en-US"/>
              <a:t>个概率向量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π</a:t>
            </a:r>
            <a:r>
              <a:rPr lang="en-US" altLang="zh-CN" baseline="-250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24</a:t>
            </a:r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 rot="0">
            <a:off x="636905" y="2981960"/>
            <a:ext cx="276225" cy="276225"/>
            <a:chOff x="9611" y="3018"/>
            <a:chExt cx="726" cy="726"/>
          </a:xfrm>
        </p:grpSpPr>
        <p:sp>
          <p:nvSpPr>
            <p:cNvPr id="27" name="椭圆 26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91126" y="4783138"/>
          <a:ext cx="998220" cy="33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6" imgW="495300" imgH="165100" progId="Equation.KSEE3">
                  <p:embed/>
                </p:oleObj>
              </mc:Choice>
              <mc:Fallback>
                <p:oleObj name="" r:id="rId6" imgW="4953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91126" y="4783138"/>
                        <a:ext cx="998220" cy="334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 rot="16200000">
            <a:off x="5801995" y="2435860"/>
            <a:ext cx="58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......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903605" y="4324985"/>
            <a:ext cx="5363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概率向量达到稳态时可以得到如下公式</a:t>
            </a:r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 rot="0">
            <a:off x="602615" y="4370705"/>
            <a:ext cx="276225" cy="276225"/>
            <a:chOff x="9611" y="3018"/>
            <a:chExt cx="726" cy="726"/>
          </a:xfrm>
        </p:grpSpPr>
        <p:sp>
          <p:nvSpPr>
            <p:cNvPr id="34" name="椭圆 33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79328" y="1648778"/>
          <a:ext cx="2677795" cy="50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8" imgW="1282700" imgH="241300" progId="Equation.KSEE3">
                  <p:embed/>
                </p:oleObj>
              </mc:Choice>
              <mc:Fallback>
                <p:oleObj name="" r:id="rId8" imgW="12827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79328" y="1648778"/>
                        <a:ext cx="2677795" cy="504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02615" y="5628640"/>
            <a:ext cx="732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说明在该马尔科夫链下最终的稳态</a:t>
            </a:r>
            <a:r>
              <a:rPr lang="en-US" altLang="zh-CN"/>
              <a:t>π</a:t>
            </a:r>
            <a:r>
              <a:rPr lang="zh-CN" altLang="en-US"/>
              <a:t>是不受初始状态影响的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3"/>
            </p:custDataLst>
          </p:nvPr>
        </p:nvCxnSpPr>
        <p:spPr>
          <a:xfrm>
            <a:off x="889465" y="1291670"/>
            <a:ext cx="619326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6" name="文本框 5"/>
          <p:cNvSpPr txBox="1"/>
          <p:nvPr/>
        </p:nvSpPr>
        <p:spPr>
          <a:xfrm>
            <a:off x="937895" y="1107440"/>
            <a:ext cx="4058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马尔科夫链的三要素</a:t>
            </a:r>
            <a:endParaRPr lang="zh-CN" baseline="-25000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636905" y="1153160"/>
            <a:ext cx="276225" cy="276225"/>
            <a:chOff x="9611" y="3018"/>
            <a:chExt cx="726" cy="726"/>
          </a:xfrm>
        </p:grpSpPr>
        <p:sp>
          <p:nvSpPr>
            <p:cNvPr id="12" name="椭圆 11"/>
            <p:cNvSpPr/>
            <p:nvPr/>
          </p:nvSpPr>
          <p:spPr>
            <a:xfrm>
              <a:off x="9611" y="3018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rgbClr val="9FDBF3">
                  <a:alpha val="55000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9674" y="3081"/>
              <a:ext cx="602" cy="602"/>
            </a:xfrm>
            <a:prstGeom prst="ellipse">
              <a:avLst/>
            </a:prstGeom>
            <a:gradFill>
              <a:gsLst>
                <a:gs pos="0">
                  <a:srgbClr val="1E86DE"/>
                </a:gs>
                <a:gs pos="51000">
                  <a:srgbClr val="64B3D8"/>
                </a:gs>
                <a:gs pos="96000">
                  <a:srgbClr val="BFE8F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62100" y="1732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状态空间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31950" y="4583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转移矩阵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31950" y="2926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无记忆性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03270" y="22726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在本例中，状态空间</a:t>
            </a:r>
            <a:r>
              <a:rPr lang="en-US" altLang="zh-CN"/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 </a:t>
            </a:r>
            <a:r>
              <a:rPr lang="en-US" altLang="zh-CN"/>
              <a:t>= {X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，</a:t>
            </a:r>
            <a:r>
              <a:rPr lang="en-US" altLang="zh-CN"/>
              <a:t>Z}</a:t>
            </a:r>
            <a:endParaRPr lang="en-US" altLang="zh-CN"/>
          </a:p>
        </p:txBody>
      </p:sp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94305" y="3437573"/>
          <a:ext cx="883031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4" imgW="4381500" imgH="241300" progId="Equation.KSEE3">
                  <p:embed/>
                </p:oleObj>
              </mc:Choice>
              <mc:Fallback>
                <p:oleObj name="" r:id="rId4" imgW="4381500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94305" y="3437573"/>
                        <a:ext cx="8830310" cy="48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2605405" y="4008755"/>
            <a:ext cx="8136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未来</a:t>
            </a:r>
            <a:r>
              <a:rPr lang="en-US" altLang="zh-CN"/>
              <a:t>π</a:t>
            </a:r>
            <a:r>
              <a:rPr lang="en-US" altLang="zh-CN" baseline="-25000"/>
              <a:t>24</a:t>
            </a:r>
            <a:r>
              <a:rPr lang="zh-CN" altLang="en-US"/>
              <a:t>只受当前状态</a:t>
            </a:r>
            <a:r>
              <a:rPr lang="en-US" altLang="zh-CN">
                <a:sym typeface="+mn-ea"/>
              </a:rPr>
              <a:t>π</a:t>
            </a:r>
            <a:r>
              <a:rPr lang="en-US" altLang="zh-CN" baseline="-25000">
                <a:sym typeface="+mn-ea"/>
              </a:rPr>
              <a:t>23</a:t>
            </a:r>
            <a:r>
              <a:rPr lang="zh-CN" altLang="en-US"/>
              <a:t>影响，而不受过去状态</a:t>
            </a:r>
            <a:r>
              <a:rPr lang="en-US" altLang="zh-CN">
                <a:sym typeface="+mn-ea"/>
              </a:rPr>
              <a:t>π</a:t>
            </a:r>
            <a:r>
              <a:rPr lang="en-US" altLang="zh-CN" baseline="-25000">
                <a:sym typeface="+mn-ea"/>
              </a:rPr>
              <a:t>0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>
                <a:sym typeface="+mn-ea"/>
              </a:rPr>
              <a:t>π</a:t>
            </a:r>
            <a:r>
              <a:rPr lang="en-US" altLang="zh-CN" baseline="-25000">
                <a:sym typeface="+mn-ea"/>
              </a:rPr>
              <a:t>1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>
                <a:sym typeface="+mn-ea"/>
              </a:rPr>
              <a:t>π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/>
              <a:t>……</a:t>
            </a:r>
            <a:r>
              <a:rPr lang="zh-CN" altLang="en-US"/>
              <a:t>影响。</a:t>
            </a:r>
            <a:endParaRPr lang="zh-CN" altLang="en-US"/>
          </a:p>
        </p:txBody>
      </p:sp>
      <p:graphicFrame>
        <p:nvGraphicFramePr>
          <p:cNvPr id="68" name="对象 6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69665" y="4997450"/>
          <a:ext cx="3497580" cy="148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" r:id="rId6" imgW="1676400" imgH="711200" progId="Equation.KSEE3">
                  <p:embed/>
                </p:oleObj>
              </mc:Choice>
              <mc:Fallback>
                <p:oleObj name="" r:id="rId6" imgW="16764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69665" y="4997450"/>
                        <a:ext cx="3497580" cy="1483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8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4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蒙特卡罗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15" y="1786890"/>
            <a:ext cx="6057900" cy="4559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3915" y="1183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蒙特卡罗方法计算圆周率</a:t>
            </a:r>
            <a:r>
              <a:rPr lang="en-US" altLang="zh-CN"/>
              <a:t>π</a:t>
            </a:r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516890" y="1184275"/>
            <a:ext cx="325755" cy="313690"/>
            <a:chOff x="530" y="2470"/>
            <a:chExt cx="727" cy="727"/>
          </a:xfrm>
        </p:grpSpPr>
        <p:sp>
          <p:nvSpPr>
            <p:cNvPr id="14" name="椭圆 13"/>
            <p:cNvSpPr/>
            <p:nvPr/>
          </p:nvSpPr>
          <p:spPr>
            <a:xfrm>
              <a:off x="530" y="2470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94" y="2532"/>
              <a:ext cx="602" cy="602"/>
            </a:xfrm>
            <a:prstGeom prst="ellipse">
              <a:avLst/>
            </a:prstGeom>
            <a:gradFill>
              <a:gsLst>
                <a:gs pos="0">
                  <a:schemeClr val="accent5">
                    <a:lumMod val="50000"/>
                  </a:schemeClr>
                </a:gs>
                <a:gs pos="51000">
                  <a:schemeClr val="accent5">
                    <a:lumMod val="60000"/>
                    <a:lumOff val="40000"/>
                  </a:schemeClr>
                </a:gs>
                <a:gs pos="96000">
                  <a:schemeClr val="accent5">
                    <a:lumMod val="40000"/>
                    <a:lumOff val="6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8069580" y="2365375"/>
            <a:ext cx="2086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</a:t>
            </a:r>
            <a:r>
              <a:rPr lang="zh-CN" altLang="en-US" baseline="-25000"/>
              <a:t>方</a:t>
            </a:r>
            <a:r>
              <a:rPr lang="en-US" altLang="zh-CN" baseline="-25000"/>
              <a:t> </a:t>
            </a:r>
            <a:r>
              <a:rPr lang="en-US" altLang="zh-CN"/>
              <a:t>= 4</a:t>
            </a:r>
            <a:r>
              <a:rPr lang="zh-CN" altLang="en-US"/>
              <a:t>×</a:t>
            </a:r>
            <a:r>
              <a:rPr lang="en-US" altLang="zh-CN"/>
              <a:t>r</a:t>
            </a:r>
            <a:r>
              <a:rPr lang="en-US" altLang="zh-CN" baseline="30000"/>
              <a:t>2</a:t>
            </a:r>
            <a:endParaRPr lang="en-US" altLang="zh-CN" baseline="30000"/>
          </a:p>
        </p:txBody>
      </p:sp>
      <p:sp>
        <p:nvSpPr>
          <p:cNvPr id="20" name="文本框 19"/>
          <p:cNvSpPr txBox="1"/>
          <p:nvPr/>
        </p:nvSpPr>
        <p:spPr>
          <a:xfrm>
            <a:off x="8114665" y="2824480"/>
            <a:ext cx="1990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</a:t>
            </a:r>
            <a:r>
              <a:rPr lang="zh-CN" altLang="en-US" baseline="-25000"/>
              <a:t>圆</a:t>
            </a:r>
            <a:r>
              <a:rPr lang="en-US" altLang="zh-CN" baseline="-25000"/>
              <a:t> </a:t>
            </a:r>
            <a:r>
              <a:rPr lang="en-US" altLang="zh-CN"/>
              <a:t>= π</a:t>
            </a:r>
            <a:r>
              <a:rPr lang="zh-CN" altLang="en-US"/>
              <a:t>×</a:t>
            </a:r>
            <a:r>
              <a:rPr lang="en-US" altLang="zh-CN"/>
              <a:t>r</a:t>
            </a:r>
            <a:r>
              <a:rPr lang="en-US" altLang="zh-CN" baseline="30000"/>
              <a:t>2</a:t>
            </a:r>
            <a:endParaRPr lang="en-US" altLang="zh-CN" baseline="30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8114665" y="3237865"/>
                <a:ext cx="2174875" cy="676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圆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665" y="3237865"/>
                <a:ext cx="2174875" cy="6769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8176260" y="4716145"/>
                <a:ext cx="1722755" cy="676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圆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圆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260" y="4716145"/>
                <a:ext cx="1722755" cy="6769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7110095" y="4042410"/>
                <a:ext cx="4004945" cy="673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方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表示落在方形中的点数，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圆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表示落在圆形中的点数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095" y="4042410"/>
                <a:ext cx="4004945" cy="67373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8251190" y="5443220"/>
                <a:ext cx="1560195" cy="56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π=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4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圆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方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190" y="5443220"/>
                <a:ext cx="1560195" cy="5607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7110095" y="1850390"/>
                <a:ext cx="4004945" cy="38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方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表示方形面积，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圆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表示圆形面积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095" y="1850390"/>
                <a:ext cx="4004945" cy="38798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/>
          <p:cNvSpPr txBox="1"/>
          <p:nvPr/>
        </p:nvSpPr>
        <p:spPr>
          <a:xfrm>
            <a:off x="4792345" y="3376930"/>
            <a:ext cx="3829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华文中宋" panose="02010600040101010101" charset="-122"/>
                <a:ea typeface="华文中宋" panose="02010600040101010101" charset="-122"/>
              </a:rPr>
              <a:t>r</a:t>
            </a:r>
            <a:endParaRPr lang="en-US" altLang="zh-CN" sz="3200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3940175" y="3931920"/>
            <a:ext cx="188150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066280" y="6054090"/>
            <a:ext cx="428752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采样点越多，估计值也就越来越接近。</a:t>
            </a:r>
            <a:endParaRPr lang="zh-CN" altLang="en-US" sz="1800" b="0" i="0"/>
          </a:p>
        </p:txBody>
      </p:sp>
    </p:spTree>
    <p:custDataLst>
      <p:tags r:id="rId9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4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蒙特卡罗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5000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蒙特卡罗方法求定积分</a:t>
            </a:r>
            <a:r>
              <a:rPr lang="en-US" altLang="zh-CN"/>
              <a:t>——</a:t>
            </a:r>
            <a:r>
              <a:rPr lang="zh-CN" altLang="en-US"/>
              <a:t>随机投点法</a:t>
            </a:r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16890" y="1184275"/>
            <a:ext cx="325755" cy="313690"/>
            <a:chOff x="530" y="2470"/>
            <a:chExt cx="727" cy="727"/>
          </a:xfrm>
        </p:grpSpPr>
        <p:sp>
          <p:nvSpPr>
            <p:cNvPr id="14" name="椭圆 13"/>
            <p:cNvSpPr/>
            <p:nvPr/>
          </p:nvSpPr>
          <p:spPr>
            <a:xfrm>
              <a:off x="530" y="2470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94" y="2532"/>
              <a:ext cx="602" cy="602"/>
            </a:xfrm>
            <a:prstGeom prst="ellipse">
              <a:avLst/>
            </a:prstGeom>
            <a:gradFill>
              <a:gsLst>
                <a:gs pos="0">
                  <a:schemeClr val="accent5">
                    <a:lumMod val="50000"/>
                  </a:schemeClr>
                </a:gs>
                <a:gs pos="51000">
                  <a:schemeClr val="accent5">
                    <a:lumMod val="60000"/>
                    <a:lumOff val="40000"/>
                  </a:schemeClr>
                </a:gs>
                <a:gs pos="96000">
                  <a:schemeClr val="accent5">
                    <a:lumMod val="40000"/>
                    <a:lumOff val="6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347470" y="1694180"/>
                <a:ext cx="9832975" cy="749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积分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θ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/>
                  <a:t>，如果</a:t>
                </a:r>
                <a:r>
                  <a:rPr lang="en-US" altLang="zh-CN"/>
                  <a:t>f(x)</a:t>
                </a:r>
                <a:r>
                  <a:rPr lang="zh-CN" altLang="en-US"/>
                  <a:t>的原函数很难求解，那么这个积分也会很难求解。</a:t>
                </a:r>
                <a:endParaRPr lang="zh-CN" altLang="en-US"/>
              </a:p>
              <a:p>
                <a:r>
                  <a:rPr lang="zh-CN" altLang="en-US"/>
                  <a:t>可通过蒙特卡罗方法对其进行模拟求解。</a:t>
                </a:r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470" y="1694180"/>
                <a:ext cx="9832975" cy="749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435928" y="2659380"/>
            <a:ext cx="4257675" cy="3543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399405" y="3429000"/>
                <a:ext cx="4064000" cy="2144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/>
                  <a:t>矩形面积为</a:t>
                </a:r>
                <a:r>
                  <a:rPr lang="en-US" altLang="zh-CN"/>
                  <a:t>Area</a:t>
                </a:r>
                <a:endParaRPr lang="en-US" altLang="zh-CN"/>
              </a:p>
              <a:p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（绿+红）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𝐴𝑟𝑒𝑎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405" y="3429000"/>
                <a:ext cx="4064000" cy="21443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4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蒙特卡罗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4908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蒙特卡罗方法求定积分</a:t>
            </a:r>
            <a:r>
              <a:rPr lang="en-US" altLang="zh-CN"/>
              <a:t>——</a:t>
            </a:r>
            <a:r>
              <a:rPr lang="zh-CN" altLang="en-US"/>
              <a:t>平均值法（期望法）</a:t>
            </a:r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16890" y="1184275"/>
            <a:ext cx="325755" cy="313690"/>
            <a:chOff x="530" y="2470"/>
            <a:chExt cx="727" cy="727"/>
          </a:xfrm>
        </p:grpSpPr>
        <p:sp>
          <p:nvSpPr>
            <p:cNvPr id="14" name="椭圆 13"/>
            <p:cNvSpPr/>
            <p:nvPr/>
          </p:nvSpPr>
          <p:spPr>
            <a:xfrm>
              <a:off x="530" y="2470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94" y="2532"/>
              <a:ext cx="602" cy="602"/>
            </a:xfrm>
            <a:prstGeom prst="ellipse">
              <a:avLst/>
            </a:prstGeom>
            <a:gradFill>
              <a:gsLst>
                <a:gs pos="0">
                  <a:schemeClr val="accent5">
                    <a:lumMod val="50000"/>
                  </a:schemeClr>
                </a:gs>
                <a:gs pos="51000">
                  <a:schemeClr val="accent5">
                    <a:lumMod val="60000"/>
                    <a:lumOff val="40000"/>
                  </a:schemeClr>
                </a:gs>
                <a:gs pos="96000">
                  <a:schemeClr val="accent5">
                    <a:lumMod val="40000"/>
                    <a:lumOff val="6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32840" y="1731010"/>
                <a:ext cx="9832975" cy="471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要计算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θ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/>
                  <a:t>，即图中阴影部分的面积。</a:t>
                </a:r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840" y="1731010"/>
                <a:ext cx="9832975" cy="4718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924560" y="3195320"/>
            <a:ext cx="3917315" cy="2611755"/>
          </a:xfrm>
          <a:prstGeom prst="rect">
            <a:avLst/>
          </a:prstGeom>
          <a:effectLst>
            <a:outerShdw blurRad="190500" dist="50800" dir="21000000" algn="ctr" rotWithShape="0">
              <a:srgbClr val="000000">
                <a:alpha val="85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389880" y="2659380"/>
                <a:ext cx="699643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一个简单的近似求解方法就是用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)×(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/>
              </a:p>
              <a:p>
                <a:r>
                  <a:rPr lang="en-US" altLang="zh-CN"/>
                  <a:t> </a:t>
                </a:r>
                <a:r>
                  <a:rPr lang="zh-CN" altLang="en-US"/>
                  <a:t>来粗略估计曲线下方的面积，在</a:t>
                </a:r>
                <a:r>
                  <a:rPr lang="en-US" altLang="zh-CN"/>
                  <a:t>[a,b]</a:t>
                </a:r>
                <a:r>
                  <a:rPr lang="zh-CN" altLang="en-US"/>
                  <a:t>之间随机取点</a:t>
                </a:r>
                <a:r>
                  <a:rPr lang="en-US" altLang="zh-CN"/>
                  <a:t>x</a:t>
                </a:r>
                <a:r>
                  <a:rPr lang="en-US" altLang="zh-CN" baseline="-25000"/>
                  <a:t>0</a:t>
                </a:r>
                <a:r>
                  <a:rPr lang="zh-CN" altLang="en-US"/>
                  <a:t>，</a:t>
                </a:r>
                <a:endParaRPr lang="zh-CN" altLang="en-US"/>
              </a:p>
              <a:p>
                <a:r>
                  <a:rPr lang="zh-CN" altLang="en-US"/>
                  <a:t>用</a:t>
                </a:r>
                <a:r>
                  <a:rPr lang="en-US" altLang="zh-CN"/>
                  <a:t>f(x</a:t>
                </a:r>
                <a:r>
                  <a:rPr lang="en-US" altLang="zh-CN" baseline="-25000"/>
                  <a:t>0</a:t>
                </a:r>
                <a:r>
                  <a:rPr lang="en-US" altLang="zh-CN"/>
                  <a:t>)</a:t>
                </a:r>
                <a:r>
                  <a:rPr lang="zh-CN" altLang="en-US"/>
                  <a:t>代表在</a:t>
                </a:r>
                <a:r>
                  <a:rPr lang="en-US" altLang="zh-CN"/>
                  <a:t>[a,b]</a:t>
                </a:r>
                <a:r>
                  <a:rPr lang="zh-CN" altLang="en-US"/>
                  <a:t>上所有</a:t>
                </a:r>
                <a:r>
                  <a:rPr lang="en-US" altLang="zh-CN"/>
                  <a:t>f(x)</a:t>
                </a:r>
                <a:r>
                  <a:rPr lang="zh-CN" altLang="en-US"/>
                  <a:t>的值</a:t>
                </a:r>
                <a:r>
                  <a:rPr lang="en-US" altLang="zh-CN"/>
                  <a:t>.</a:t>
                </a:r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880" y="2659380"/>
                <a:ext cx="6996430" cy="9220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/>
          <p:cNvCxnSpPr/>
          <p:nvPr/>
        </p:nvCxnSpPr>
        <p:spPr>
          <a:xfrm>
            <a:off x="2777490" y="4591050"/>
            <a:ext cx="6985" cy="770255"/>
          </a:xfrm>
          <a:prstGeom prst="line">
            <a:avLst/>
          </a:prstGeom>
          <a:ln w="22225">
            <a:solidFill>
              <a:schemeClr val="accent6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2244090" y="4222750"/>
                <a:ext cx="62674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accent6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accent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solidFill>
                          <a:schemeClr val="accent6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solidFill>
                    <a:schemeClr val="accent6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090" y="4222750"/>
                <a:ext cx="626745" cy="368300"/>
              </a:xfrm>
              <a:prstGeom prst="rect">
                <a:avLst/>
              </a:prstGeom>
              <a:blipFill rotWithShape="1">
                <a:blip r:embed="rId6"/>
                <a:stretch>
                  <a:fillRect r="-912" b="-61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1807210" y="4591050"/>
            <a:ext cx="2473960" cy="762635"/>
          </a:xfrm>
          <a:prstGeom prst="rect">
            <a:avLst/>
          </a:prstGeom>
          <a:solidFill>
            <a:schemeClr val="accent6">
              <a:alpha val="2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4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蒙特卡罗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4908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蒙特卡罗方法求定积分</a:t>
            </a:r>
            <a:r>
              <a:rPr lang="en-US" altLang="zh-CN"/>
              <a:t>——</a:t>
            </a:r>
            <a:r>
              <a:rPr lang="zh-CN" altLang="en-US"/>
              <a:t>平均值法（期望法）</a:t>
            </a:r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16890" y="1184275"/>
            <a:ext cx="325755" cy="313690"/>
            <a:chOff x="530" y="2470"/>
            <a:chExt cx="727" cy="727"/>
          </a:xfrm>
        </p:grpSpPr>
        <p:sp>
          <p:nvSpPr>
            <p:cNvPr id="14" name="椭圆 13"/>
            <p:cNvSpPr/>
            <p:nvPr/>
          </p:nvSpPr>
          <p:spPr>
            <a:xfrm>
              <a:off x="530" y="2470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94" y="2532"/>
              <a:ext cx="602" cy="602"/>
            </a:xfrm>
            <a:prstGeom prst="ellipse">
              <a:avLst/>
            </a:prstGeom>
            <a:gradFill>
              <a:gsLst>
                <a:gs pos="0">
                  <a:schemeClr val="accent5">
                    <a:lumMod val="50000"/>
                  </a:schemeClr>
                </a:gs>
                <a:gs pos="51000">
                  <a:schemeClr val="accent5">
                    <a:lumMod val="60000"/>
                    <a:lumOff val="40000"/>
                  </a:schemeClr>
                </a:gs>
                <a:gs pos="96000">
                  <a:schemeClr val="accent5">
                    <a:lumMod val="40000"/>
                    <a:lumOff val="6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162050" y="1632585"/>
            <a:ext cx="103225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</a:t>
            </a:r>
            <a:r>
              <a:rPr lang="zh-CN" altLang="en-US"/>
              <a:t>用一个值代表</a:t>
            </a:r>
            <a:r>
              <a:rPr lang="en-US" altLang="zh-CN"/>
              <a:t>[a,b]</a:t>
            </a:r>
            <a:r>
              <a:rPr lang="zh-CN" altLang="en-US"/>
              <a:t>区间上所有的</a:t>
            </a:r>
            <a:r>
              <a:rPr lang="en-US" altLang="zh-CN"/>
              <a:t>f (x)</a:t>
            </a:r>
            <a:r>
              <a:rPr lang="zh-CN" altLang="en-US"/>
              <a:t>的值太粗糙了，我们可以进一步抽样更多的点，比如下图抽样了四个随机样本</a:t>
            </a:r>
            <a:r>
              <a:rPr lang="en-US" altLang="zh-CN"/>
              <a:t> x</a:t>
            </a:r>
            <a:r>
              <a:rPr lang="en-US" altLang="zh-CN" baseline="-25000"/>
              <a:t>1</a:t>
            </a:r>
            <a:r>
              <a:rPr lang="en-US" altLang="zh-CN"/>
              <a:t>,x</a:t>
            </a:r>
            <a:r>
              <a:rPr lang="en-US" altLang="zh-CN" baseline="-25000"/>
              <a:t>2</a:t>
            </a:r>
            <a:r>
              <a:rPr lang="en-US" altLang="zh-CN"/>
              <a:t>,x</a:t>
            </a:r>
            <a:r>
              <a:rPr lang="en-US" altLang="zh-CN" baseline="-25000"/>
              <a:t>3</a:t>
            </a:r>
            <a:r>
              <a:rPr lang="en-US" altLang="zh-CN"/>
              <a:t>,x</a:t>
            </a:r>
            <a:r>
              <a:rPr lang="en-US" altLang="zh-CN" baseline="-25000"/>
              <a:t>4</a:t>
            </a:r>
            <a:r>
              <a:rPr lang="zh-CN" altLang="en-US"/>
              <a:t>（</a:t>
            </a:r>
            <a:r>
              <a:rPr lang="zh-CN" altLang="en-US">
                <a:solidFill>
                  <a:schemeClr val="accent6"/>
                </a:solidFill>
              </a:rPr>
              <a:t>满足均匀分布</a:t>
            </a:r>
            <a:r>
              <a:rPr lang="zh-CN" altLang="en-US"/>
              <a:t>），每个样本都能求出一个近似面积值</a:t>
            </a:r>
            <a:r>
              <a:rPr lang="en-US" altLang="zh-CN"/>
              <a:t> </a:t>
            </a:r>
            <a:r>
              <a:rPr lang="zh-CN" altLang="en-US"/>
              <a:t>，然后计算他们的数学期望，就是蒙特卡罗计算积分的平均值法了。</a:t>
            </a:r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755650" y="2635250"/>
            <a:ext cx="10370185" cy="2763520"/>
          </a:xfrm>
          <a:prstGeom prst="rect">
            <a:avLst/>
          </a:prstGeom>
          <a:ln>
            <a:noFill/>
          </a:ln>
          <a:effectLst>
            <a:outerShdw blurRad="266700" dist="50800" dir="5400000" algn="ctr" rotWithShape="0">
              <a:srgbClr val="000000">
                <a:alpha val="76000"/>
              </a:srgb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1074420" y="5683250"/>
            <a:ext cx="406400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用数学公式表述上述过程：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550" y="5683250"/>
            <a:ext cx="6373495" cy="8280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4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蒙特卡罗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4908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蒙特卡罗方法求定积分</a:t>
            </a:r>
            <a:r>
              <a:rPr lang="en-US" altLang="zh-CN"/>
              <a:t>——</a:t>
            </a:r>
            <a:r>
              <a:rPr lang="zh-CN" altLang="en-US"/>
              <a:t>平均值法（期望法）</a:t>
            </a:r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16890" y="1184275"/>
            <a:ext cx="325755" cy="313690"/>
            <a:chOff x="530" y="2470"/>
            <a:chExt cx="727" cy="727"/>
          </a:xfrm>
        </p:grpSpPr>
        <p:sp>
          <p:nvSpPr>
            <p:cNvPr id="14" name="椭圆 13"/>
            <p:cNvSpPr/>
            <p:nvPr/>
          </p:nvSpPr>
          <p:spPr>
            <a:xfrm>
              <a:off x="530" y="2470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94" y="2532"/>
              <a:ext cx="602" cy="602"/>
            </a:xfrm>
            <a:prstGeom prst="ellipse">
              <a:avLst/>
            </a:prstGeom>
            <a:gradFill>
              <a:gsLst>
                <a:gs pos="0">
                  <a:schemeClr val="accent5">
                    <a:lumMod val="50000"/>
                  </a:schemeClr>
                </a:gs>
                <a:gs pos="51000">
                  <a:schemeClr val="accent5">
                    <a:lumMod val="60000"/>
                    <a:lumOff val="40000"/>
                  </a:schemeClr>
                </a:gs>
                <a:gs pos="96000">
                  <a:schemeClr val="accent5">
                    <a:lumMod val="40000"/>
                    <a:lumOff val="6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266190" y="1776095"/>
            <a:ext cx="635254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进一步我们采样</a:t>
            </a:r>
            <a:r>
              <a:rPr lang="en-US" altLang="zh-CN"/>
              <a:t>n</a:t>
            </a:r>
            <a:r>
              <a:rPr lang="zh-CN" altLang="en-US"/>
              <a:t>个随机样本（满足均匀分布），则有：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625" y="2341245"/>
            <a:ext cx="3634105" cy="7308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66190" y="321468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800" b="0" i="0"/>
              <a:t>采样点越多，估计值也就越来越接近。</a:t>
            </a:r>
            <a:endParaRPr lang="zh-CN" altLang="en-US" sz="1800" b="0" i="0"/>
          </a:p>
        </p:txBody>
      </p:sp>
      <p:sp>
        <p:nvSpPr>
          <p:cNvPr id="9" name="文本框 8"/>
          <p:cNvSpPr txBox="1"/>
          <p:nvPr/>
        </p:nvSpPr>
        <p:spPr>
          <a:xfrm>
            <a:off x="1221740" y="3629025"/>
            <a:ext cx="10337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但是，该方法是假定</a:t>
            </a:r>
            <a:r>
              <a:rPr lang="en-US" altLang="zh-CN"/>
              <a:t>x</a:t>
            </a:r>
            <a:r>
              <a:rPr lang="zh-CN" altLang="en-US"/>
              <a:t>在</a:t>
            </a:r>
            <a:r>
              <a:rPr lang="en-US" altLang="zh-CN"/>
              <a:t>[a,b]</a:t>
            </a:r>
            <a:r>
              <a:rPr lang="zh-CN" altLang="en-US"/>
              <a:t>间是均匀分布的，而大多时候</a:t>
            </a:r>
            <a:r>
              <a:rPr lang="en-US" altLang="zh-CN"/>
              <a:t>x</a:t>
            </a:r>
            <a:r>
              <a:rPr lang="zh-CN" altLang="en-US"/>
              <a:t>在</a:t>
            </a:r>
            <a:r>
              <a:rPr lang="en-US" altLang="zh-CN"/>
              <a:t>[a,b]</a:t>
            </a:r>
            <a:r>
              <a:rPr lang="zh-CN" altLang="en-US"/>
              <a:t>上不是均匀分布的，因此该方法就会存在很大的误差。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266190" y="4296410"/>
                <a:ext cx="9159875" cy="471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这时我们假设</a:t>
                </a:r>
                <a:r>
                  <a:rPr lang="en-US" altLang="zh-CN"/>
                  <a:t>x</a:t>
                </a:r>
                <a:r>
                  <a:rPr lang="zh-CN" altLang="en-US"/>
                  <a:t>在</a:t>
                </a:r>
                <a:r>
                  <a:rPr lang="en-US" altLang="zh-CN"/>
                  <a:t>[a,b]</a:t>
                </a:r>
                <a:r>
                  <a:rPr lang="zh-CN" altLang="en-US"/>
                  <a:t>上的概率密度函数为</a:t>
                </a:r>
                <a:r>
                  <a:rPr lang="en-US" altLang="zh-CN"/>
                  <a:t>p(x)</a:t>
                </a:r>
                <a:r>
                  <a:rPr lang="zh-CN" altLang="en-US"/>
                  <a:t>，加入到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θ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/>
                  <a:t>中变换为：</a:t>
                </a:r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190" y="4296410"/>
                <a:ext cx="9159875" cy="4718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360" y="4775200"/>
            <a:ext cx="5958205" cy="85788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332865" y="5748655"/>
            <a:ext cx="4840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这就是蒙特卡罗期望法计算积分的一般形式。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4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蒙特卡罗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4908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蒙特卡罗方法求定积分</a:t>
            </a:r>
            <a:r>
              <a:rPr lang="en-US" altLang="zh-CN"/>
              <a:t>——</a:t>
            </a:r>
            <a:r>
              <a:rPr lang="zh-CN" altLang="en-US"/>
              <a:t>平均值法（期望法）</a:t>
            </a:r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516890" y="1184275"/>
            <a:ext cx="325755" cy="313690"/>
            <a:chOff x="530" y="2470"/>
            <a:chExt cx="727" cy="727"/>
          </a:xfrm>
        </p:grpSpPr>
        <p:sp>
          <p:nvSpPr>
            <p:cNvPr id="14" name="椭圆 13"/>
            <p:cNvSpPr/>
            <p:nvPr/>
          </p:nvSpPr>
          <p:spPr>
            <a:xfrm>
              <a:off x="530" y="2470"/>
              <a:ext cx="727" cy="727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94" y="2532"/>
              <a:ext cx="602" cy="602"/>
            </a:xfrm>
            <a:prstGeom prst="ellipse">
              <a:avLst/>
            </a:prstGeom>
            <a:gradFill>
              <a:gsLst>
                <a:gs pos="0">
                  <a:schemeClr val="accent5">
                    <a:lumMod val="50000"/>
                  </a:schemeClr>
                </a:gs>
                <a:gs pos="51000">
                  <a:schemeClr val="accent5">
                    <a:lumMod val="60000"/>
                    <a:lumOff val="40000"/>
                  </a:schemeClr>
                </a:gs>
                <a:gs pos="96000">
                  <a:schemeClr val="accent5">
                    <a:lumMod val="40000"/>
                    <a:lumOff val="6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266190" y="1776095"/>
            <a:ext cx="635254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进一步我们采样</a:t>
            </a:r>
            <a:r>
              <a:rPr lang="en-US" altLang="zh-CN"/>
              <a:t>n</a:t>
            </a:r>
            <a:r>
              <a:rPr lang="zh-CN" altLang="en-US"/>
              <a:t>个随机样本（满足均匀分布），则有：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625" y="2341245"/>
            <a:ext cx="3634105" cy="7308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66190" y="321468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800" b="0" i="0"/>
              <a:t>采样点越多，估计值也就越来越接近。</a:t>
            </a:r>
            <a:endParaRPr lang="zh-CN" altLang="en-US" sz="1800" b="0" i="0"/>
          </a:p>
        </p:txBody>
      </p:sp>
      <p:sp>
        <p:nvSpPr>
          <p:cNvPr id="9" name="文本框 8"/>
          <p:cNvSpPr txBox="1"/>
          <p:nvPr/>
        </p:nvSpPr>
        <p:spPr>
          <a:xfrm>
            <a:off x="1221740" y="3629025"/>
            <a:ext cx="10337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但是，该方法是假定</a:t>
            </a:r>
            <a:r>
              <a:rPr lang="en-US" altLang="zh-CN"/>
              <a:t>x</a:t>
            </a:r>
            <a:r>
              <a:rPr lang="zh-CN" altLang="en-US"/>
              <a:t>在</a:t>
            </a:r>
            <a:r>
              <a:rPr lang="en-US" altLang="zh-CN"/>
              <a:t>[a,b]</a:t>
            </a:r>
            <a:r>
              <a:rPr lang="zh-CN" altLang="en-US"/>
              <a:t>间是均匀分布的，而大多时候</a:t>
            </a:r>
            <a:r>
              <a:rPr lang="en-US" altLang="zh-CN"/>
              <a:t>x</a:t>
            </a:r>
            <a:r>
              <a:rPr lang="zh-CN" altLang="en-US"/>
              <a:t>在</a:t>
            </a:r>
            <a:r>
              <a:rPr lang="en-US" altLang="zh-CN"/>
              <a:t>[a,b]</a:t>
            </a:r>
            <a:r>
              <a:rPr lang="zh-CN" altLang="en-US"/>
              <a:t>上不是均匀分布的，因此该方法就会存在很大的误差。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266190" y="4296410"/>
                <a:ext cx="9159875" cy="471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这时我们假设</a:t>
                </a:r>
                <a:r>
                  <a:rPr lang="en-US" altLang="zh-CN"/>
                  <a:t>x</a:t>
                </a:r>
                <a:r>
                  <a:rPr lang="zh-CN" altLang="en-US"/>
                  <a:t>在</a:t>
                </a:r>
                <a:r>
                  <a:rPr lang="en-US" altLang="zh-CN"/>
                  <a:t>[a,b]</a:t>
                </a:r>
                <a:r>
                  <a:rPr lang="zh-CN" altLang="en-US"/>
                  <a:t>上的概率密度函数为</a:t>
                </a:r>
                <a:r>
                  <a:rPr lang="en-US" altLang="zh-CN"/>
                  <a:t>p(x)</a:t>
                </a:r>
                <a:r>
                  <a:rPr lang="zh-CN" altLang="en-US"/>
                  <a:t>，加入到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θ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/>
                  <a:t>中变换为：</a:t>
                </a:r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190" y="4296410"/>
                <a:ext cx="9159875" cy="4718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360" y="4775200"/>
            <a:ext cx="5958205" cy="85788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332865" y="5748655"/>
            <a:ext cx="10180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这就是蒙特卡罗期望法计算积分的一般形式。那么问题就换成了如何从</a:t>
            </a:r>
            <a:r>
              <a:rPr lang="en-US" altLang="zh-CN"/>
              <a:t>p(x)</a:t>
            </a:r>
            <a:r>
              <a:rPr lang="zh-CN" altLang="en-US"/>
              <a:t>中进行采样。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抽样方法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抽样方法</a:t>
            </a:r>
            <a:endParaRPr lang="en-US"/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6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51000">
                  <a:schemeClr val="accent6">
                    <a:lumMod val="60000"/>
                    <a:lumOff val="40000"/>
                  </a:schemeClr>
                </a:gs>
                <a:gs pos="96000">
                  <a:schemeClr val="accent6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369060" y="2078990"/>
            <a:ext cx="9636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抽样：是指从目标总体中抽取一部分个体，作为样本，通过样本展现出的属性来对总体的特征进行判断，从而更好地认识总体。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69060" y="3002280"/>
            <a:ext cx="9810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我们经常需要通过抽样的方法，生成服从某概率分布的随机数，用来进行复杂的数据模拟和分析。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30" y="1998345"/>
            <a:ext cx="3126105" cy="988060"/>
          </a:xfrm>
          <a:prstGeom prst="rect">
            <a:avLst/>
          </a:prstGeom>
        </p:spPr>
      </p:pic>
      <p:sp>
        <p:nvSpPr>
          <p:cNvPr id="37" name="任意多边形: 形状 418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抽样方法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1045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抽样方法</a:t>
            </a:r>
            <a:r>
              <a:rPr lang="en-US" altLang="zh-CN"/>
              <a:t>——</a:t>
            </a:r>
            <a:r>
              <a:rPr lang="zh-CN" altLang="en-US"/>
              <a:t>逆转换方法（从简单均匀分布出发，得到满足复杂目标分布的随机值）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6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51000">
                  <a:schemeClr val="accent6">
                    <a:lumMod val="60000"/>
                    <a:lumOff val="40000"/>
                  </a:schemeClr>
                </a:gs>
                <a:gs pos="96000">
                  <a:schemeClr val="accent6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33730" y="1696720"/>
            <a:ext cx="4635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简单的均匀分布（可通过</a:t>
            </a:r>
            <a:r>
              <a:rPr lang="en-US" altLang="zh-CN"/>
              <a:t>rand</a:t>
            </a:r>
            <a:r>
              <a:rPr lang="zh-CN" altLang="en-US"/>
              <a:t>函数抽样）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20" idx="3"/>
            <a:endCxn id="21" idx="1"/>
          </p:cNvCxnSpPr>
          <p:nvPr/>
        </p:nvCxnSpPr>
        <p:spPr>
          <a:xfrm>
            <a:off x="5300980" y="4097020"/>
            <a:ext cx="1291590" cy="0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825" y="1918970"/>
            <a:ext cx="3597275" cy="88201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675245" y="155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较复杂的指数分布</a:t>
            </a:r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814705" y="3848735"/>
            <a:ext cx="3568700" cy="2594610"/>
            <a:chOff x="998" y="5269"/>
            <a:chExt cx="6300" cy="458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" y="5269"/>
              <a:ext cx="6300" cy="4580"/>
            </a:xfrm>
            <a:prstGeom prst="rect">
              <a:avLst/>
            </a:prstGeom>
            <a:effectLst>
              <a:outerShdw blurRad="393700" dist="50800" dir="5880000" sx="99000" sy="99000" algn="ctr" rotWithShape="0">
                <a:srgbClr val="000000">
                  <a:alpha val="51000"/>
                </a:srgbClr>
              </a:outerShdw>
            </a:effectLst>
          </p:spPr>
        </p:pic>
        <p:cxnSp>
          <p:nvCxnSpPr>
            <p:cNvPr id="3" name="直接连接符 2"/>
            <p:cNvCxnSpPr/>
            <p:nvPr/>
          </p:nvCxnSpPr>
          <p:spPr>
            <a:xfrm>
              <a:off x="4266" y="6993"/>
              <a:ext cx="13" cy="14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4037" y="8393"/>
              <a:ext cx="676" cy="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accent1"/>
                  </a:solidFill>
                </a:rPr>
                <a:t>a</a:t>
              </a:r>
              <a:endParaRPr lang="en-US" altLang="zh-CN">
                <a:solidFill>
                  <a:schemeClr val="accent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875" y="6993"/>
              <a:ext cx="391" cy="1400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998855" y="6513195"/>
            <a:ext cx="3095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</a:t>
            </a:r>
            <a:r>
              <a:rPr lang="en-US" altLang="zh-CN"/>
              <a:t>=P{X≤a}=a</a:t>
            </a:r>
            <a:r>
              <a:rPr lang="zh-CN" altLang="en-US"/>
              <a:t>×</a:t>
            </a:r>
            <a:r>
              <a:rPr lang="en-US" altLang="zh-CN"/>
              <a:t>1=a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4384040" y="3912870"/>
            <a:ext cx="916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样本</a:t>
            </a:r>
            <a:r>
              <a:rPr lang="en-US" altLang="zh-CN">
                <a:solidFill>
                  <a:schemeClr val="accent1"/>
                </a:solidFill>
              </a:rPr>
              <a:t>X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592570" y="3912870"/>
            <a:ext cx="1310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样本</a:t>
            </a:r>
            <a:r>
              <a:rPr lang="en-US" altLang="zh-CN">
                <a:solidFill>
                  <a:schemeClr val="accent1"/>
                </a:solidFill>
              </a:rPr>
              <a:t>T(X)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353050" y="3635375"/>
            <a:ext cx="1296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转换函数</a:t>
            </a:r>
            <a:r>
              <a:rPr lang="en-US" altLang="zh-CN"/>
              <a:t>T</a:t>
            </a:r>
            <a:endParaRPr lang="en-US" altLang="zh-CN"/>
          </a:p>
        </p:txBody>
      </p:sp>
      <p:grpSp>
        <p:nvGrpSpPr>
          <p:cNvPr id="35" name="组合 34"/>
          <p:cNvGrpSpPr/>
          <p:nvPr/>
        </p:nvGrpSpPr>
        <p:grpSpPr>
          <a:xfrm>
            <a:off x="7767320" y="3594100"/>
            <a:ext cx="3620770" cy="2746375"/>
            <a:chOff x="12070" y="4669"/>
            <a:chExt cx="5830" cy="4420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070" y="4669"/>
              <a:ext cx="5830" cy="4420"/>
            </a:xfrm>
            <a:prstGeom prst="rect">
              <a:avLst/>
            </a:prstGeom>
            <a:effectLst>
              <a:outerShdw blurRad="241300" dist="50800" dir="5400000" algn="ctr" rotWithShape="0">
                <a:srgbClr val="000000">
                  <a:alpha val="84000"/>
                </a:srgbClr>
              </a:outerShdw>
            </a:effectLst>
          </p:spPr>
        </p:pic>
        <p:sp>
          <p:nvSpPr>
            <p:cNvPr id="23" name="任意多边形 22"/>
            <p:cNvSpPr/>
            <p:nvPr/>
          </p:nvSpPr>
          <p:spPr>
            <a:xfrm>
              <a:off x="14952" y="6162"/>
              <a:ext cx="416" cy="1400"/>
            </a:xfrm>
            <a:custGeom>
              <a:avLst/>
              <a:gdLst>
                <a:gd name="connsiteX0" fmla="*/ 0 w 391"/>
                <a:gd name="connsiteY0" fmla="*/ 0 h 1400"/>
                <a:gd name="connsiteX1" fmla="*/ 391 w 391"/>
                <a:gd name="connsiteY1" fmla="*/ 413 h 1400"/>
                <a:gd name="connsiteX2" fmla="*/ 391 w 391"/>
                <a:gd name="connsiteY2" fmla="*/ 1400 h 1400"/>
                <a:gd name="connsiteX3" fmla="*/ 0 w 391"/>
                <a:gd name="connsiteY3" fmla="*/ 1400 h 1400"/>
                <a:gd name="connsiteX4" fmla="*/ 0 w 391"/>
                <a:gd name="connsiteY4" fmla="*/ 0 h 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" h="1400">
                  <a:moveTo>
                    <a:pt x="0" y="0"/>
                  </a:moveTo>
                  <a:lnTo>
                    <a:pt x="391" y="413"/>
                  </a:lnTo>
                  <a:lnTo>
                    <a:pt x="391" y="1400"/>
                  </a:lnTo>
                  <a:lnTo>
                    <a:pt x="0" y="1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/>
            <p:nvPr/>
          </p:nvCxnSpPr>
          <p:spPr>
            <a:xfrm flipH="1">
              <a:off x="15356" y="6562"/>
              <a:ext cx="12" cy="10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15101" y="7562"/>
              <a:ext cx="1101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accent1"/>
                  </a:solidFill>
                </a:rPr>
                <a:t>a</a:t>
              </a:r>
              <a:endParaRPr lang="en-US" altLang="zh-CN">
                <a:solidFill>
                  <a:schemeClr val="accent1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6762750" y="6426835"/>
            <a:ext cx="213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</a:t>
            </a:r>
            <a:r>
              <a:rPr lang="en-US" altLang="zh-CN"/>
              <a:t>=P{T(X)≤a}</a:t>
            </a:r>
            <a:endParaRPr lang="en-US" altLang="zh-CN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8809355" y="6602095"/>
            <a:ext cx="467995" cy="8255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277350" y="6426835"/>
            <a:ext cx="2914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</a:t>
            </a:r>
            <a:r>
              <a:rPr lang="en-US" altLang="zh-CN"/>
              <a:t>=P{X≤T</a:t>
            </a:r>
            <a:r>
              <a:rPr lang="en-US" altLang="zh-CN" baseline="30000"/>
              <a:t>-1</a:t>
            </a:r>
            <a:r>
              <a:rPr lang="en-US" altLang="zh-CN"/>
              <a:t>(a)}=</a:t>
            </a:r>
            <a:r>
              <a:rPr lang="en-US" altLang="zh-CN">
                <a:sym typeface="+mn-ea"/>
              </a:rPr>
              <a:t>T</a:t>
            </a:r>
            <a:r>
              <a:rPr lang="en-US" altLang="zh-CN" baseline="30000">
                <a:sym typeface="+mn-ea"/>
              </a:rPr>
              <a:t>-1</a:t>
            </a:r>
            <a:r>
              <a:rPr lang="en-US" altLang="zh-CN">
                <a:sym typeface="+mn-ea"/>
              </a:rPr>
              <a:t>(a)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9102725" y="7249160"/>
            <a:ext cx="283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G()</a:t>
            </a:r>
            <a:r>
              <a:rPr lang="zh-CN" altLang="en-US"/>
              <a:t>和</a:t>
            </a:r>
            <a:r>
              <a:rPr lang="en-US" altLang="zh-CN"/>
              <a:t>T()</a:t>
            </a:r>
            <a:r>
              <a:rPr lang="zh-CN" altLang="en-US"/>
              <a:t>互为反函数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258560" y="75323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转换函数</a:t>
            </a:r>
            <a:r>
              <a:rPr lang="en-US" altLang="zh-CN"/>
              <a:t>T()</a:t>
            </a:r>
            <a:r>
              <a:rPr lang="zh-CN" altLang="en-US"/>
              <a:t>就可以用指数分布的累积分布函数</a:t>
            </a:r>
            <a:r>
              <a:rPr lang="en-US" altLang="zh-CN"/>
              <a:t>G()</a:t>
            </a:r>
            <a:r>
              <a:rPr lang="zh-CN" altLang="en-US"/>
              <a:t>的反函数</a:t>
            </a:r>
            <a:r>
              <a:rPr lang="en-US" altLang="zh-CN"/>
              <a:t>G</a:t>
            </a:r>
            <a:r>
              <a:rPr lang="en-US" altLang="zh-CN" baseline="30000"/>
              <a:t>-1</a:t>
            </a:r>
            <a:r>
              <a:rPr lang="en-US" altLang="zh-CN"/>
              <a:t>()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484505" y="2910205"/>
                <a:ext cx="4064000" cy="868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0064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solidFill>
                            <a:srgbClr val="0064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0064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solidFill>
                            <a:srgbClr val="0064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limLoc m:val="undOvr"/>
                          <m:ctrlP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solidFill>
                            <a:srgbClr val="0064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rgbClr val="0064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≤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≤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，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&gt;</m:t>
                              </m:r>
                              <m:r>
                                <a:rPr lang="en-US" altLang="zh-CN" i="1">
                                  <a:solidFill>
                                    <a:srgbClr val="00640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rgbClr val="006400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05" y="2910205"/>
                <a:ext cx="4064000" cy="8686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7616825" y="2726690"/>
                <a:ext cx="4064000" cy="867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limLoc m:val="undOvr"/>
                          <m:ctrlP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≥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chemeClr val="accent6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825" y="2726690"/>
                <a:ext cx="4064000" cy="86741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抽样方法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3540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抽样方法</a:t>
            </a:r>
            <a:r>
              <a:rPr lang="en-US" altLang="zh-CN"/>
              <a:t>——</a:t>
            </a:r>
            <a:r>
              <a:rPr lang="zh-CN" altLang="en-US"/>
              <a:t>逆转换方法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6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51000">
                  <a:schemeClr val="accent6">
                    <a:lumMod val="60000"/>
                    <a:lumOff val="40000"/>
                  </a:schemeClr>
                </a:gs>
                <a:gs pos="96000">
                  <a:schemeClr val="accent6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6657340" y="1613535"/>
            <a:ext cx="283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G()</a:t>
            </a:r>
            <a:r>
              <a:rPr lang="zh-CN" altLang="en-US"/>
              <a:t>和</a:t>
            </a:r>
            <a:r>
              <a:rPr lang="en-US" altLang="zh-CN"/>
              <a:t>T()</a:t>
            </a:r>
            <a:r>
              <a:rPr lang="zh-CN" altLang="en-US"/>
              <a:t>互为反函数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657340" y="297116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转换函数</a:t>
            </a:r>
            <a:r>
              <a:rPr lang="en-US" altLang="zh-CN"/>
              <a:t>T()</a:t>
            </a:r>
            <a:r>
              <a:rPr lang="zh-CN" altLang="en-US"/>
              <a:t>就可以用指数分布的累积分布函数</a:t>
            </a:r>
            <a:r>
              <a:rPr lang="en-US" altLang="zh-CN"/>
              <a:t>G()</a:t>
            </a:r>
            <a:r>
              <a:rPr lang="zh-CN" altLang="en-US"/>
              <a:t>的反函数</a:t>
            </a:r>
            <a:r>
              <a:rPr lang="en-US" altLang="zh-CN"/>
              <a:t>G</a:t>
            </a:r>
            <a:r>
              <a:rPr lang="en-US" altLang="zh-CN" baseline="30000"/>
              <a:t>-1</a:t>
            </a:r>
            <a:r>
              <a:rPr lang="en-US" altLang="zh-CN"/>
              <a:t>()</a:t>
            </a:r>
            <a:r>
              <a:rPr lang="zh-CN" altLang="en-US"/>
              <a:t>表示。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1918970"/>
            <a:ext cx="3597275" cy="88201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89990" y="155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较复杂的指数分布</a:t>
            </a:r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1282065" y="3594100"/>
            <a:ext cx="3620770" cy="2746375"/>
            <a:chOff x="12070" y="4669"/>
            <a:chExt cx="5830" cy="4420"/>
          </a:xfrm>
        </p:grpSpPr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70" y="4669"/>
              <a:ext cx="5830" cy="4420"/>
            </a:xfrm>
            <a:prstGeom prst="rect">
              <a:avLst/>
            </a:prstGeom>
            <a:effectLst>
              <a:outerShdw blurRad="241300" dist="50800" dir="5400000" algn="ctr" rotWithShape="0">
                <a:srgbClr val="000000">
                  <a:alpha val="84000"/>
                </a:srgbClr>
              </a:outerShdw>
            </a:effectLst>
          </p:spPr>
        </p:pic>
        <p:sp>
          <p:nvSpPr>
            <p:cNvPr id="39" name="任意多边形 38"/>
            <p:cNvSpPr/>
            <p:nvPr/>
          </p:nvSpPr>
          <p:spPr>
            <a:xfrm>
              <a:off x="14952" y="6162"/>
              <a:ext cx="416" cy="1400"/>
            </a:xfrm>
            <a:custGeom>
              <a:avLst/>
              <a:gdLst>
                <a:gd name="connsiteX0" fmla="*/ 0 w 391"/>
                <a:gd name="connsiteY0" fmla="*/ 0 h 1400"/>
                <a:gd name="connsiteX1" fmla="*/ 391 w 391"/>
                <a:gd name="connsiteY1" fmla="*/ 413 h 1400"/>
                <a:gd name="connsiteX2" fmla="*/ 391 w 391"/>
                <a:gd name="connsiteY2" fmla="*/ 1400 h 1400"/>
                <a:gd name="connsiteX3" fmla="*/ 0 w 391"/>
                <a:gd name="connsiteY3" fmla="*/ 1400 h 1400"/>
                <a:gd name="connsiteX4" fmla="*/ 0 w 391"/>
                <a:gd name="connsiteY4" fmla="*/ 0 h 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" h="1400">
                  <a:moveTo>
                    <a:pt x="0" y="0"/>
                  </a:moveTo>
                  <a:lnTo>
                    <a:pt x="391" y="413"/>
                  </a:lnTo>
                  <a:lnTo>
                    <a:pt x="391" y="1400"/>
                  </a:lnTo>
                  <a:lnTo>
                    <a:pt x="0" y="1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1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0" name="直接连接符 39"/>
            <p:cNvCxnSpPr/>
            <p:nvPr/>
          </p:nvCxnSpPr>
          <p:spPr>
            <a:xfrm flipH="1">
              <a:off x="15356" y="6562"/>
              <a:ext cx="12" cy="10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/>
          </p:nvSpPr>
          <p:spPr>
            <a:xfrm>
              <a:off x="15101" y="7562"/>
              <a:ext cx="1101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accent1"/>
                  </a:solidFill>
                </a:rPr>
                <a:t>a</a:t>
              </a:r>
              <a:endParaRPr lang="en-US" altLang="zh-CN">
                <a:solidFill>
                  <a:schemeClr val="accent1"/>
                </a:solidFill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277495" y="6426835"/>
            <a:ext cx="213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</a:t>
            </a:r>
            <a:r>
              <a:rPr lang="en-US" altLang="zh-CN"/>
              <a:t>=P{T(X)≤a}</a:t>
            </a:r>
            <a:endParaRPr lang="en-US" altLang="zh-CN"/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2324100" y="6602095"/>
            <a:ext cx="467995" cy="8255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2792095" y="6426835"/>
            <a:ext cx="2914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zh-CN" altLang="en-US"/>
              <a:t>）</a:t>
            </a:r>
            <a:r>
              <a:rPr lang="en-US" altLang="zh-CN"/>
              <a:t>=P{X≤T</a:t>
            </a:r>
            <a:r>
              <a:rPr lang="en-US" altLang="zh-CN" baseline="30000"/>
              <a:t>-1</a:t>
            </a:r>
            <a:r>
              <a:rPr lang="en-US" altLang="zh-CN"/>
              <a:t>(a)}=</a:t>
            </a:r>
            <a:r>
              <a:rPr lang="en-US" altLang="zh-CN">
                <a:sym typeface="+mn-ea"/>
              </a:rPr>
              <a:t>T</a:t>
            </a:r>
            <a:r>
              <a:rPr lang="en-US" altLang="zh-CN" baseline="30000">
                <a:sym typeface="+mn-ea"/>
              </a:rPr>
              <a:t>-1</a:t>
            </a:r>
            <a:r>
              <a:rPr lang="en-US" altLang="zh-CN">
                <a:sym typeface="+mn-ea"/>
              </a:rPr>
              <a:t>(a)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1131570" y="2726690"/>
                <a:ext cx="4064000" cy="867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limLoc m:val="undOvr"/>
                          <m:ctrlP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i="1">
                          <a:solidFill>
                            <a:schemeClr val="accent6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accent6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&lt;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≥</m:t>
                              </m:r>
                              <m:r>
                                <a:rPr lang="en-US" altLang="zh-CN" i="1">
                                  <a:solidFill>
                                    <a:schemeClr val="accent6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chemeClr val="accent6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" y="2726690"/>
                <a:ext cx="4064000" cy="8674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7172960" y="1981835"/>
                <a:ext cx="2929255" cy="628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960" y="1981835"/>
                <a:ext cx="2929255" cy="6286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6814185" y="3912870"/>
                <a:ext cx="4064000" cy="913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𝐺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𝑙𝑛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/>
              </a:p>
              <a:p>
                <a:endParaRPr lang="zh-CN" altLang="en-US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185" y="3912870"/>
                <a:ext cx="4064000" cy="9137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本框 49"/>
          <p:cNvSpPr txBox="1"/>
          <p:nvPr/>
        </p:nvSpPr>
        <p:spPr>
          <a:xfrm>
            <a:off x="6605905" y="483806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有了转换函数后，我们就可以从</a:t>
            </a:r>
            <a:r>
              <a:rPr lang="en-US" altLang="zh-CN"/>
              <a:t>[0,1]</a:t>
            </a:r>
            <a:r>
              <a:rPr lang="zh-CN" altLang="en-US"/>
              <a:t>之间的均匀分布出发，抽样得到满足新概率分布的数值了。</a:t>
            </a:r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6657340" y="5956935"/>
            <a:ext cx="4012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局限性：累积分布函数不一定好求，累积分布函数的反函数也不一定好求。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633730" y="2389505"/>
            <a:ext cx="5713730" cy="3732530"/>
            <a:chOff x="998" y="3763"/>
            <a:chExt cx="8998" cy="5878"/>
          </a:xfrm>
        </p:grpSpPr>
        <p:grpSp>
          <p:nvGrpSpPr>
            <p:cNvPr id="18" name="组合 17"/>
            <p:cNvGrpSpPr/>
            <p:nvPr/>
          </p:nvGrpSpPr>
          <p:grpSpPr>
            <a:xfrm>
              <a:off x="998" y="3763"/>
              <a:ext cx="8998" cy="5878"/>
              <a:chOff x="998" y="3763"/>
              <a:chExt cx="8998" cy="5878"/>
            </a:xfrm>
          </p:grpSpPr>
          <p:pic>
            <p:nvPicPr>
              <p:cNvPr id="7" name="图片 6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98" y="3763"/>
                <a:ext cx="8998" cy="5878"/>
              </a:xfrm>
              <a:prstGeom prst="rect">
                <a:avLst/>
              </a:prstGeom>
              <a:effectLst>
                <a:outerShdw blurRad="241300" dist="50800" dir="5400000" algn="ctr" rotWithShape="0">
                  <a:srgbClr val="000000">
                    <a:alpha val="88000"/>
                  </a:srgbClr>
                </a:outerShdw>
              </a:effectLst>
            </p:spPr>
          </p:pic>
          <p:sp>
            <p:nvSpPr>
              <p:cNvPr id="17" name="文本框 16"/>
              <p:cNvSpPr txBox="1"/>
              <p:nvPr/>
            </p:nvSpPr>
            <p:spPr>
              <a:xfrm>
                <a:off x="8710" y="3915"/>
                <a:ext cx="87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highlight>
                      <a:srgbClr val="C0C0C0"/>
                    </a:highlight>
                  </a:rPr>
                  <a:t>f(x)</a:t>
                </a:r>
                <a:endParaRPr lang="en-US" altLang="zh-CN">
                  <a:highlight>
                    <a:srgbClr val="C0C0C0"/>
                  </a:highlight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8698" y="4353"/>
              <a:ext cx="12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highlight>
                    <a:srgbClr val="C0C0C0"/>
                  </a:highlight>
                </a:rPr>
                <a:t>c*G(x)</a:t>
              </a:r>
              <a:endParaRPr lang="en-US" altLang="zh-CN">
                <a:highlight>
                  <a:srgbClr val="C0C0C0"/>
                </a:highlight>
              </a:endParaRPr>
            </a:p>
          </p:txBody>
        </p:sp>
      </p:grpSp>
      <p:sp>
        <p:nvSpPr>
          <p:cNvPr id="37" name="任意多边形: 形状 418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抽样方法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3540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抽样方法</a:t>
            </a:r>
            <a:r>
              <a:rPr lang="en-US" altLang="zh-CN"/>
              <a:t>——</a:t>
            </a:r>
            <a:r>
              <a:rPr lang="zh-CN" altLang="en-US"/>
              <a:t>接受拒绝采样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6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51000">
                  <a:schemeClr val="accent6">
                    <a:lumMod val="60000"/>
                    <a:lumOff val="40000"/>
                  </a:schemeClr>
                </a:gs>
                <a:gs pos="96000">
                  <a:schemeClr val="accent6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842645" y="1759585"/>
            <a:ext cx="600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规避逆转换方法抽样的局限性，实现复杂函数的抽样。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790055" y="2275840"/>
            <a:ext cx="46672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当待采样函数</a:t>
            </a:r>
            <a:r>
              <a:rPr lang="en-US" altLang="zh-CN"/>
              <a:t>f(x)</a:t>
            </a:r>
            <a:r>
              <a:rPr lang="zh-CN" altLang="en-US"/>
              <a:t>的形式十分复杂时，可以找一个简单的建议分布</a:t>
            </a:r>
            <a:r>
              <a:rPr lang="en-US" altLang="zh-CN"/>
              <a:t>G(x)</a:t>
            </a:r>
            <a:r>
              <a:rPr lang="zh-CN" altLang="en-US"/>
              <a:t>（一般选择正态分布或均匀分布），并将其乘一个常数</a:t>
            </a:r>
            <a:r>
              <a:rPr lang="en-US" altLang="zh-CN"/>
              <a:t>c</a:t>
            </a:r>
            <a:r>
              <a:rPr lang="zh-CN" altLang="en-US"/>
              <a:t>使其全部在</a:t>
            </a:r>
            <a:r>
              <a:rPr lang="en-US" altLang="zh-CN"/>
              <a:t>f(x)</a:t>
            </a:r>
            <a:r>
              <a:rPr lang="zh-CN" altLang="en-US"/>
              <a:t>的上方。</a:t>
            </a:r>
            <a:endParaRPr lang="zh-CN" altLang="en-US"/>
          </a:p>
          <a:p>
            <a:r>
              <a:rPr lang="zh-CN" altLang="en-US"/>
              <a:t>红线是我们要采样的</a:t>
            </a:r>
            <a:r>
              <a:rPr lang="en-US" altLang="zh-CN"/>
              <a:t>f</a:t>
            </a:r>
            <a:r>
              <a:rPr lang="en-US" altLang="zh-CN"/>
              <a:t>(x)</a:t>
            </a:r>
            <a:r>
              <a:rPr lang="zh-CN" altLang="en-US"/>
              <a:t>，蓝色曲线为</a:t>
            </a:r>
            <a:r>
              <a:rPr lang="en-US" altLang="zh-CN"/>
              <a:t>c</a:t>
            </a:r>
            <a:r>
              <a:rPr lang="en-US" altLang="zh-CN"/>
              <a:t>*G(x)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347373" y="5753621"/>
            <a:ext cx="683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x</a:t>
            </a:r>
            <a:r>
              <a:rPr lang="en-US" altLang="zh-CN" baseline="-25000">
                <a:solidFill>
                  <a:schemeClr val="accent1"/>
                </a:solidFill>
              </a:rPr>
              <a:t>1</a:t>
            </a:r>
            <a:endParaRPr lang="en-US" altLang="zh-CN" baseline="-250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790055" y="3841115"/>
                <a:ext cx="4985385" cy="2188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采样过程：</a:t>
                </a:r>
                <a:endParaRPr lang="zh-CN" altLang="en-US"/>
              </a:p>
              <a:p>
                <a:r>
                  <a:rPr lang="en-US" altLang="zh-CN"/>
                  <a:t>step1</a:t>
                </a:r>
                <a:r>
                  <a:rPr lang="zh-CN" altLang="en-US"/>
                  <a:t>：从建议分布</a:t>
                </a:r>
                <a:r>
                  <a:rPr lang="en-US" altLang="zh-CN"/>
                  <a:t>G</a:t>
                </a:r>
                <a:r>
                  <a:rPr lang="en-US" altLang="zh-CN"/>
                  <a:t>(x) </a:t>
                </a:r>
                <a:r>
                  <a:rPr lang="zh-CN" altLang="en-US"/>
                  <a:t>中进行采样，得到一个采样样本</a:t>
                </a:r>
                <a:r>
                  <a:rPr lang="en-US" altLang="zh-CN"/>
                  <a:t>x</a:t>
                </a:r>
                <a:r>
                  <a:rPr lang="en-US" altLang="zh-CN" baseline="-25000"/>
                  <a:t>1</a:t>
                </a:r>
                <a:r>
                  <a:rPr lang="en-US" altLang="zh-CN"/>
                  <a:t> 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en-US" altLang="zh-CN"/>
                  <a:t>step2</a:t>
                </a:r>
                <a:r>
                  <a:rPr lang="zh-CN" altLang="en-US"/>
                  <a:t>：从分布</a:t>
                </a:r>
                <a:r>
                  <a:rPr lang="en-US" altLang="zh-CN"/>
                  <a:t>U(0,1) </a:t>
                </a:r>
                <a:r>
                  <a:rPr lang="zh-CN" altLang="en-US"/>
                  <a:t>中进行采样，得到一个采样样本</a:t>
                </a:r>
                <a:r>
                  <a:rPr lang="en-US" altLang="zh-CN"/>
                  <a:t>u 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en-US" altLang="zh-CN"/>
                  <a:t>step3</a:t>
                </a:r>
                <a:r>
                  <a:rPr lang="zh-CN" altLang="en-US"/>
                  <a:t>：判断</a:t>
                </a:r>
                <a:r>
                  <a:rPr lang="en-US" altLang="zh-CN"/>
                  <a:t>,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如果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 baseline="-25000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/>
                  <a:t>，</a:t>
                </a:r>
                <a:r>
                  <a:rPr lang="en-US" altLang="zh-CN"/>
                  <a:t> </a:t>
                </a:r>
                <a:r>
                  <a:rPr lang="zh-CN" altLang="en-US"/>
                  <a:t>则接受这个采样值</a:t>
                </a:r>
                <a:r>
                  <a:rPr lang="en-US" altLang="zh-CN">
                    <a:sym typeface="+mn-ea"/>
                  </a:rPr>
                  <a:t>x</a:t>
                </a:r>
                <a:r>
                  <a:rPr lang="en-US" altLang="zh-CN" baseline="-25000">
                    <a:sym typeface="+mn-ea"/>
                  </a:rPr>
                  <a:t>1</a:t>
                </a:r>
                <a:r>
                  <a:rPr lang="zh-CN" altLang="en-US"/>
                  <a:t>，否则拒绝这个采样值，继续执行</a:t>
                </a:r>
                <a:r>
                  <a:rPr lang="en-US" altLang="zh-CN"/>
                  <a:t>step1</a:t>
                </a:r>
                <a:r>
                  <a:rPr lang="zh-CN" altLang="en-US"/>
                  <a:t>。</a:t>
                </a:r>
                <a:endParaRPr lang="zh-CN" altLang="en-US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055" y="3841115"/>
                <a:ext cx="4985385" cy="21882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组合 51"/>
          <p:cNvGrpSpPr/>
          <p:nvPr/>
        </p:nvGrpSpPr>
        <p:grpSpPr>
          <a:xfrm>
            <a:off x="307340" y="2950845"/>
            <a:ext cx="3220085" cy="2851150"/>
            <a:chOff x="485" y="4647"/>
            <a:chExt cx="5071" cy="4490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5543" y="4937"/>
              <a:ext cx="13" cy="4200"/>
            </a:xfrm>
            <a:prstGeom prst="line">
              <a:avLst/>
            </a:prstGeom>
            <a:ln w="28575"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768" y="4937"/>
              <a:ext cx="3763" cy="0"/>
            </a:xfrm>
            <a:prstGeom prst="line">
              <a:avLst/>
            </a:prstGeom>
            <a:ln w="28575"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485" y="4647"/>
              <a:ext cx="15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accent1"/>
                  </a:solidFill>
                </a:rPr>
                <a:t>c*G(x</a:t>
              </a:r>
              <a:r>
                <a:rPr lang="en-US" altLang="zh-CN" baseline="-25000">
                  <a:solidFill>
                    <a:schemeClr val="accent1"/>
                  </a:solidFill>
                </a:rPr>
                <a:t>1</a:t>
              </a:r>
              <a:r>
                <a:rPr lang="en-US" altLang="zh-CN">
                  <a:solidFill>
                    <a:schemeClr val="accent1"/>
                  </a:solidFill>
                </a:rPr>
                <a:t>)</a:t>
              </a:r>
              <a:endParaRPr lang="zh-CN" altLang="en-US">
                <a:solidFill>
                  <a:schemeClr val="accent1"/>
                </a:solidFill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768" y="7324"/>
              <a:ext cx="3763" cy="0"/>
            </a:xfrm>
            <a:prstGeom prst="line">
              <a:avLst/>
            </a:prstGeom>
            <a:ln w="28575">
              <a:solidFill>
                <a:schemeClr val="accent6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926" y="6923"/>
              <a:ext cx="10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accent6"/>
                  </a:solidFill>
                </a:rPr>
                <a:t>f(x</a:t>
              </a:r>
              <a:r>
                <a:rPr lang="en-US" altLang="zh-CN" baseline="-25000">
                  <a:solidFill>
                    <a:schemeClr val="accent6"/>
                  </a:solidFill>
                </a:rPr>
                <a:t>1</a:t>
              </a:r>
              <a:r>
                <a:rPr lang="en-US" altLang="zh-CN">
                  <a:solidFill>
                    <a:schemeClr val="accent6"/>
                  </a:solidFill>
                </a:rPr>
                <a:t>)</a:t>
              </a:r>
              <a:endParaRPr lang="en-US" altLang="zh-CN">
                <a:solidFill>
                  <a:schemeClr val="accent6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154805" y="1184275"/>
            <a:ext cx="7091680" cy="1816100"/>
            <a:chOff x="6543" y="1865"/>
            <a:chExt cx="11168" cy="2860"/>
          </a:xfrm>
        </p:grpSpPr>
        <p:sp>
          <p:nvSpPr>
            <p:cNvPr id="33" name="文本框 32"/>
            <p:cNvSpPr txBox="1"/>
            <p:nvPr/>
          </p:nvSpPr>
          <p:spPr>
            <a:xfrm>
              <a:off x="11311" y="1865"/>
              <a:ext cx="6400" cy="1016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</p:spPr>
          <p:txBody>
            <a:bodyPr wrap="square" rtlCol="0">
              <a:spAutoFit/>
            </a:bodyPr>
            <a:p>
              <a:r>
                <a:rPr lang="zh-CN" altLang="en-US"/>
                <a:t>在峰值处，更容易接受采样值。</a:t>
              </a:r>
              <a:endParaRPr lang="zh-CN" altLang="en-US"/>
            </a:p>
            <a:p>
              <a:r>
                <a:rPr lang="zh-CN" altLang="en-US"/>
                <a:t>在其余位置</a:t>
              </a:r>
              <a:r>
                <a:rPr lang="en-US" altLang="zh-CN"/>
                <a:t>a</a:t>
              </a:r>
              <a:r>
                <a:rPr lang="zh-CN" altLang="en-US"/>
                <a:t>被拒绝的概率较大。</a:t>
              </a:r>
              <a:endParaRPr lang="zh-CN" altLang="en-US"/>
            </a:p>
          </p:txBody>
        </p:sp>
        <p:cxnSp>
          <p:nvCxnSpPr>
            <p:cNvPr id="34" name="直接箭头连接符 33"/>
            <p:cNvCxnSpPr/>
            <p:nvPr/>
          </p:nvCxnSpPr>
          <p:spPr>
            <a:xfrm flipH="1">
              <a:off x="6543" y="2925"/>
              <a:ext cx="4738" cy="1800"/>
            </a:xfrm>
            <a:prstGeom prst="straightConnector1">
              <a:avLst/>
            </a:prstGeom>
            <a:ln w="25400">
              <a:solidFill>
                <a:srgbClr val="1E86DE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6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抽样方法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915" y="1183640"/>
            <a:ext cx="3540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抽样方法</a:t>
            </a:r>
            <a:r>
              <a:rPr lang="en-US" altLang="zh-CN"/>
              <a:t>——</a:t>
            </a:r>
            <a:r>
              <a:rPr lang="zh-CN" altLang="en-US"/>
              <a:t>接受拒绝采样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6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51000">
                  <a:schemeClr val="accent6">
                    <a:lumMod val="60000"/>
                    <a:lumOff val="40000"/>
                  </a:schemeClr>
                </a:gs>
                <a:gs pos="96000">
                  <a:schemeClr val="accent6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843915" y="1884680"/>
            <a:ext cx="6656705" cy="4351020"/>
          </a:xfrm>
          <a:prstGeom prst="rect">
            <a:avLst/>
          </a:prstGeom>
          <a:effectLst>
            <a:outerShdw blurRad="254000" dist="50800" dir="5400000" algn="ctr" rotWithShape="0">
              <a:srgbClr val="000000">
                <a:alpha val="74000"/>
              </a:srgbClr>
            </a:outerShdw>
          </a:effectLst>
        </p:spPr>
      </p:pic>
      <p:sp>
        <p:nvSpPr>
          <p:cNvPr id="22" name="文本框 21"/>
          <p:cNvSpPr txBox="1"/>
          <p:nvPr/>
        </p:nvSpPr>
        <p:spPr>
          <a:xfrm>
            <a:off x="8128000" y="1936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局限性</a:t>
            </a:r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2820" y="2661920"/>
            <a:ext cx="2447925" cy="2947035"/>
          </a:xfrm>
          <a:prstGeom prst="rect">
            <a:avLst/>
          </a:prstGeom>
        </p:spPr>
      </p:pic>
      <p:sp>
        <p:nvSpPr>
          <p:cNvPr id="31" name="任意多边形 30"/>
          <p:cNvSpPr/>
          <p:nvPr/>
        </p:nvSpPr>
        <p:spPr>
          <a:xfrm>
            <a:off x="8128000" y="2762250"/>
            <a:ext cx="3277870" cy="2785745"/>
          </a:xfrm>
          <a:custGeom>
            <a:avLst/>
            <a:gdLst>
              <a:gd name="connisteX0" fmla="*/ 0 w 3277870"/>
              <a:gd name="connsiteY0" fmla="*/ 3159165 h 3159165"/>
              <a:gd name="connisteX1" fmla="*/ 1690370 w 3277870"/>
              <a:gd name="connsiteY1" fmla="*/ 40 h 3159165"/>
              <a:gd name="connisteX2" fmla="*/ 3277870 w 3277870"/>
              <a:gd name="connsiteY2" fmla="*/ 3103285 h 31591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77870" h="3159165">
                <a:moveTo>
                  <a:pt x="0" y="3159165"/>
                </a:moveTo>
                <a:cubicBezTo>
                  <a:pt x="306070" y="2465110"/>
                  <a:pt x="1035050" y="11470"/>
                  <a:pt x="1690370" y="40"/>
                </a:cubicBezTo>
                <a:cubicBezTo>
                  <a:pt x="2345690" y="-11390"/>
                  <a:pt x="2994025" y="2419390"/>
                  <a:pt x="3277870" y="3103285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528175" y="5003800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接受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592820" y="450405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拒绝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0301605" y="452691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拒绝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675130" y="128968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【【数之道】马尔可夫链蒙特卡洛方法是什么？十五分钟理解这个数据科学难点】</a:t>
            </a:r>
            <a:r>
              <a:rPr lang="en-US" altLang="zh-CN"/>
              <a:t>https://www.bilibili.com/video/BV1iP4y1J7tr?vd_source=3baea850a32406240b2de27ea2a6d520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2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51000">
                  <a:schemeClr val="accent2">
                    <a:lumMod val="60000"/>
                    <a:lumOff val="40000"/>
                  </a:schemeClr>
                </a:gs>
                <a:gs pos="96000">
                  <a:schemeClr val="accent2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38530" y="1184275"/>
            <a:ext cx="1051560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MCMC，由两个MC组成，即</a:t>
            </a:r>
            <a:r>
              <a:rPr lang="zh-CN" altLang="en-US">
                <a:sym typeface="+mn-ea"/>
              </a:rPr>
              <a:t>马尔科夫链（Markov Chain）</a:t>
            </a:r>
            <a:r>
              <a:rPr lang="zh-CN" altLang="en-US" sz="1800" b="0" i="0"/>
              <a:t>和</a:t>
            </a:r>
            <a:r>
              <a:rPr lang="zh-CN" altLang="en-US">
                <a:sym typeface="+mn-ea"/>
              </a:rPr>
              <a:t>蒙特卡罗方法（Monte Carlo）</a:t>
            </a:r>
            <a:endParaRPr lang="zh-CN" altLang="en-US" sz="1800" b="0" i="0"/>
          </a:p>
        </p:txBody>
      </p:sp>
      <p:grpSp>
        <p:nvGrpSpPr>
          <p:cNvPr id="24" name="组合 23"/>
          <p:cNvGrpSpPr/>
          <p:nvPr/>
        </p:nvGrpSpPr>
        <p:grpSpPr>
          <a:xfrm>
            <a:off x="633095" y="2199005"/>
            <a:ext cx="5937250" cy="3732530"/>
            <a:chOff x="998" y="3763"/>
            <a:chExt cx="9350" cy="5878"/>
          </a:xfrm>
        </p:grpSpPr>
        <p:grpSp>
          <p:nvGrpSpPr>
            <p:cNvPr id="18" name="组合 17"/>
            <p:cNvGrpSpPr/>
            <p:nvPr/>
          </p:nvGrpSpPr>
          <p:grpSpPr>
            <a:xfrm>
              <a:off x="998" y="3763"/>
              <a:ext cx="8998" cy="5878"/>
              <a:chOff x="998" y="3763"/>
              <a:chExt cx="8998" cy="5878"/>
            </a:xfrm>
          </p:grpSpPr>
          <p:pic>
            <p:nvPicPr>
              <p:cNvPr id="9" name="图片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" y="3763"/>
                <a:ext cx="8998" cy="5878"/>
              </a:xfrm>
              <a:prstGeom prst="rect">
                <a:avLst/>
              </a:prstGeom>
              <a:effectLst>
                <a:outerShdw blurRad="241300" dist="50800" dir="5400000" algn="ctr" rotWithShape="0">
                  <a:srgbClr val="000000">
                    <a:alpha val="88000"/>
                  </a:srgbClr>
                </a:outerShdw>
              </a:effectLst>
            </p:spPr>
          </p:pic>
          <p:sp>
            <p:nvSpPr>
              <p:cNvPr id="17" name="文本框 16"/>
              <p:cNvSpPr txBox="1"/>
              <p:nvPr/>
            </p:nvSpPr>
            <p:spPr>
              <a:xfrm>
                <a:off x="8710" y="3915"/>
                <a:ext cx="87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highlight>
                      <a:srgbClr val="C0C0C0"/>
                    </a:highlight>
                  </a:rPr>
                  <a:t>f(x)</a:t>
                </a:r>
                <a:endParaRPr lang="en-US" altLang="zh-CN">
                  <a:highlight>
                    <a:srgbClr val="C0C0C0"/>
                  </a:highlight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8698" y="4353"/>
              <a:ext cx="16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highlight>
                    <a:srgbClr val="C0C0C0"/>
                  </a:highlight>
                </a:rPr>
                <a:t>c*G(x)</a:t>
              </a:r>
              <a:endParaRPr lang="en-US" altLang="zh-CN">
                <a:highlight>
                  <a:srgbClr val="C0C0C0"/>
                </a:highlight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156363" y="5608841"/>
            <a:ext cx="683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x</a:t>
            </a:r>
            <a:r>
              <a:rPr lang="en-US" altLang="zh-CN" baseline="-25000">
                <a:solidFill>
                  <a:schemeClr val="accent1"/>
                </a:solidFill>
              </a:rPr>
              <a:t>1</a:t>
            </a:r>
            <a:endParaRPr lang="en-US" altLang="zh-CN" baseline="-25000">
              <a:solidFill>
                <a:schemeClr val="accent1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00990" y="2862580"/>
            <a:ext cx="3973195" cy="2746375"/>
            <a:chOff x="-674" y="4812"/>
            <a:chExt cx="6257" cy="4325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5571" y="5216"/>
              <a:ext cx="12" cy="3921"/>
            </a:xfrm>
            <a:prstGeom prst="line">
              <a:avLst/>
            </a:prstGeom>
            <a:ln w="28575"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582" y="5229"/>
              <a:ext cx="4974" cy="0"/>
            </a:xfrm>
            <a:prstGeom prst="line">
              <a:avLst/>
            </a:prstGeom>
            <a:ln w="28575"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-674" y="4812"/>
              <a:ext cx="15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accent1"/>
                  </a:solidFill>
                </a:rPr>
                <a:t>c*G(x</a:t>
              </a:r>
              <a:r>
                <a:rPr lang="en-US" altLang="zh-CN" baseline="-25000">
                  <a:solidFill>
                    <a:schemeClr val="accent1"/>
                  </a:solidFill>
                </a:rPr>
                <a:t>1</a:t>
              </a:r>
              <a:r>
                <a:rPr lang="en-US" altLang="zh-CN">
                  <a:solidFill>
                    <a:schemeClr val="accent1"/>
                  </a:solidFill>
                </a:rPr>
                <a:t>)</a:t>
              </a:r>
              <a:endParaRPr lang="zh-CN" altLang="en-US">
                <a:solidFill>
                  <a:schemeClr val="accent1"/>
                </a:solidFill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 flipV="1">
              <a:off x="583" y="5812"/>
              <a:ext cx="5000" cy="17"/>
            </a:xfrm>
            <a:prstGeom prst="line">
              <a:avLst/>
            </a:prstGeom>
            <a:ln w="28575">
              <a:solidFill>
                <a:schemeClr val="accent6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-208" y="5530"/>
              <a:ext cx="10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accent6"/>
                  </a:solidFill>
                </a:rPr>
                <a:t>f(x</a:t>
              </a:r>
              <a:r>
                <a:rPr lang="en-US" altLang="zh-CN" baseline="-25000">
                  <a:solidFill>
                    <a:schemeClr val="accent6"/>
                  </a:solidFill>
                </a:rPr>
                <a:t>1</a:t>
              </a:r>
              <a:r>
                <a:rPr lang="en-US" altLang="zh-CN">
                  <a:solidFill>
                    <a:schemeClr val="accent6"/>
                  </a:solidFill>
                </a:rPr>
                <a:t>)</a:t>
              </a:r>
              <a:endParaRPr lang="en-US" altLang="zh-CN">
                <a:solidFill>
                  <a:schemeClr val="accent6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6623050" y="3318510"/>
            <a:ext cx="52939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但是接受拒绝抽样法中每次抽样都是独立的，没有充分利用已经抽取的样本的信息，且建议分布函数</a:t>
            </a:r>
            <a:r>
              <a:rPr lang="en-US" altLang="zh-CN"/>
              <a:t>G(</a:t>
            </a:r>
            <a:r>
              <a:rPr lang="en-US" altLang="zh-CN"/>
              <a:t>x)</a:t>
            </a:r>
            <a:r>
              <a:rPr lang="zh-CN" altLang="en-US"/>
              <a:t>不变。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623050" y="2197100"/>
            <a:ext cx="52939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假如这次抽取的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zh-CN" altLang="en-US"/>
              <a:t>恰好在目标分布</a:t>
            </a:r>
            <a:r>
              <a:rPr lang="en-US" altLang="zh-CN"/>
              <a:t>f(x)</a:t>
            </a:r>
            <a:r>
              <a:rPr lang="zh-CN" altLang="en-US"/>
              <a:t>的高密度区域时，下次抽样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zh-CN" altLang="en-US"/>
              <a:t>若能够在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zh-CN" altLang="en-US"/>
              <a:t>附近抽取，其接受的成功率也会较高。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2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51000">
                  <a:schemeClr val="accent2">
                    <a:lumMod val="60000"/>
                    <a:lumOff val="40000"/>
                  </a:schemeClr>
                </a:gs>
                <a:gs pos="96000">
                  <a:schemeClr val="accent2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38530" y="1184275"/>
            <a:ext cx="1051560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MCMC，由两个MC组成，即</a:t>
            </a:r>
            <a:r>
              <a:rPr lang="zh-CN" altLang="en-US">
                <a:sym typeface="+mn-ea"/>
              </a:rPr>
              <a:t>马尔科夫链（Markov Chain）</a:t>
            </a:r>
            <a:r>
              <a:rPr lang="zh-CN" altLang="en-US" sz="1800" b="0" i="0"/>
              <a:t>和</a:t>
            </a:r>
            <a:r>
              <a:rPr lang="zh-CN" altLang="en-US">
                <a:sym typeface="+mn-ea"/>
              </a:rPr>
              <a:t>蒙特卡罗方法（Monte Carlo）</a:t>
            </a:r>
            <a:endParaRPr lang="zh-CN" altLang="en-US" sz="1800" b="0" i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5" y="1908810"/>
            <a:ext cx="4230370" cy="2891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970" y="1885950"/>
            <a:ext cx="4178300" cy="29273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6125" y="4897755"/>
            <a:ext cx="42862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本次抽样落在目标分布的高密度区域，很容易就被接受，利用本次抽样样本</a:t>
            </a:r>
            <a:r>
              <a:rPr lang="en-US" altLang="zh-CN"/>
              <a:t>x</a:t>
            </a:r>
            <a:r>
              <a:rPr lang="en-US" altLang="zh-CN" baseline="-25000"/>
              <a:t>n</a:t>
            </a:r>
            <a:r>
              <a:rPr lang="zh-CN" altLang="en-US"/>
              <a:t>的信息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67805" y="504825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在下次抽样时，若能选在本次抽样样本</a:t>
            </a:r>
            <a:r>
              <a:rPr lang="en-US" altLang="zh-CN"/>
              <a:t>x</a:t>
            </a:r>
            <a:r>
              <a:rPr lang="en-US" altLang="zh-CN" baseline="-25000"/>
              <a:t>n</a:t>
            </a:r>
            <a:r>
              <a:rPr lang="zh-CN" altLang="en-US"/>
              <a:t>附近抽取，则接受的概率就会更高。要如何使下一次抽样能够选在本次抽样附近呢</a:t>
            </a:r>
            <a:r>
              <a:rPr lang="en-US" altLang="zh-CN"/>
              <a:t>?</a:t>
            </a:r>
            <a:endParaRPr lang="en-US" altLang="zh-CN"/>
          </a:p>
          <a:p>
            <a:r>
              <a:rPr lang="zh-CN" altLang="en-US"/>
              <a:t>更新建议分布函数</a:t>
            </a:r>
            <a:r>
              <a:rPr lang="en-US" altLang="zh-CN"/>
              <a:t>G</a:t>
            </a:r>
            <a:r>
              <a:rPr lang="zh-CN" altLang="en-US"/>
              <a:t>（</a:t>
            </a:r>
            <a:r>
              <a:rPr lang="en-US" altLang="zh-CN"/>
              <a:t>x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2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51000">
                  <a:schemeClr val="accent2">
                    <a:lumMod val="60000"/>
                    <a:lumOff val="40000"/>
                  </a:schemeClr>
                </a:gs>
                <a:gs pos="96000">
                  <a:schemeClr val="accent2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38530" y="1184275"/>
            <a:ext cx="1051560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MCMC，由两个MC组成，即</a:t>
            </a:r>
            <a:r>
              <a:rPr lang="zh-CN" altLang="en-US">
                <a:sym typeface="+mn-ea"/>
              </a:rPr>
              <a:t>马尔科夫链（Markov Chain）</a:t>
            </a:r>
            <a:r>
              <a:rPr lang="zh-CN" altLang="en-US" sz="1800" b="0" i="0"/>
              <a:t>和</a:t>
            </a:r>
            <a:r>
              <a:rPr lang="zh-CN" altLang="en-US">
                <a:sym typeface="+mn-ea"/>
              </a:rPr>
              <a:t>蒙特卡罗方法（Monte Carlo）</a:t>
            </a:r>
            <a:endParaRPr lang="zh-CN" altLang="en-US" sz="1800" b="0" i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70" y="1831975"/>
            <a:ext cx="4445000" cy="2895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37870" y="4928870"/>
            <a:ext cx="444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</a:t>
            </a:r>
            <a:r>
              <a:rPr lang="en-US" altLang="zh-CN"/>
              <a:t>G(x)</a:t>
            </a:r>
            <a:r>
              <a:rPr lang="zh-CN" altLang="en-US"/>
              <a:t>的均值变为</a:t>
            </a:r>
            <a:r>
              <a:rPr lang="en-US" altLang="zh-CN"/>
              <a:t>x</a:t>
            </a:r>
            <a:r>
              <a:rPr lang="en-US" altLang="zh-CN" baseline="-25000"/>
              <a:t>n</a:t>
            </a:r>
            <a:r>
              <a:rPr lang="zh-CN" altLang="en-US"/>
              <a:t>，保留了前期有用信息，并影响下一次抽样。（马尔科夫思想）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2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51000">
                  <a:schemeClr val="accent2">
                    <a:lumMod val="60000"/>
                    <a:lumOff val="40000"/>
                  </a:schemeClr>
                </a:gs>
                <a:gs pos="96000">
                  <a:schemeClr val="accent2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38530" y="1184275"/>
            <a:ext cx="1051560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MCMC，由两个MC组成，即</a:t>
            </a:r>
            <a:r>
              <a:rPr lang="zh-CN" altLang="en-US">
                <a:sym typeface="+mn-ea"/>
              </a:rPr>
              <a:t>马尔科夫链（Markov Chain）</a:t>
            </a:r>
            <a:r>
              <a:rPr lang="zh-CN" altLang="en-US" sz="1800" b="0" i="0"/>
              <a:t>和</a:t>
            </a:r>
            <a:r>
              <a:rPr lang="zh-CN" altLang="en-US">
                <a:sym typeface="+mn-ea"/>
              </a:rPr>
              <a:t>蒙特卡罗方法（Monte Carlo）</a:t>
            </a:r>
            <a:endParaRPr lang="zh-CN" altLang="en-US" sz="1800" b="0" i="0"/>
          </a:p>
        </p:txBody>
      </p:sp>
      <p:sp>
        <p:nvSpPr>
          <p:cNvPr id="6" name="文本框 5"/>
          <p:cNvSpPr txBox="1"/>
          <p:nvPr/>
        </p:nvSpPr>
        <p:spPr>
          <a:xfrm>
            <a:off x="88265" y="4658995"/>
            <a:ext cx="4143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将马尔科夫思想加入其中，建议分布函数选择正态分布函数，建议分布函数</a:t>
            </a:r>
            <a:r>
              <a:rPr lang="en-US" altLang="zh-CN"/>
              <a:t>G(</a:t>
            </a:r>
            <a:r>
              <a:rPr lang="en-US" altLang="zh-CN">
                <a:sym typeface="+mn-ea"/>
              </a:rPr>
              <a:t>x</a:t>
            </a:r>
            <a:r>
              <a:rPr lang="en-US" altLang="zh-CN" baseline="-25000">
                <a:sym typeface="+mn-ea"/>
              </a:rPr>
              <a:t>0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σ</a:t>
            </a:r>
            <a:r>
              <a:rPr lang="en-US" altLang="zh-CN"/>
              <a:t>)</a:t>
            </a:r>
            <a:r>
              <a:rPr lang="zh-CN" altLang="en-US"/>
              <a:t>的初始均值为</a:t>
            </a:r>
            <a:r>
              <a:rPr lang="en-US" altLang="zh-CN"/>
              <a:t>x</a:t>
            </a:r>
            <a:r>
              <a:rPr lang="en-US" altLang="zh-CN" baseline="-25000"/>
              <a:t>0</a:t>
            </a:r>
            <a:r>
              <a:rPr lang="zh-CN" altLang="en-US"/>
              <a:t>，标准差为</a:t>
            </a:r>
            <a:r>
              <a:rPr lang="en-US" altLang="zh-CN">
                <a:sym typeface="+mn-ea"/>
              </a:rPr>
              <a:t>σ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" y="1780540"/>
            <a:ext cx="3592195" cy="27578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435475" y="4658995"/>
                <a:ext cx="4993005" cy="1357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第一次抽样，得到</a:t>
                </a:r>
                <a:r>
                  <a:rPr lang="en-US" altLang="zh-CN"/>
                  <a:t>x’ </a:t>
                </a:r>
                <a:r>
                  <a:rPr lang="zh-CN" altLang="en-US"/>
                  <a:t>，如果</a:t>
                </a:r>
                <a:r>
                  <a:rPr lang="en-US" altLang="zh-CN"/>
                  <a:t> x’ </a:t>
                </a:r>
                <a:r>
                  <a:rPr lang="zh-CN" altLang="en-US"/>
                  <a:t>满足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 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‘)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‘)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，说明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x’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被接受，则把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x’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赋予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en-US" altLang="zh-CN" baseline="-25000">
                    <a:latin typeface="Cambria Math" panose="02040503050406030204" charset="0"/>
                    <a:cs typeface="Cambria Math" panose="02040503050406030204" charset="0"/>
                  </a:rPr>
                  <a:t>1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，作为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G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的均值参数用于下一次抽样；相反如果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x‘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不被接受，则把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en-US" altLang="zh-CN" baseline="-25000">
                    <a:latin typeface="Cambria Math" panose="02040503050406030204" charset="0"/>
                    <a:cs typeface="Cambria Math" panose="02040503050406030204" charset="0"/>
                  </a:rPr>
                  <a:t>0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的值赋予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en-US" altLang="zh-CN" baseline="-25000">
                    <a:latin typeface="Cambria Math" panose="02040503050406030204" charset="0"/>
                    <a:cs typeface="Cambria Math" panose="02040503050406030204" charset="0"/>
                  </a:rPr>
                  <a:t>1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475" y="4658995"/>
                <a:ext cx="4993005" cy="13576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4282440" y="1731645"/>
            <a:ext cx="5467350" cy="2668270"/>
            <a:chOff x="7850" y="3033"/>
            <a:chExt cx="8610" cy="4202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rcRect t="28337"/>
            <a:stretch>
              <a:fillRect/>
            </a:stretch>
          </p:blipFill>
          <p:spPr>
            <a:xfrm>
              <a:off x="7850" y="3033"/>
              <a:ext cx="8611" cy="4202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91" y="3330"/>
              <a:ext cx="4870" cy="1290"/>
            </a:xfrm>
            <a:prstGeom prst="rect">
              <a:avLst/>
            </a:prstGeom>
          </p:spPr>
        </p:pic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8105" y="1731645"/>
            <a:ext cx="1784985" cy="19215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5090" y="4050030"/>
            <a:ext cx="1778000" cy="2139950"/>
          </a:xfrm>
          <a:prstGeom prst="rect">
            <a:avLst/>
          </a:prstGeom>
        </p:spPr>
      </p:pic>
      <p:cxnSp>
        <p:nvCxnSpPr>
          <p:cNvPr id="20" name="直接箭头连接符 19"/>
          <p:cNvCxnSpPr/>
          <p:nvPr/>
        </p:nvCxnSpPr>
        <p:spPr>
          <a:xfrm flipV="1">
            <a:off x="9774555" y="2563495"/>
            <a:ext cx="428625" cy="317500"/>
          </a:xfrm>
          <a:prstGeom prst="straightConnector1">
            <a:avLst/>
          </a:prstGeom>
          <a:ln w="317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9774555" y="3023870"/>
            <a:ext cx="436880" cy="1183005"/>
          </a:xfrm>
          <a:prstGeom prst="straightConnector1">
            <a:avLst/>
          </a:prstGeom>
          <a:ln w="317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/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2">
                  <a:lumMod val="40000"/>
                  <a:lumOff val="6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51000">
                  <a:schemeClr val="accent2">
                    <a:lumMod val="60000"/>
                    <a:lumOff val="40000"/>
                  </a:schemeClr>
                </a:gs>
                <a:gs pos="96000">
                  <a:schemeClr val="accent2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38530" y="1184275"/>
            <a:ext cx="1051560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MCMC，由两个MC组成，即</a:t>
            </a:r>
            <a:r>
              <a:rPr lang="zh-CN" altLang="en-US">
                <a:sym typeface="+mn-ea"/>
              </a:rPr>
              <a:t>马尔科夫链（Markov Chain）</a:t>
            </a:r>
            <a:r>
              <a:rPr lang="zh-CN" altLang="en-US" sz="1800" b="0" i="0"/>
              <a:t>和</a:t>
            </a:r>
            <a:r>
              <a:rPr lang="zh-CN" altLang="en-US">
                <a:sym typeface="+mn-ea"/>
              </a:rPr>
              <a:t>蒙特卡罗方法（Monte Carlo）</a:t>
            </a:r>
            <a:endParaRPr lang="zh-CN" altLang="en-US" sz="1800" b="0" i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" y="1806575"/>
            <a:ext cx="4629150" cy="1371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43930" y="1806575"/>
            <a:ext cx="5468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这个链条会一直收敛下去，并且达到稳态。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43930" y="3461385"/>
            <a:ext cx="4769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达到稳态后抽取的随机值就等同于从目标分布中进行抽样了。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43930" y="2357120"/>
            <a:ext cx="51752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需要设计这样一个判断规则，它能够起到转移矩阵的作用，让该链条能够收敛至稳态分布，而这个稳态分布就是我们的目标函数分布。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5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>
            <a:normAutofit/>
          </a:bodyPr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马尔科夫链蒙特卡罗方法的具体算法</a:t>
            </a:r>
            <a:r>
              <a:rPr lang="en-US" altLang="zh-CN">
                <a:solidFill>
                  <a:srgbClr val="FFFFFF"/>
                </a:solidFill>
                <a:sym typeface="+mn-ea"/>
              </a:rPr>
              <a:t>——MH</a:t>
            </a:r>
            <a:r>
              <a:rPr lang="zh-CN" altLang="en-US">
                <a:solidFill>
                  <a:srgbClr val="FFFFFF"/>
                </a:solidFill>
                <a:sym typeface="+mn-ea"/>
              </a:rPr>
              <a:t>算法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20000"/>
                  <a:lumOff val="8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51000">
                  <a:schemeClr val="accent5">
                    <a:lumMod val="40000"/>
                    <a:lumOff val="60000"/>
                  </a:schemeClr>
                </a:gs>
                <a:gs pos="96000">
                  <a:schemeClr val="accent5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38530" y="1184275"/>
            <a:ext cx="561086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/>
              <a:t>M</a:t>
            </a:r>
            <a:r>
              <a:rPr lang="en-US" altLang="zh-CN" sz="1800" b="0" i="0"/>
              <a:t>H</a:t>
            </a:r>
            <a:r>
              <a:rPr lang="zh-CN" altLang="en-US" sz="1800" b="0" i="0"/>
              <a:t>算法的设计用到了马尔科夫链中</a:t>
            </a:r>
            <a:r>
              <a:rPr lang="en-US" altLang="zh-CN" sz="1800" b="0" i="0"/>
              <a:t>“</a:t>
            </a:r>
            <a:r>
              <a:rPr lang="zh-CN" altLang="en-US" sz="1800" b="0" i="0"/>
              <a:t>细致平稳</a:t>
            </a:r>
            <a:r>
              <a:rPr lang="en-US" altLang="zh-CN" sz="1800" b="0" i="0"/>
              <a:t>”</a:t>
            </a:r>
            <a:r>
              <a:rPr lang="zh-CN" altLang="en-US" sz="1800" b="0" i="0"/>
              <a:t>的概念</a:t>
            </a:r>
            <a:endParaRPr lang="zh-CN" altLang="en-US" sz="1800" b="0" i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80" y="1986915"/>
            <a:ext cx="5918200" cy="20002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38530" y="1618615"/>
            <a:ext cx="5309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并不是所有的稳态分布都满足细致平稳条件。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05840" y="3987165"/>
            <a:ext cx="5476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满足细致平稳条件的状态分布达到稳态分布。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845" y="4421505"/>
            <a:ext cx="9084310" cy="22688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5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>
            <a:normAutofit/>
          </a:bodyPr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马尔科夫链蒙特卡罗方法的具体算法</a:t>
            </a:r>
            <a:r>
              <a:rPr lang="en-US" altLang="zh-CN">
                <a:solidFill>
                  <a:srgbClr val="FFFFFF"/>
                </a:solidFill>
                <a:sym typeface="+mn-ea"/>
              </a:rPr>
              <a:t>——MH</a:t>
            </a:r>
            <a:r>
              <a:rPr lang="zh-CN" altLang="en-US">
                <a:solidFill>
                  <a:srgbClr val="FFFFFF"/>
                </a:solidFill>
                <a:sym typeface="+mn-ea"/>
              </a:rPr>
              <a:t>算法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20000"/>
                  <a:lumOff val="8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51000">
                  <a:schemeClr val="accent5">
                    <a:lumMod val="40000"/>
                    <a:lumOff val="60000"/>
                  </a:schemeClr>
                </a:gs>
                <a:gs pos="96000">
                  <a:schemeClr val="accent5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1885950"/>
            <a:ext cx="8542020" cy="17729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9175" y="1184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细致平稳公式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9175" y="3707130"/>
            <a:ext cx="4683125" cy="1199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S</a:t>
            </a:r>
            <a:r>
              <a:rPr lang="en-US" altLang="zh-CN" baseline="-25000">
                <a:sym typeface="+mn-ea"/>
              </a:rPr>
              <a:t>i                </a:t>
            </a:r>
            <a:r>
              <a:rPr lang="zh-CN" altLang="en-US"/>
              <a:t>目前处于状态</a:t>
            </a:r>
            <a:r>
              <a:rPr lang="en-US" altLang="zh-CN"/>
              <a:t>i</a:t>
            </a:r>
            <a:r>
              <a:rPr lang="zh-CN" altLang="en-US"/>
              <a:t>的概率</a:t>
            </a:r>
            <a:endParaRPr lang="zh-CN" altLang="en-US"/>
          </a:p>
          <a:p>
            <a:r>
              <a:rPr lang="en-US" altLang="zh-CN">
                <a:sym typeface="+mn-ea"/>
              </a:rPr>
              <a:t>G(i,σ)     </a:t>
            </a:r>
            <a:r>
              <a:rPr lang="zh-CN" altLang="en-US"/>
              <a:t>建议正态分布</a:t>
            </a:r>
            <a:endParaRPr lang="zh-CN" altLang="en-US"/>
          </a:p>
          <a:p>
            <a:r>
              <a:rPr lang="en-US" altLang="zh-CN"/>
              <a:t>S</a:t>
            </a:r>
            <a:r>
              <a:rPr lang="en-US" altLang="zh-CN" baseline="-25000"/>
              <a:t>j                 </a:t>
            </a:r>
            <a:r>
              <a:rPr lang="zh-CN" altLang="en-US">
                <a:sym typeface="+mn-ea"/>
              </a:rPr>
              <a:t>新的状态</a:t>
            </a:r>
            <a:endParaRPr lang="en-US" altLang="zh-CN"/>
          </a:p>
          <a:p>
            <a:r>
              <a:rPr lang="en-US" altLang="zh-CN"/>
              <a:t>G( </a:t>
            </a:r>
            <a:r>
              <a:rPr lang="en-US" altLang="zh-CN"/>
              <a:t>j | i )  </a:t>
            </a:r>
            <a:r>
              <a:rPr lang="zh-CN" altLang="en-US"/>
              <a:t>均值参数为</a:t>
            </a:r>
            <a:r>
              <a:rPr lang="en-US" altLang="zh-CN"/>
              <a:t>i</a:t>
            </a:r>
            <a:r>
              <a:rPr lang="zh-CN" altLang="en-US"/>
              <a:t>时，</a:t>
            </a:r>
            <a:r>
              <a:rPr lang="en-US" altLang="zh-CN"/>
              <a:t>j</a:t>
            </a:r>
            <a:r>
              <a:rPr lang="zh-CN" altLang="en-US"/>
              <a:t>被抽出的概率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19175" y="4819650"/>
            <a:ext cx="7001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</a:t>
            </a:r>
            <a:r>
              <a:rPr lang="en-US" altLang="zh-CN" baseline="-25000">
                <a:sym typeface="+mn-ea"/>
              </a:rPr>
              <a:t>i  </a:t>
            </a:r>
            <a:r>
              <a:rPr lang="en-US" altLang="zh-CN">
                <a:sym typeface="+mn-ea"/>
              </a:rPr>
              <a:t>*</a:t>
            </a:r>
            <a:r>
              <a:rPr lang="en-US" altLang="zh-CN">
                <a:sym typeface="+mn-ea"/>
              </a:rPr>
              <a:t>G( j | i )    </a:t>
            </a:r>
            <a:r>
              <a:rPr lang="zh-CN" altLang="en-US">
                <a:sym typeface="+mn-ea"/>
              </a:rPr>
              <a:t>从处于状态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下，根据</a:t>
            </a:r>
            <a:r>
              <a:rPr lang="en-US" altLang="zh-CN">
                <a:sym typeface="+mn-ea"/>
              </a:rPr>
              <a:t>G(i,σ)</a:t>
            </a:r>
            <a:r>
              <a:rPr lang="zh-CN" altLang="en-US">
                <a:sym typeface="+mn-ea"/>
              </a:rPr>
              <a:t>选出下期状态为</a:t>
            </a:r>
            <a:r>
              <a:rPr lang="en-US" altLang="zh-CN">
                <a:sym typeface="+mn-ea"/>
              </a:rPr>
              <a:t>j</a:t>
            </a:r>
            <a:r>
              <a:rPr lang="zh-CN" altLang="en-US">
                <a:sym typeface="+mn-ea"/>
              </a:rPr>
              <a:t>的概率</a:t>
            </a:r>
            <a:endParaRPr lang="zh-CN" altLang="en-US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9175" y="5370830"/>
            <a:ext cx="574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定义</a:t>
            </a:r>
            <a:r>
              <a:rPr lang="en-US" altLang="zh-CN"/>
              <a:t>  A</a:t>
            </a:r>
            <a:r>
              <a:rPr lang="zh-CN" altLang="en-US"/>
              <a:t>（</a:t>
            </a:r>
            <a:r>
              <a:rPr lang="en-US" altLang="zh-CN"/>
              <a:t> j | i </a:t>
            </a:r>
            <a:r>
              <a:rPr lang="zh-CN" altLang="en-US"/>
              <a:t>）</a:t>
            </a:r>
            <a:r>
              <a:rPr lang="en-US" altLang="zh-CN"/>
              <a:t>  </a:t>
            </a:r>
            <a:r>
              <a:rPr lang="zh-CN" altLang="en-US"/>
              <a:t>表示接受</a:t>
            </a:r>
            <a:r>
              <a:rPr lang="en-US" altLang="zh-CN"/>
              <a:t>j</a:t>
            </a:r>
            <a:r>
              <a:rPr lang="zh-CN" altLang="en-US"/>
              <a:t>作为</a:t>
            </a:r>
            <a:r>
              <a:rPr lang="en-US" altLang="zh-CN"/>
              <a:t>i</a:t>
            </a:r>
            <a:r>
              <a:rPr lang="zh-CN" altLang="en-US"/>
              <a:t>转移后的状态的概率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19175" y="5739130"/>
            <a:ext cx="75793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两步相乘得到</a:t>
            </a:r>
            <a:r>
              <a:rPr lang="en-US" altLang="zh-CN"/>
              <a:t> 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S</a:t>
            </a:r>
            <a:r>
              <a:rPr lang="en-US" altLang="zh-CN" baseline="-25000">
                <a:sym typeface="+mn-ea"/>
              </a:rPr>
              <a:t>i  </a:t>
            </a:r>
            <a:r>
              <a:rPr lang="en-US" altLang="zh-CN">
                <a:sym typeface="+mn-ea"/>
              </a:rPr>
              <a:t>*G( j | i ) *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 j | i 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algn="l"/>
            <a:r>
              <a:rPr lang="zh-CN" altLang="en-US"/>
              <a:t>这就完美地表达了从处于状态</a:t>
            </a:r>
            <a:r>
              <a:rPr lang="en-US" altLang="zh-CN"/>
              <a:t>i</a:t>
            </a:r>
            <a:r>
              <a:rPr lang="zh-CN" altLang="en-US"/>
              <a:t>转移到状态</a:t>
            </a:r>
            <a:r>
              <a:rPr lang="en-US" altLang="zh-CN"/>
              <a:t>j</a:t>
            </a:r>
            <a:r>
              <a:rPr lang="zh-CN" altLang="en-US"/>
              <a:t>的概率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5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>
            <a:normAutofit/>
          </a:bodyPr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马尔科夫链蒙特卡罗方法的具体算法</a:t>
            </a:r>
            <a:r>
              <a:rPr lang="en-US" altLang="zh-CN">
                <a:solidFill>
                  <a:srgbClr val="FFFFFF"/>
                </a:solidFill>
                <a:sym typeface="+mn-ea"/>
              </a:rPr>
              <a:t>——MH</a:t>
            </a:r>
            <a:r>
              <a:rPr lang="zh-CN" altLang="en-US">
                <a:solidFill>
                  <a:srgbClr val="FFFFFF"/>
                </a:solidFill>
                <a:sym typeface="+mn-ea"/>
              </a:rPr>
              <a:t>算法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20000"/>
                  <a:lumOff val="8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51000">
                  <a:schemeClr val="accent5">
                    <a:lumMod val="40000"/>
                    <a:lumOff val="60000"/>
                  </a:schemeClr>
                </a:gs>
                <a:gs pos="96000">
                  <a:schemeClr val="accent5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1885950"/>
            <a:ext cx="8542020" cy="17729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9175" y="1184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细致平稳公式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66800" y="3857625"/>
            <a:ext cx="75793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>
                <a:sym typeface="+mn-ea"/>
              </a:rPr>
              <a:t>两步相乘得到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S</a:t>
            </a:r>
            <a:r>
              <a:rPr lang="en-US" altLang="zh-CN" baseline="-25000">
                <a:sym typeface="+mn-ea"/>
              </a:rPr>
              <a:t>i  </a:t>
            </a:r>
            <a:r>
              <a:rPr lang="en-US" altLang="zh-CN">
                <a:sym typeface="+mn-ea"/>
              </a:rPr>
              <a:t>*G( j | i ) *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 j | i 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algn="l"/>
            <a:r>
              <a:rPr lang="zh-CN" altLang="en-US"/>
              <a:t>这就完美地表达了从处于状态</a:t>
            </a:r>
            <a:r>
              <a:rPr lang="en-US" altLang="zh-CN"/>
              <a:t>i</a:t>
            </a:r>
            <a:r>
              <a:rPr lang="zh-CN" altLang="en-US"/>
              <a:t>转移到状态</a:t>
            </a:r>
            <a:r>
              <a:rPr lang="en-US" altLang="zh-CN"/>
              <a:t>j</a:t>
            </a:r>
            <a:r>
              <a:rPr lang="zh-CN" altLang="en-US"/>
              <a:t>的概率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66800" y="4889500"/>
            <a:ext cx="7318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同样地，有</a:t>
            </a:r>
            <a:endParaRPr lang="zh-CN" altLang="en-US"/>
          </a:p>
          <a:p>
            <a:pPr algn="ctr"/>
            <a:r>
              <a:rPr lang="en-US" altLang="zh-CN">
                <a:sym typeface="+mn-ea"/>
              </a:rPr>
              <a:t>S</a:t>
            </a:r>
            <a:r>
              <a:rPr lang="en-US" altLang="zh-CN" baseline="-25000">
                <a:sym typeface="+mn-ea"/>
              </a:rPr>
              <a:t>j</a:t>
            </a:r>
            <a:r>
              <a:rPr lang="en-US" altLang="zh-CN" baseline="-25000">
                <a:sym typeface="+mn-ea"/>
              </a:rPr>
              <a:t>  </a:t>
            </a:r>
            <a:r>
              <a:rPr lang="en-US" altLang="zh-CN">
                <a:sym typeface="+mn-ea"/>
              </a:rPr>
              <a:t>*G( i | j ) *A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 i | j 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49985" y="5644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两个公式在细致平稳条件下相等则有</a:t>
            </a:r>
            <a:r>
              <a:rPr lang="en-US" altLang="zh-CN"/>
              <a:t> 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418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850900"/>
          </a:xfrm>
          <a:custGeom>
            <a:avLst/>
            <a:gdLst>
              <a:gd name="connsiteX0" fmla="*/ 0 w 12192000"/>
              <a:gd name="connsiteY0" fmla="*/ 0 h 2663748"/>
              <a:gd name="connsiteX1" fmla="*/ 12192000 w 12192000"/>
              <a:gd name="connsiteY1" fmla="*/ 0 h 2663748"/>
              <a:gd name="connsiteX2" fmla="*/ 12192000 w 12192000"/>
              <a:gd name="connsiteY2" fmla="*/ 2663748 h 2663748"/>
              <a:gd name="connsiteX3" fmla="*/ 0 w 12192000"/>
              <a:gd name="connsiteY3" fmla="*/ 2663748 h 2663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chemeClr val="accent5"/>
          </a:solidFill>
          <a:ln>
            <a:noFill/>
            <a:prstDash val="solid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33800" y="122625"/>
            <a:ext cx="10969200" cy="705600"/>
          </a:xfrm>
        </p:spPr>
        <p:txBody>
          <a:bodyPr>
            <a:normAutofit/>
          </a:bodyPr>
          <a:lstStyle/>
          <a:p>
            <a:pPr algn="l"/>
            <a:r>
              <a:rPr lang="zh-CN" altLang="en-US">
                <a:solidFill>
                  <a:srgbClr val="FFFFFF"/>
                </a:solidFill>
                <a:sym typeface="+mn-ea"/>
              </a:rPr>
              <a:t>马尔科夫链蒙特卡罗方法的具体算法</a:t>
            </a:r>
            <a:r>
              <a:rPr lang="en-US" altLang="zh-CN">
                <a:solidFill>
                  <a:srgbClr val="FFFFFF"/>
                </a:solidFill>
                <a:sym typeface="+mn-ea"/>
              </a:rPr>
              <a:t>——MH</a:t>
            </a:r>
            <a:r>
              <a:rPr lang="zh-CN" altLang="en-US">
                <a:solidFill>
                  <a:srgbClr val="FFFFFF"/>
                </a:solidFill>
                <a:sym typeface="+mn-ea"/>
              </a:rPr>
              <a:t>算法</a:t>
            </a: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6890" y="1184275"/>
            <a:ext cx="325120" cy="313690"/>
            <a:chOff x="814" y="1865"/>
            <a:chExt cx="512" cy="494"/>
          </a:xfrm>
        </p:grpSpPr>
        <p:sp>
          <p:nvSpPr>
            <p:cNvPr id="14" name="椭圆 13"/>
            <p:cNvSpPr/>
            <p:nvPr/>
          </p:nvSpPr>
          <p:spPr>
            <a:xfrm>
              <a:off x="814" y="1865"/>
              <a:ext cx="513" cy="494"/>
            </a:xfrm>
            <a:prstGeom prst="ellipse">
              <a:avLst/>
            </a:prstGeom>
            <a:gradFill flip="none" rotWithShape="1">
              <a:gsLst>
                <a:gs pos="0">
                  <a:srgbClr val="A8A5A5"/>
                </a:gs>
                <a:gs pos="51000">
                  <a:schemeClr val="bg1"/>
                </a:gs>
                <a:gs pos="93000">
                  <a:schemeClr val="bg2">
                    <a:lumMod val="5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0800" dist="50800" dir="2640000" algn="ctr" rotWithShape="0">
                <a:schemeClr val="accent5">
                  <a:lumMod val="20000"/>
                  <a:lumOff val="80000"/>
                  <a:alpha val="55000"/>
                </a:scheme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58" y="1908"/>
              <a:ext cx="425" cy="409"/>
            </a:xfrm>
            <a:prstGeom prst="ellipse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51000">
                  <a:schemeClr val="accent5">
                    <a:lumMod val="40000"/>
                    <a:lumOff val="60000"/>
                  </a:schemeClr>
                </a:gs>
                <a:gs pos="96000">
                  <a:schemeClr val="accent5">
                    <a:lumMod val="20000"/>
                    <a:lumOff val="8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55" y="1184275"/>
            <a:ext cx="7046595" cy="1853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b="17557"/>
          <a:stretch>
            <a:fillRect/>
          </a:stretch>
        </p:blipFill>
        <p:spPr>
          <a:xfrm>
            <a:off x="1151255" y="3209925"/>
            <a:ext cx="5734050" cy="2743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635" y="3744595"/>
            <a:ext cx="1238250" cy="527050"/>
          </a:xfrm>
          <a:prstGeom prst="rect">
            <a:avLst/>
          </a:prstGeom>
        </p:spPr>
      </p:pic>
      <p:cxnSp>
        <p:nvCxnSpPr>
          <p:cNvPr id="11" name="直接箭头连接符 10"/>
          <p:cNvCxnSpPr>
            <a:endCxn id="8" idx="1"/>
          </p:cNvCxnSpPr>
          <p:nvPr/>
        </p:nvCxnSpPr>
        <p:spPr>
          <a:xfrm>
            <a:off x="6718935" y="4008120"/>
            <a:ext cx="393700" cy="0"/>
          </a:xfrm>
          <a:prstGeom prst="straightConnector1">
            <a:avLst/>
          </a:prstGeom>
          <a:ln w="317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885" y="2952750"/>
            <a:ext cx="6019800" cy="38100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166_1*i*3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166_1*i*3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166_1*i*3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166_1*i*3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166_1*i*3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166_1*i*3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94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166_1*i*1"/>
  <p:tag name="KSO_WM_TEMPLATE_CATEGORY" val="custom"/>
  <p:tag name="KSO_WM_TEMPLATE_INDEX" val="20231166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166_1*a*1"/>
  <p:tag name="KSO_WM_TEMPLATE_CATEGORY" val="custom"/>
  <p:tag name="KSO_WM_TEMPLATE_INDEX" val="20231166"/>
  <p:tag name="KSO_WM_UNIT_LAYERLEVEL" val="1"/>
  <p:tag name="KSO_WM_TAG_VERSION" val="3.0"/>
  <p:tag name="KSO_WM_BEAUTIFY_FLAG" val="#wm#"/>
  <p:tag name="KSO_WM_UNIT_PRESET_TEXT" val="单击此处添加标题"/>
</p:tagLst>
</file>

<file path=ppt/tags/tag209.xml><?xml version="1.0" encoding="utf-8"?>
<p:tagLst xmlns:p="http://schemas.openxmlformats.org/presentationml/2006/main">
  <p:tag name="KSO_WM_BEAUTIFY_FLAG" val="#wm#"/>
  <p:tag name="KSO_WM_TEMPLATE_CATEGORY" val="custom"/>
  <p:tag name="KSO_WM_TEMPLATE_INDEX" val="20231166"/>
  <p:tag name="KSO_WM_SLIDE_ID" val="custom2023116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SLIDE_LAYOUT" val="a_f_β"/>
  <p:tag name="KSO_WM_SLIDE_LAYOUT_CNT" val="1_1_2"/>
  <p:tag name="KSO_WM_SLIDE_TYPE" val="text"/>
  <p:tag name="KSO_WM_SLIDE_SUBTYPE" val="picTxt"/>
  <p:tag name="KSO_WM_SLIDE_SIZE" val="960*540"/>
  <p:tag name="KSO_WM_SLIDE_POSITION" val="0*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4856</Words>
  <Application>WPS 演示</Application>
  <PresentationFormat>宽屏</PresentationFormat>
  <Paragraphs>387</Paragraphs>
  <Slides>27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27</vt:i4>
      </vt:variant>
    </vt:vector>
  </HeadingPairs>
  <TitlesOfParts>
    <vt:vector size="53" baseType="lpstr">
      <vt:lpstr>Arial</vt:lpstr>
      <vt:lpstr>宋体</vt:lpstr>
      <vt:lpstr>Wingdings</vt:lpstr>
      <vt:lpstr>Wingdings</vt:lpstr>
      <vt:lpstr>微软雅黑</vt:lpstr>
      <vt:lpstr>Cambria Math</vt:lpstr>
      <vt:lpstr>华文中宋</vt:lpstr>
      <vt:lpstr>Cambria Math</vt:lpstr>
      <vt:lpstr>MS Mincho</vt:lpstr>
      <vt:lpstr>Segoe Print</vt:lpstr>
      <vt:lpstr>Arial Unicode MS</vt:lpstr>
      <vt:lpstr>Calibri</vt:lpstr>
      <vt:lpstr>WPS</vt:lpstr>
      <vt:lpstr>自定义设计方案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马尔科夫链</vt:lpstr>
      <vt:lpstr>马尔科夫链</vt:lpstr>
      <vt:lpstr>马尔科夫链</vt:lpstr>
      <vt:lpstr>马尔科夫链</vt:lpstr>
      <vt:lpstr>马尔科夫链</vt:lpstr>
      <vt:lpstr>马尔科夫链</vt:lpstr>
      <vt:lpstr>蒙特卡罗</vt:lpstr>
      <vt:lpstr>蒙特卡罗</vt:lpstr>
      <vt:lpstr>蒙特卡罗</vt:lpstr>
      <vt:lpstr>蒙特卡罗</vt:lpstr>
      <vt:lpstr>蒙特卡罗</vt:lpstr>
      <vt:lpstr>蒙特卡罗</vt:lpstr>
      <vt:lpstr>抽样方法</vt:lpstr>
      <vt:lpstr>抽样方法</vt:lpstr>
      <vt:lpstr>抽样方法</vt:lpstr>
      <vt:lpstr>抽样方法</vt:lpstr>
      <vt:lpstr>抽样方法</vt:lpstr>
      <vt:lpstr>抽样方法</vt:lpstr>
      <vt:lpstr>马尔科夫链蒙特卡罗方法</vt:lpstr>
      <vt:lpstr>马尔科夫链蒙特卡罗方法</vt:lpstr>
      <vt:lpstr>马尔科夫链蒙特卡罗方法</vt:lpstr>
      <vt:lpstr>马尔科夫链蒙特卡罗方法</vt:lpstr>
      <vt:lpstr>马尔科夫链蒙特卡罗方法</vt:lpstr>
      <vt:lpstr>马尔科夫链蒙特卡罗方法的具体算法——MH算法</vt:lpstr>
      <vt:lpstr>马尔科夫链蒙特卡罗方法的具体算法——MH算法</vt:lpstr>
      <vt:lpstr>马尔科夫链蒙特卡罗方法的具体算法——MH算法</vt:lpstr>
      <vt:lpstr>马尔科夫链蒙特卡罗方法的具体算法——MH算法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LEGION</dc:creator>
  <cp:lastModifiedBy>汐.</cp:lastModifiedBy>
  <cp:revision>157</cp:revision>
  <dcterms:created xsi:type="dcterms:W3CDTF">2019-06-19T02:08:00Z</dcterms:created>
  <dcterms:modified xsi:type="dcterms:W3CDTF">2024-11-01T13:07:19Z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2052-12.1.0.18888</vt:lpwstr>
  </property>
  <property fmtid="{D5CDD505-2E9C-101B-9397-08002B2CF9AE}" pid="3" name="ICV">
    <vt:lpwstr>C1C9D06B459F411D8C123BE766874B97_11</vt:lpwstr>
  </property>
</Properties>
</file>