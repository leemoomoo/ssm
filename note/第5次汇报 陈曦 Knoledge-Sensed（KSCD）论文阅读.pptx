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6" r:id="rId5"/>
    <p:sldId id="260" r:id="rId6"/>
    <p:sldId id="261" r:id="rId7"/>
    <p:sldId id="262" r:id="rId8"/>
    <p:sldId id="263" r:id="rId9"/>
    <p:sldId id="265" r:id="rId10"/>
    <p:sldId id="266" r:id="rId11"/>
    <p:sldId id="267" r:id="rId12"/>
    <p:sldId id="269" r:id="rId13"/>
    <p:sldId id="270"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BEAF6"/>
    <a:srgbClr val="B9D7EB"/>
    <a:srgbClr val="67A7D4"/>
    <a:srgbClr val="518EF9"/>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2"/>
        <p:guide pos="382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74.xml"/><Relationship Id="rId3" Type="http://schemas.openxmlformats.org/officeDocument/2006/relationships/image" Target="../media/image4.png"/><Relationship Id="rId2" Type="http://schemas.openxmlformats.org/officeDocument/2006/relationships/tags" Target="../tags/tag7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image" Target="../media/image7.png"/><Relationship Id="rId18" Type="http://schemas.openxmlformats.org/officeDocument/2006/relationships/vmlDrawing" Target="../drawings/vmlDrawing1.vml"/><Relationship Id="rId17" Type="http://schemas.openxmlformats.org/officeDocument/2006/relationships/slideLayout" Target="../slideLayouts/slideLayout7.xml"/><Relationship Id="rId16" Type="http://schemas.openxmlformats.org/officeDocument/2006/relationships/tags" Target="../tags/tag88.xml"/><Relationship Id="rId15" Type="http://schemas.openxmlformats.org/officeDocument/2006/relationships/image" Target="../media/image10.png"/><Relationship Id="rId14" Type="http://schemas.openxmlformats.org/officeDocument/2006/relationships/image" Target="../media/image9.wmf"/><Relationship Id="rId13" Type="http://schemas.openxmlformats.org/officeDocument/2006/relationships/oleObject" Target="../embeddings/oleObject1.bin"/><Relationship Id="rId12" Type="http://schemas.openxmlformats.org/officeDocument/2006/relationships/image" Target="../media/image8.png"/><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0" Type="http://schemas.openxmlformats.org/officeDocument/2006/relationships/slideLayout" Target="../slideLayouts/slideLayout7.xml"/><Relationship Id="rId2" Type="http://schemas.openxmlformats.org/officeDocument/2006/relationships/image" Target="../media/image11.png"/><Relationship Id="rId19" Type="http://schemas.openxmlformats.org/officeDocument/2006/relationships/tags" Target="../tags/tag103.xml"/><Relationship Id="rId18" Type="http://schemas.openxmlformats.org/officeDocument/2006/relationships/tags" Target="../tags/tag102.xml"/><Relationship Id="rId17" Type="http://schemas.openxmlformats.org/officeDocument/2006/relationships/tags" Target="../tags/tag101.xml"/><Relationship Id="rId16" Type="http://schemas.openxmlformats.org/officeDocument/2006/relationships/tags" Target="../tags/tag100.xml"/><Relationship Id="rId15" Type="http://schemas.openxmlformats.org/officeDocument/2006/relationships/image" Target="../media/image14.png"/><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9.xml"/></Relationships>
</file>

<file path=ppt/slides/_rels/slide10.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8" Type="http://schemas.openxmlformats.org/officeDocument/2006/relationships/slideLayout" Target="../slideLayouts/slideLayout7.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image" Target="../media/image8.png"/><Relationship Id="rId13" Type="http://schemas.openxmlformats.org/officeDocument/2006/relationships/image" Target="../media/image10.png"/><Relationship Id="rId12" Type="http://schemas.openxmlformats.org/officeDocument/2006/relationships/tags" Target="../tags/tag109.xml"/><Relationship Id="rId11" Type="http://schemas.openxmlformats.org/officeDocument/2006/relationships/image" Target="../media/image19.png"/><Relationship Id="rId10" Type="http://schemas.openxmlformats.org/officeDocument/2006/relationships/image" Target="../media/image18.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114.xml"/><Relationship Id="rId15" Type="http://schemas.openxmlformats.org/officeDocument/2006/relationships/slideLayout" Target="../slideLayouts/slideLayout7.xml"/><Relationship Id="rId14" Type="http://schemas.openxmlformats.org/officeDocument/2006/relationships/tags" Target="../tags/tag118.xml"/><Relationship Id="rId13" Type="http://schemas.openxmlformats.org/officeDocument/2006/relationships/image" Target="../media/image22.png"/><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tags" Target="../tags/tag117.xml"/><Relationship Id="rId1" Type="http://schemas.openxmlformats.org/officeDocument/2006/relationships/tags" Target="../tags/tag113.xml"/></Relationships>
</file>

<file path=ppt/slides/_rels/slide12.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1" Type="http://schemas.openxmlformats.org/officeDocument/2006/relationships/slideLayout" Target="../slideLayouts/slideLayout7.xml"/><Relationship Id="rId10" Type="http://schemas.openxmlformats.org/officeDocument/2006/relationships/tags" Target="../tags/tag119.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 name="组合 16"/>
          <p:cNvGrpSpPr/>
          <p:nvPr/>
        </p:nvGrpSpPr>
        <p:grpSpPr>
          <a:xfrm>
            <a:off x="619125" y="1480328"/>
            <a:ext cx="7599680" cy="5205587"/>
            <a:chOff x="1208" y="1241"/>
            <a:chExt cx="12676" cy="9223"/>
          </a:xfrm>
        </p:grpSpPr>
        <p:pic>
          <p:nvPicPr>
            <p:cNvPr id="15" name="图片 14"/>
            <p:cNvPicPr>
              <a:picLocks noChangeAspect="1"/>
            </p:cNvPicPr>
            <p:nvPr/>
          </p:nvPicPr>
          <p:blipFill>
            <a:blip r:embed="rId1"/>
            <a:stretch>
              <a:fillRect/>
            </a:stretch>
          </p:blipFill>
          <p:spPr>
            <a:xfrm>
              <a:off x="1317" y="1785"/>
              <a:ext cx="12567" cy="8679"/>
            </a:xfrm>
            <a:prstGeom prst="rect">
              <a:avLst/>
            </a:prstGeom>
          </p:spPr>
        </p:pic>
        <p:sp>
          <p:nvSpPr>
            <p:cNvPr id="6" name="文本框 5"/>
            <p:cNvSpPr txBox="1"/>
            <p:nvPr>
              <p:custDataLst>
                <p:tags r:id="rId2"/>
              </p:custDataLst>
            </p:nvPr>
          </p:nvSpPr>
          <p:spPr>
            <a:xfrm>
              <a:off x="1208" y="1241"/>
              <a:ext cx="7586" cy="606"/>
            </a:xfrm>
            <a:prstGeom prst="rect">
              <a:avLst/>
            </a:prstGeom>
            <a:solidFill>
              <a:srgbClr val="CBEAF6"/>
            </a:solidFill>
          </p:spPr>
          <p:txBody>
            <a:bodyPr wrap="square" rtlCol="0">
              <a:noAutofit/>
            </a:bodyPr>
            <a:p>
              <a:r>
                <a:rPr lang="en-US" altLang="zh-CN" b="1" dirty="0">
                  <a:solidFill>
                    <a:srgbClr val="FF0000"/>
                  </a:solidFill>
                  <a:latin typeface="仿宋" panose="02010609060101010101" pitchFamily="49" charset="-122"/>
                  <a:ea typeface="仿宋" panose="02010609060101010101" pitchFamily="49" charset="-122"/>
                </a:rPr>
                <a:t>students’ response logs </a:t>
              </a:r>
              <a:r>
                <a:rPr lang="zh-CN" altLang="en-US" b="1" dirty="0">
                  <a:solidFill>
                    <a:srgbClr val="FF0000"/>
                  </a:solidFill>
                  <a:latin typeface="仿宋" panose="02010609060101010101" pitchFamily="49" charset="-122"/>
                  <a:ea typeface="仿宋" panose="02010609060101010101" pitchFamily="49" charset="-122"/>
                </a:rPr>
                <a:t>学生答题记录</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7" name="文本框 6"/>
            <p:cNvSpPr txBox="1"/>
            <p:nvPr>
              <p:custDataLst>
                <p:tags r:id="rId3"/>
              </p:custDataLst>
            </p:nvPr>
          </p:nvSpPr>
          <p:spPr>
            <a:xfrm>
              <a:off x="1208" y="7566"/>
              <a:ext cx="7164" cy="673"/>
            </a:xfrm>
            <a:prstGeom prst="rect">
              <a:avLst/>
            </a:prstGeom>
            <a:solidFill>
              <a:srgbClr val="CBEAF6"/>
            </a:solidFill>
          </p:spPr>
          <p:txBody>
            <a:bodyPr wrap="square" rtlCol="0">
              <a:noAutofit/>
            </a:bodyPr>
            <a:p>
              <a:pPr algn="ctr"/>
              <a:r>
                <a:rPr lang="zh-CN" altLang="en-US" b="1" dirty="0">
                  <a:solidFill>
                    <a:srgbClr val="FF0000"/>
                  </a:solidFill>
                  <a:latin typeface="仿宋" panose="02010609060101010101" pitchFamily="49" charset="-122"/>
                  <a:ea typeface="仿宋" panose="02010609060101010101" pitchFamily="49" charset="-122"/>
                </a:rPr>
                <a:t>𝑄</a:t>
              </a:r>
              <a:r>
                <a:rPr lang="en-US" altLang="zh-CN" b="1" dirty="0">
                  <a:solidFill>
                    <a:srgbClr val="FF0000"/>
                  </a:solidFill>
                  <a:latin typeface="仿宋" panose="02010609060101010101" pitchFamily="49" charset="-122"/>
                  <a:ea typeface="仿宋" panose="02010609060101010101" pitchFamily="49" charset="-122"/>
                </a:rPr>
                <a:t>-matrix </a:t>
              </a:r>
              <a:r>
                <a:rPr lang="zh-CN" altLang="en-US" b="1" dirty="0">
                  <a:solidFill>
                    <a:srgbClr val="FF0000"/>
                  </a:solidFill>
                  <a:latin typeface="仿宋" panose="02010609060101010101" pitchFamily="49" charset="-122"/>
                  <a:ea typeface="仿宋" panose="02010609060101010101" pitchFamily="49" charset="-122"/>
                </a:rPr>
                <a:t>习题和知识点的关系矩阵</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11" name="文本框 10"/>
            <p:cNvSpPr txBox="1"/>
            <p:nvPr>
              <p:custDataLst>
                <p:tags r:id="rId4"/>
              </p:custDataLst>
            </p:nvPr>
          </p:nvSpPr>
          <p:spPr>
            <a:xfrm>
              <a:off x="10509" y="1306"/>
              <a:ext cx="1952" cy="653"/>
            </a:xfrm>
            <a:prstGeom prst="rect">
              <a:avLst/>
            </a:prstGeom>
            <a:solidFill>
              <a:schemeClr val="accent2">
                <a:lumMod val="20000"/>
                <a:lumOff val="80000"/>
              </a:schemeClr>
            </a:solidFill>
          </p:spPr>
          <p:txBody>
            <a:bodyPr wrap="square" rtlCol="0">
              <a:spAutoFit/>
            </a:bodyPr>
            <a:p>
              <a:pPr algn="ctr"/>
              <a:r>
                <a:rPr lang="zh-CN" altLang="en-US" sz="1800" b="1" dirty="0">
                  <a:solidFill>
                    <a:srgbClr val="FF0000"/>
                  </a:solidFill>
                  <a:latin typeface="仿宋" panose="02010609060101010101" pitchFamily="49" charset="-122"/>
                  <a:ea typeface="仿宋" panose="02010609060101010101" pitchFamily="49" charset="-122"/>
                </a:rPr>
                <a:t>诊断结果</a:t>
              </a:r>
              <a:endParaRPr lang="zh-CN" altLang="en-US" sz="1000" b="1" dirty="0">
                <a:solidFill>
                  <a:srgbClr val="FF0000"/>
                </a:solidFill>
                <a:latin typeface="仿宋" panose="02010609060101010101" pitchFamily="49" charset="-122"/>
                <a:ea typeface="仿宋" panose="02010609060101010101" pitchFamily="49" charset="-122"/>
              </a:endParaRPr>
            </a:p>
          </p:txBody>
        </p:sp>
      </p:grpSp>
      <p:sp>
        <p:nvSpPr>
          <p:cNvPr id="4" name="文本框 3"/>
          <p:cNvSpPr txBox="1"/>
          <p:nvPr/>
        </p:nvSpPr>
        <p:spPr>
          <a:xfrm>
            <a:off x="44450" y="342900"/>
            <a:ext cx="12052300" cy="829945"/>
          </a:xfrm>
          <a:prstGeom prst="rect">
            <a:avLst/>
          </a:prstGeom>
          <a:solidFill>
            <a:schemeClr val="bg1"/>
          </a:solidFill>
          <a:effectLst>
            <a:outerShdw blurRad="317500" dist="38100" dir="5400000" sx="102000" sy="102000" algn="t" rotWithShape="0">
              <a:prstClr val="black">
                <a:alpha val="40000"/>
              </a:prstClr>
            </a:outerShdw>
          </a:effectLst>
        </p:spPr>
        <p:txBody>
          <a:bodyPr wrap="square" rtlCol="0" anchor="t">
            <a:spAutoFit/>
          </a:bodyPr>
          <a:p>
            <a:r>
              <a:rPr lang="en-US" altLang="zh-CN" sz="2400" b="1">
                <a:solidFill>
                  <a:srgbClr val="FF0000"/>
                </a:solidFill>
                <a:latin typeface="思源宋体 CN Heavy" panose="02020900000000000000" charset="-122"/>
                <a:ea typeface="思源宋体 CN Heavy" panose="02020900000000000000" charset="-122"/>
              </a:rPr>
              <a:t>Knowledge-Sensed</a:t>
            </a:r>
            <a:r>
              <a:rPr lang="en-US" altLang="zh-CN" sz="2400" b="1">
                <a:latin typeface="思源宋体 CN Heavy" panose="02020900000000000000" charset="-122"/>
                <a:ea typeface="思源宋体 CN Heavy" panose="02020900000000000000" charset="-122"/>
              </a:rPr>
              <a:t> Cognitive Diagnosis for Intelligent Education Platforms</a:t>
            </a:r>
            <a:endParaRPr lang="en-US" altLang="zh-CN" sz="2400" b="1">
              <a:latin typeface="思源宋体 CN Heavy" panose="02020900000000000000" charset="-122"/>
              <a:ea typeface="思源宋体 CN Heavy" panose="02020900000000000000" charset="-122"/>
            </a:endParaRPr>
          </a:p>
          <a:p>
            <a:pPr algn="ctr"/>
            <a:r>
              <a:rPr lang="zh-CN" altLang="en-US" sz="2400" b="1">
                <a:latin typeface="思源宋体 CN Heavy" panose="02020900000000000000" charset="-122"/>
                <a:ea typeface="思源宋体 CN Heavy" panose="02020900000000000000" charset="-122"/>
              </a:rPr>
              <a:t>面向智能教育平台的</a:t>
            </a:r>
            <a:r>
              <a:rPr lang="zh-CN" altLang="en-US" sz="2400" b="1">
                <a:solidFill>
                  <a:srgbClr val="FF0000"/>
                </a:solidFill>
                <a:latin typeface="思源宋体 CN Heavy" panose="02020900000000000000" charset="-122"/>
                <a:ea typeface="思源宋体 CN Heavy" panose="02020900000000000000" charset="-122"/>
              </a:rPr>
              <a:t>知识感知</a:t>
            </a:r>
            <a:r>
              <a:rPr lang="zh-CN" altLang="en-US" sz="2400" b="1">
                <a:latin typeface="思源宋体 CN Heavy" panose="02020900000000000000" charset="-122"/>
                <a:ea typeface="思源宋体 CN Heavy" panose="02020900000000000000" charset="-122"/>
              </a:rPr>
              <a:t>认知诊断</a:t>
            </a:r>
            <a:endParaRPr lang="zh-CN" altLang="en-US" sz="2400" b="1">
              <a:latin typeface="思源宋体 CN Heavy" panose="02020900000000000000" charset="-122"/>
              <a:ea typeface="思源宋体 CN Heavy" panose="02020900000000000000" charset="-122"/>
            </a:endParaRPr>
          </a:p>
        </p:txBody>
      </p:sp>
    </p:spTree>
    <p:custDataLst>
      <p:tags r:id="rId5"/>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33045" y="655320"/>
            <a:ext cx="6326505" cy="5193030"/>
          </a:xfrm>
          <a:prstGeom prst="rect">
            <a:avLst/>
          </a:prstGeom>
        </p:spPr>
      </p:pic>
      <p:sp>
        <p:nvSpPr>
          <p:cNvPr id="4" name="文本框 3"/>
          <p:cNvSpPr txBox="1"/>
          <p:nvPr/>
        </p:nvSpPr>
        <p:spPr>
          <a:xfrm>
            <a:off x="3556000" y="2890838"/>
            <a:ext cx="5080000" cy="337185"/>
          </a:xfrm>
          <a:prstGeom prst="rect">
            <a:avLst/>
          </a:prstGeom>
        </p:spPr>
        <p:txBody>
          <a:bodyPr>
            <a:spAutoFit/>
          </a:bodyPr>
          <a:p>
            <a:pPr marL="0" indent="0"/>
            <a:endParaRPr lang="zh-CN" altLang="en-US" sz="1600" b="0" i="0">
              <a:latin typeface="-apple-system"/>
              <a:ea typeface="-apple-system"/>
            </a:endParaRPr>
          </a:p>
        </p:txBody>
      </p:sp>
      <p:sp>
        <p:nvSpPr>
          <p:cNvPr id="6" name="文本框 5"/>
          <p:cNvSpPr txBox="1"/>
          <p:nvPr>
            <p:custDataLst>
              <p:tags r:id="rId2"/>
            </p:custDataLst>
          </p:nvPr>
        </p:nvSpPr>
        <p:spPr>
          <a:xfrm>
            <a:off x="116205" y="4013200"/>
            <a:ext cx="6334125" cy="1901190"/>
          </a:xfrm>
          <a:prstGeom prst="rect">
            <a:avLst/>
          </a:prstGeom>
          <a:solidFill>
            <a:srgbClr val="CBEAF6"/>
          </a:solidFill>
        </p:spPr>
        <p:txBody>
          <a:bodyPr wrap="square" rtlCol="0">
            <a:noAutofit/>
          </a:bodyPr>
          <a:p>
            <a:r>
              <a:rPr lang="zh-CN" altLang="en-US" sz="2000" b="1">
                <a:solidFill>
                  <a:srgbClr val="FF0000"/>
                </a:solidFill>
                <a:uFillTx/>
                <a:latin typeface="Times New Roman" panose="02020603050405020304" pitchFamily="18" charset="0"/>
                <a:ea typeface="仿宋" panose="02010609060101010101" pitchFamily="49" charset="-122"/>
                <a:sym typeface="+mn-ea"/>
              </a:rPr>
              <a:t>图</a:t>
            </a:r>
            <a:r>
              <a:rPr lang="en-US" altLang="zh-CN" sz="2000" b="1">
                <a:solidFill>
                  <a:srgbClr val="FF0000"/>
                </a:solidFill>
                <a:uFillTx/>
                <a:latin typeface="Times New Roman" panose="02020603050405020304" pitchFamily="18" charset="0"/>
                <a:ea typeface="仿宋" panose="02010609060101010101" pitchFamily="49" charset="-122"/>
                <a:sym typeface="+mn-ea"/>
              </a:rPr>
              <a:t>2</a:t>
            </a:r>
            <a:r>
              <a:rPr lang="zh-CN" altLang="en-US" sz="2000" b="1">
                <a:solidFill>
                  <a:srgbClr val="FF0000"/>
                </a:solidFill>
                <a:uFillTx/>
                <a:latin typeface="Times New Roman" panose="02020603050405020304" pitchFamily="18" charset="0"/>
                <a:ea typeface="仿宋" panose="02010609060101010101" pitchFamily="49" charset="-122"/>
                <a:sym typeface="+mn-ea"/>
              </a:rPr>
              <a:t>：具有不同比例交互知识概念的学生在两个真实数据集中的分布。 我们可以看到，超过</a:t>
            </a:r>
            <a:r>
              <a:rPr lang="en-US" altLang="zh-CN" sz="2000" b="1">
                <a:solidFill>
                  <a:srgbClr val="FF0000"/>
                </a:solidFill>
                <a:uFillTx/>
                <a:latin typeface="Times New Roman" panose="02020603050405020304" pitchFamily="18" charset="0"/>
                <a:ea typeface="仿宋" panose="02010609060101010101" pitchFamily="49" charset="-122"/>
                <a:sym typeface="+mn-ea"/>
              </a:rPr>
              <a:t>80%</a:t>
            </a:r>
            <a:r>
              <a:rPr lang="zh-CN" altLang="en-US" sz="2000" b="1">
                <a:solidFill>
                  <a:srgbClr val="FF0000"/>
                </a:solidFill>
                <a:uFillTx/>
                <a:latin typeface="Times New Roman" panose="02020603050405020304" pitchFamily="18" charset="0"/>
                <a:ea typeface="仿宋" panose="02010609060101010101" pitchFamily="49" charset="-122"/>
                <a:sym typeface="+mn-ea"/>
              </a:rPr>
              <a:t>的学生在</a:t>
            </a:r>
            <a:r>
              <a:rPr lang="en-US" altLang="zh-CN" sz="2000" b="1">
                <a:solidFill>
                  <a:srgbClr val="FF0000"/>
                </a:solidFill>
                <a:uFillTx/>
                <a:latin typeface="Times New Roman" panose="02020603050405020304" pitchFamily="18" charset="0"/>
                <a:ea typeface="仿宋" panose="02010609060101010101" pitchFamily="49" charset="-122"/>
                <a:sym typeface="+mn-ea"/>
              </a:rPr>
              <a:t>ASSISTments</a:t>
            </a:r>
            <a:r>
              <a:rPr lang="zh-CN" altLang="en-US" sz="2000" b="1">
                <a:solidFill>
                  <a:srgbClr val="FF0000"/>
                </a:solidFill>
                <a:uFillTx/>
                <a:latin typeface="Times New Roman" panose="02020603050405020304" pitchFamily="18" charset="0"/>
                <a:ea typeface="仿宋" panose="02010609060101010101" pitchFamily="49" charset="-122"/>
                <a:sym typeface="+mn-ea"/>
              </a:rPr>
              <a:t>中与不到</a:t>
            </a:r>
            <a:r>
              <a:rPr lang="en-US" altLang="zh-CN" sz="2000" b="1">
                <a:solidFill>
                  <a:srgbClr val="FF0000"/>
                </a:solidFill>
                <a:uFillTx/>
                <a:latin typeface="Times New Roman" panose="02020603050405020304" pitchFamily="18" charset="0"/>
                <a:ea typeface="仿宋" panose="02010609060101010101" pitchFamily="49" charset="-122"/>
                <a:sym typeface="+mn-ea"/>
              </a:rPr>
              <a:t>10%</a:t>
            </a:r>
            <a:r>
              <a:rPr lang="zh-CN" altLang="en-US" sz="2000" b="1">
                <a:solidFill>
                  <a:srgbClr val="FF0000"/>
                </a:solidFill>
                <a:uFillTx/>
                <a:latin typeface="Times New Roman" panose="02020603050405020304" pitchFamily="18" charset="0"/>
                <a:ea typeface="仿宋" panose="02010609060101010101" pitchFamily="49" charset="-122"/>
                <a:sym typeface="+mn-ea"/>
              </a:rPr>
              <a:t>的知识概念互动，超过</a:t>
            </a:r>
            <a:r>
              <a:rPr lang="en-US" altLang="zh-CN" sz="2000" b="1">
                <a:solidFill>
                  <a:srgbClr val="FF0000"/>
                </a:solidFill>
                <a:uFillTx/>
                <a:latin typeface="Times New Roman" panose="02020603050405020304" pitchFamily="18" charset="0"/>
                <a:ea typeface="仿宋" panose="02010609060101010101" pitchFamily="49" charset="-122"/>
                <a:sym typeface="+mn-ea"/>
              </a:rPr>
              <a:t>55%</a:t>
            </a:r>
            <a:r>
              <a:rPr lang="zh-CN" altLang="en-US" sz="2000" b="1">
                <a:solidFill>
                  <a:srgbClr val="FF0000"/>
                </a:solidFill>
                <a:uFillTx/>
                <a:latin typeface="Times New Roman" panose="02020603050405020304" pitchFamily="18" charset="0"/>
                <a:ea typeface="仿宋" panose="02010609060101010101" pitchFamily="49" charset="-122"/>
                <a:sym typeface="+mn-ea"/>
              </a:rPr>
              <a:t>的学生在</a:t>
            </a:r>
            <a:r>
              <a:rPr lang="en-US" altLang="zh-CN" sz="2000" b="1">
                <a:solidFill>
                  <a:srgbClr val="FF0000"/>
                </a:solidFill>
                <a:uFillTx/>
                <a:latin typeface="Times New Roman" panose="02020603050405020304" pitchFamily="18" charset="0"/>
                <a:ea typeface="仿宋" panose="02010609060101010101" pitchFamily="49" charset="-122"/>
                <a:sym typeface="+mn-ea"/>
              </a:rPr>
              <a:t>e-Math</a:t>
            </a:r>
            <a:r>
              <a:rPr lang="zh-CN" altLang="en-US" sz="2000" b="1">
                <a:solidFill>
                  <a:srgbClr val="FF0000"/>
                </a:solidFill>
                <a:uFillTx/>
                <a:latin typeface="Times New Roman" panose="02020603050405020304" pitchFamily="18" charset="0"/>
                <a:ea typeface="仿宋" panose="02010609060101010101" pitchFamily="49" charset="-122"/>
                <a:sym typeface="+mn-ea"/>
              </a:rPr>
              <a:t>中与不到</a:t>
            </a:r>
            <a:r>
              <a:rPr lang="en-US" altLang="zh-CN" sz="2000" b="1">
                <a:solidFill>
                  <a:srgbClr val="FF0000"/>
                </a:solidFill>
                <a:uFillTx/>
                <a:latin typeface="Times New Roman" panose="02020603050405020304" pitchFamily="18" charset="0"/>
                <a:ea typeface="仿宋" panose="02010609060101010101" pitchFamily="49" charset="-122"/>
                <a:sym typeface="+mn-ea"/>
              </a:rPr>
              <a:t>10%</a:t>
            </a:r>
            <a:r>
              <a:rPr lang="zh-CN" altLang="en-US" sz="2000" b="1">
                <a:solidFill>
                  <a:srgbClr val="FF0000"/>
                </a:solidFill>
                <a:uFillTx/>
                <a:latin typeface="Times New Roman" panose="02020603050405020304" pitchFamily="18" charset="0"/>
                <a:ea typeface="仿宋" panose="02010609060101010101" pitchFamily="49" charset="-122"/>
                <a:sym typeface="+mn-ea"/>
              </a:rPr>
              <a:t>的知识概念互动。</a:t>
            </a:r>
            <a:endParaRPr lang="zh-CN" altLang="en-US" sz="2000" b="1" i="0">
              <a:solidFill>
                <a:srgbClr val="FF0000"/>
              </a:solidFill>
              <a:uFillTx/>
              <a:latin typeface="Times New Roman" panose="02020603050405020304" pitchFamily="18" charset="0"/>
              <a:ea typeface="仿宋" panose="02010609060101010101" pitchFamily="49" charset="-122"/>
            </a:endParaRPr>
          </a:p>
          <a:p>
            <a:endParaRPr lang="zh-CN" altLang="en-US" sz="2000" b="1" i="0" dirty="0">
              <a:solidFill>
                <a:srgbClr val="FF0000"/>
              </a:solidFill>
              <a:uFillTx/>
              <a:latin typeface="Times New Roman" panose="02020603050405020304" pitchFamily="18" charset="0"/>
              <a:ea typeface="仿宋" panose="02010609060101010101" pitchFamily="49" charset="-122"/>
            </a:endParaRPr>
          </a:p>
        </p:txBody>
      </p:sp>
      <p:sp>
        <p:nvSpPr>
          <p:cNvPr id="7" name="文本框 6"/>
          <p:cNvSpPr txBox="1"/>
          <p:nvPr/>
        </p:nvSpPr>
        <p:spPr>
          <a:xfrm>
            <a:off x="899160" y="935990"/>
            <a:ext cx="490220" cy="2905125"/>
          </a:xfrm>
          <a:prstGeom prst="rect">
            <a:avLst/>
          </a:prstGeom>
          <a:solidFill>
            <a:schemeClr val="accent5">
              <a:lumMod val="20000"/>
              <a:lumOff val="80000"/>
            </a:schemeClr>
          </a:solidFill>
        </p:spPr>
        <p:txBody>
          <a:bodyPr vert="eaVert" wrap="square">
            <a:spAutoFit/>
            <a:extLst>
              <a:ext uri="{4A0BC546-FE56-4ADE-93B0-CB8AF2F6F144}">
                <wpsdc:textFrameExt xmlns:wpsdc="http://www.wps.cn/officeDocument/2022/drawingmlCustomData" type="text"/>
              </a:ext>
            </a:extLst>
          </a:bodyPr>
          <a:p>
            <a:pPr algn="ctr">
              <a:buClrTx/>
              <a:buSzTx/>
              <a:buFontTx/>
            </a:pPr>
            <a:r>
              <a:rPr lang="zh-CN" altLang="en-US" sz="2000" b="1" dirty="0">
                <a:solidFill>
                  <a:srgbClr val="FF0000"/>
                </a:solidFill>
                <a:latin typeface="仿宋" panose="02010609060101010101" pitchFamily="49" charset="-122"/>
                <a:ea typeface="仿宋" panose="02010609060101010101" pitchFamily="49" charset="-122"/>
              </a:rPr>
              <a:t>学生分布</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9" name="文本框 8"/>
          <p:cNvSpPr txBox="1"/>
          <p:nvPr>
            <p:custDataLst>
              <p:tags r:id="rId3"/>
            </p:custDataLst>
          </p:nvPr>
        </p:nvSpPr>
        <p:spPr>
          <a:xfrm>
            <a:off x="1572895" y="3517900"/>
            <a:ext cx="4148455" cy="398780"/>
          </a:xfrm>
          <a:prstGeom prst="rect">
            <a:avLst/>
          </a:prstGeom>
          <a:solidFill>
            <a:schemeClr val="accent2">
              <a:lumMod val="20000"/>
              <a:lumOff val="80000"/>
            </a:schemeClr>
          </a:solidFill>
        </p:spPr>
        <p:txBody>
          <a:bodyPr wrap="square" rtlCol="0">
            <a:spAutoFit/>
          </a:bodyPr>
          <a:p>
            <a:pPr algn="ctr"/>
            <a:r>
              <a:rPr lang="zh-CN" altLang="en-US" sz="2000" b="1" dirty="0">
                <a:solidFill>
                  <a:srgbClr val="FF0000"/>
                </a:solidFill>
                <a:latin typeface="仿宋" panose="02010609060101010101" pitchFamily="49" charset="-122"/>
                <a:ea typeface="仿宋" panose="02010609060101010101" pitchFamily="49" charset="-122"/>
              </a:rPr>
              <a:t>知识概念的不同比例</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3" name="文本框 2"/>
          <p:cNvSpPr txBox="1"/>
          <p:nvPr/>
        </p:nvSpPr>
        <p:spPr>
          <a:xfrm>
            <a:off x="6559550" y="604520"/>
            <a:ext cx="5551805" cy="5939155"/>
          </a:xfrm>
          <a:prstGeom prst="rect">
            <a:avLst/>
          </a:prstGeom>
          <a:noFill/>
        </p:spPr>
        <p:txBody>
          <a:bodyPr wrap="square" rtlCol="0" anchor="t">
            <a:spAutoFit/>
          </a:bodyPr>
          <a:p>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These existing CDMs have major limitations</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in most of the intelligent education platforms due to the following two reasons. On the one hand, most of the intelligent education platforms are usually with highly sparse student-concept interactions as shown in Figure 2, which indicates that the vast majority of knowledge concepts are not interacted by a student. On the other hand, it is difficult for most developing intelligent education platforms to obtain this prior relations between knowledge concepts since annotating them is labor-intensive and costly.</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这些现有的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cdm</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（认知诊断模型）在大多数智能教育平台中都有很大的局限性，主要有以下两个原因。</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一方面，大多数智能教育平台通常具有</a:t>
            </a:r>
            <a:r>
              <a:rPr lang="zh-CN" altLang="en-US"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高度稀疏的学生</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概念交互</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，如图</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2</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所示，这表明绝大多数知识概念不是由学生交互的。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另一方面，大多数正在开发的智能教育平台很难获得知识概念之间的这种先验关系，因为标注知识概念是一项劳动密集型的工作，而且</a:t>
            </a:r>
            <a:r>
              <a:rPr lang="zh-CN" altLang="en-US"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成本</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很高。</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Tree>
    <p:custDataLst>
      <p:tags r:id="rId4"/>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68325" y="870585"/>
            <a:ext cx="10944225" cy="4631055"/>
          </a:xfrm>
          <a:prstGeom prst="rect">
            <a:avLst/>
          </a:prstGeom>
          <a:noFill/>
        </p:spPr>
        <p:txBody>
          <a:bodyPr wrap="square" rtlCol="0">
            <a:spAutoFit/>
          </a:bodyPr>
          <a:p>
            <a:pPr marL="342900" indent="-342900">
              <a:spcBef>
                <a:spcPts val="600"/>
              </a:spcBef>
              <a:buFont typeface="Wingdings" panose="05000000000000000000" pitchFamily="2" charset="2"/>
              <a:buChar char="ü"/>
            </a:pPr>
            <a:r>
              <a:rPr lang="en-US" altLang="zh-CN" sz="2000" b="1" dirty="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Motivation</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Considerable efforts have been undertaken to improve the precision of cognitive diagnosis by the researchers of artificial intelligence and data science domains .These efforts mainly focus on designing neural network-based diagnostic functions to better fit the complex student-exercise interactions, or attempts to incorporate more rich context features and prior relations between knowledge concepts for enhancing the representation learning of students and exercises .</a:t>
            </a:r>
            <a:r>
              <a:rPr lang="en-US" altLang="zh-CN"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However, how to interpretably infer the student’s mastery over </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noninteractive knowledge concepts</a:t>
            </a:r>
            <a:r>
              <a:rPr lang="en-US" altLang="zh-CN"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still remains challenging, especially when not giving</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 the prior relations between knowledge concepts</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(e.g., prerequisite relation and similarity relation).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spcBef>
                <a:spcPts val="600"/>
              </a:spcBef>
              <a:buFont typeface="Wingdings" panose="05000000000000000000" pitchFamily="2" charset="2"/>
              <a:buChar char="ü"/>
            </a:pPr>
            <a:r>
              <a:rPr lang="zh-CN" altLang="en-US" sz="2000" b="1" dirty="0">
                <a:solidFill>
                  <a:srgbClr val="C00000"/>
                </a:solidFill>
                <a:latin typeface="仿宋" panose="02010609060101010101" pitchFamily="49" charset="-122"/>
                <a:ea typeface="仿宋" panose="02010609060101010101" pitchFamily="49" charset="-122"/>
              </a:rPr>
              <a:t>动机</a:t>
            </a:r>
            <a:r>
              <a:rPr lang="zh-CN" altLang="en-US"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pPr>
              <a:spcBef>
                <a:spcPts val="600"/>
              </a:spcBef>
            </a:pPr>
            <a:r>
              <a:rPr lang="zh-CN" altLang="en-US" sz="2000" dirty="0">
                <a:latin typeface="仿宋" panose="02010609060101010101" pitchFamily="49" charset="-122"/>
                <a:ea typeface="仿宋" panose="02010609060101010101" pitchFamily="49" charset="-122"/>
              </a:rPr>
              <a:t>人工智能和数据科学领域的研究人员为提高认知诊断的准确性已经付出了相当大的努力。这些努力主要集中在设计基于神经网络的诊断函数，以更好地适应复杂的学生</a:t>
            </a:r>
            <a:r>
              <a:rPr lang="en-US" altLang="zh-CN" sz="2000" dirty="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练习交互，或者尝试结合更丰富的上下文特征和知识概念之间的先验关系，以增强学生和练习的表征学习。</a:t>
            </a:r>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然而，如何可解释地推断学生对</a:t>
            </a:r>
            <a:r>
              <a:rPr lang="zh-CN" altLang="en-US" sz="2000" b="1" dirty="0">
                <a:solidFill>
                  <a:srgbClr val="FF0000"/>
                </a:solidFill>
                <a:latin typeface="仿宋" panose="02010609060101010101" pitchFamily="49" charset="-122"/>
                <a:ea typeface="仿宋" panose="02010609060101010101" pitchFamily="49" charset="-122"/>
              </a:rPr>
              <a:t>非交互性知识概念</a:t>
            </a:r>
            <a:r>
              <a:rPr lang="zh-CN" altLang="en-US" sz="2000" dirty="0">
                <a:latin typeface="仿宋" panose="02010609060101010101" pitchFamily="49" charset="-122"/>
                <a:ea typeface="仿宋" panose="02010609060101010101" pitchFamily="49" charset="-122"/>
              </a:rPr>
              <a:t>的掌握仍然是一个挑战，特别是在没有给出</a:t>
            </a:r>
            <a:r>
              <a:rPr lang="zh-CN" altLang="en-US" sz="2000" b="1" dirty="0">
                <a:solidFill>
                  <a:srgbClr val="FF0000"/>
                </a:solidFill>
                <a:latin typeface="仿宋" panose="02010609060101010101" pitchFamily="49" charset="-122"/>
                <a:ea typeface="仿宋" panose="02010609060101010101" pitchFamily="49" charset="-122"/>
              </a:rPr>
              <a:t>知识概念之间的先验关系</a:t>
            </a:r>
            <a:r>
              <a:rPr lang="zh-CN" altLang="en-US" sz="2000" dirty="0">
                <a:latin typeface="仿宋" panose="02010609060101010101" pitchFamily="49" charset="-122"/>
                <a:ea typeface="仿宋" panose="02010609060101010101" pitchFamily="49" charset="-122"/>
              </a:rPr>
              <a:t>（如先决关系和相似关系）的情况下。</a:t>
            </a:r>
            <a:endParaRPr lang="zh-CN" altLang="en-US" sz="2000" dirty="0">
              <a:latin typeface="仿宋" panose="02010609060101010101" pitchFamily="49" charset="-122"/>
              <a:ea typeface="仿宋" panose="02010609060101010101" pitchFamily="49"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09270" y="490220"/>
            <a:ext cx="11351260" cy="5554345"/>
          </a:xfrm>
          <a:prstGeom prst="rect">
            <a:avLst/>
          </a:prstGeom>
          <a:noFill/>
        </p:spPr>
        <p:txBody>
          <a:bodyPr wrap="square" rtlCol="0">
            <a:spAutoFit/>
          </a:bodyPr>
          <a:p>
            <a:pPr marL="342900" indent="-342900">
              <a:spcBef>
                <a:spcPts val="600"/>
              </a:spcBef>
              <a:buFont typeface="Wingdings" panose="05000000000000000000" pitchFamily="2" charset="2"/>
              <a:buChar char="ü"/>
            </a:pPr>
            <a:r>
              <a:rPr lang="en-US" altLang="zh-CN" sz="2000" b="1" dirty="0">
                <a:solidFill>
                  <a:srgbClr val="C00000"/>
                </a:solidFill>
                <a:latin typeface="Times New Roman" panose="02020603050405020304" pitchFamily="18" charset="0"/>
                <a:ea typeface="仿宋" panose="02010609060101010101" pitchFamily="49" charset="-122"/>
                <a:cs typeface="Times New Roman" panose="02020603050405020304" pitchFamily="18" charset="0"/>
                <a:sym typeface="+mn-ea"/>
              </a:rPr>
              <a:t>Contribution</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We propose a Knowledge-Sensed Cognitive Diagnosis (KSCD) framework, whose idea is that the intrinsic </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knowledge relations</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can be learned from response logs and </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-matrix (e.g., the similarity of knowledge correctness in response logs can reflect the similarity of knowledge difficulty), and benefit the performance of cognitive diagnosis.</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We also design </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a new student-exercise interaction function</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to better capture the information among students, exercises and knowledge concepts.Through model training, the student’s mastery levels over interactive and non-interactive knowledge concepts </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can be diagnosed and interpretably inferred</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Extensive experiments in real-world datasets demonstrate the </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effectiveness</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of the proposed KSCD.</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spcBef>
                <a:spcPts val="600"/>
              </a:spcBef>
              <a:buFont typeface="Wingdings" panose="05000000000000000000" pitchFamily="2" charset="2"/>
              <a:buChar char="ü"/>
            </a:pPr>
            <a:r>
              <a:rPr lang="zh-CN" altLang="en-US" sz="2000" b="1" dirty="0">
                <a:solidFill>
                  <a:srgbClr val="C00000"/>
                </a:solidFill>
                <a:latin typeface="仿宋" panose="02010609060101010101" pitchFamily="49" charset="-122"/>
                <a:ea typeface="仿宋" panose="02010609060101010101" pitchFamily="49" charset="-122"/>
                <a:sym typeface="+mn-ea"/>
              </a:rPr>
              <a:t>贡献</a:t>
            </a:r>
            <a:r>
              <a:rPr lang="en-US" altLang="zh-CN" sz="2000" b="1" dirty="0">
                <a:solidFill>
                  <a:srgbClr val="C00000"/>
                </a:solidFill>
                <a:latin typeface="仿宋" panose="02010609060101010101" pitchFamily="49" charset="-122"/>
                <a:ea typeface="仿宋" panose="02010609060101010101" pitchFamily="49" charset="-122"/>
                <a:sym typeface="+mn-ea"/>
              </a:rPr>
              <a:t>/</a:t>
            </a:r>
            <a:r>
              <a:rPr lang="zh-CN" altLang="en-US" sz="2000" b="1" dirty="0">
                <a:solidFill>
                  <a:srgbClr val="C00000"/>
                </a:solidFill>
                <a:latin typeface="仿宋" panose="02010609060101010101" pitchFamily="49" charset="-122"/>
                <a:ea typeface="仿宋" panose="02010609060101010101" pitchFamily="49" charset="-122"/>
                <a:sym typeface="+mn-ea"/>
              </a:rPr>
              <a:t>创新点</a:t>
            </a:r>
            <a:r>
              <a:rPr lang="zh-CN" altLang="en-US" sz="2000" dirty="0">
                <a:latin typeface="仿宋" panose="02010609060101010101" pitchFamily="49" charset="-122"/>
                <a:ea typeface="仿宋" panose="02010609060101010101" pitchFamily="49" charset="-122"/>
                <a:sym typeface="+mn-ea"/>
              </a:rPr>
              <a:t> </a:t>
            </a:r>
            <a:endParaRPr lang="en-US" altLang="zh-CN"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我们提出了一种知识感知认知诊断框架（</a:t>
            </a:r>
            <a:r>
              <a:rPr lang="en-US" altLang="zh-CN" sz="2000" dirty="0">
                <a:latin typeface="仿宋" panose="02010609060101010101" pitchFamily="49" charset="-122"/>
                <a:ea typeface="仿宋" panose="02010609060101010101" pitchFamily="49" charset="-122"/>
              </a:rPr>
              <a:t>knowledge - Sensed Cognitive Diagnosis</a:t>
            </a:r>
            <a:r>
              <a:rPr lang="zh-CN" altLang="en-US" sz="2000" dirty="0">
                <a:latin typeface="仿宋" panose="02010609060101010101" pitchFamily="49" charset="-122"/>
                <a:ea typeface="仿宋" panose="02010609060101010101" pitchFamily="49" charset="-122"/>
              </a:rPr>
              <a:t>，</a:t>
            </a:r>
            <a:r>
              <a:rPr lang="en-US" altLang="zh-CN" sz="2000" dirty="0">
                <a:latin typeface="仿宋" panose="02010609060101010101" pitchFamily="49" charset="-122"/>
                <a:ea typeface="仿宋" panose="02010609060101010101" pitchFamily="49" charset="-122"/>
              </a:rPr>
              <a:t> KSCD</a:t>
            </a:r>
            <a:r>
              <a:rPr lang="zh-CN" altLang="en-US" sz="2000" dirty="0">
                <a:latin typeface="仿宋" panose="02010609060101010101" pitchFamily="49" charset="-122"/>
                <a:ea typeface="仿宋" panose="02010609060101010101" pitchFamily="49" charset="-122"/>
              </a:rPr>
              <a:t>），该框架的思想是从响应日志和𝑄</a:t>
            </a:r>
            <a:r>
              <a:rPr lang="en-US" altLang="zh-CN" sz="2000" dirty="0">
                <a:latin typeface="仿宋" panose="02010609060101010101" pitchFamily="49" charset="-122"/>
                <a:ea typeface="仿宋" panose="02010609060101010101" pitchFamily="49" charset="-122"/>
              </a:rPr>
              <a:t>-matrix</a:t>
            </a:r>
            <a:r>
              <a:rPr lang="zh-CN" altLang="en-US" sz="2000" dirty="0">
                <a:latin typeface="仿宋" panose="02010609060101010101" pitchFamily="49" charset="-122"/>
                <a:ea typeface="仿宋" panose="02010609060101010101" pitchFamily="49" charset="-122"/>
              </a:rPr>
              <a:t>中学习内在的</a:t>
            </a:r>
            <a:r>
              <a:rPr lang="zh-CN" altLang="en-US" sz="2000" b="1" dirty="0">
                <a:solidFill>
                  <a:srgbClr val="FF0000"/>
                </a:solidFill>
                <a:latin typeface="仿宋" panose="02010609060101010101" pitchFamily="49" charset="-122"/>
                <a:ea typeface="仿宋" panose="02010609060101010101" pitchFamily="49" charset="-122"/>
              </a:rPr>
              <a:t>知识关系</a:t>
            </a:r>
            <a:r>
              <a:rPr lang="zh-CN" altLang="en-US" sz="2000" dirty="0">
                <a:latin typeface="仿宋" panose="02010609060101010101" pitchFamily="49" charset="-122"/>
                <a:ea typeface="仿宋" panose="02010609060101010101" pitchFamily="49" charset="-122"/>
              </a:rPr>
              <a:t>（例如，响应日志中知识正确性的相似性可以反映知识难度的相似性），从而有利于认知诊断的性能。</a:t>
            </a:r>
            <a:endParaRPr lang="zh-CN" altLang="en-US"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我们还设计了一个</a:t>
            </a:r>
            <a:r>
              <a:rPr lang="zh-CN" altLang="en-US" sz="2000" b="1" dirty="0">
                <a:solidFill>
                  <a:srgbClr val="FF0000"/>
                </a:solidFill>
                <a:latin typeface="仿宋" panose="02010609060101010101" pitchFamily="49" charset="-122"/>
                <a:ea typeface="仿宋" panose="02010609060101010101" pitchFamily="49" charset="-122"/>
              </a:rPr>
              <a:t>新的学生-习题交互函数</a:t>
            </a:r>
            <a:r>
              <a:rPr lang="zh-CN" altLang="en-US" sz="2000" dirty="0">
                <a:latin typeface="仿宋" panose="02010609060101010101" pitchFamily="49" charset="-122"/>
                <a:ea typeface="仿宋" panose="02010609060101010101" pitchFamily="49" charset="-122"/>
              </a:rPr>
              <a:t>，以便更好地捕获学生、习题和知识概念之间的信息。</a:t>
            </a:r>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通过模型训练，可以诊断学生对互动和非互动知识概念的掌握程度，并</a:t>
            </a:r>
            <a:r>
              <a:rPr lang="zh-CN" altLang="en-US" sz="2000" b="1" dirty="0">
                <a:solidFill>
                  <a:srgbClr val="FF0000"/>
                </a:solidFill>
                <a:latin typeface="仿宋" panose="02010609060101010101" pitchFamily="49" charset="-122"/>
                <a:ea typeface="仿宋" panose="02010609060101010101" pitchFamily="49" charset="-122"/>
              </a:rPr>
              <a:t>可解释地诊断</a:t>
            </a:r>
            <a:r>
              <a:rPr lang="zh-CN" altLang="en-US" sz="2000" dirty="0">
                <a:latin typeface="仿宋" panose="02010609060101010101" pitchFamily="49" charset="-122"/>
                <a:ea typeface="仿宋" panose="02010609060101010101" pitchFamily="49" charset="-122"/>
              </a:rPr>
              <a:t>。</a:t>
            </a:r>
            <a:r>
              <a:rPr lang="en-US" altLang="zh-CN"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在实际数据集上的大量实验证明了所提出的</a:t>
            </a:r>
            <a:r>
              <a:rPr lang="en-US" altLang="zh-CN" sz="2000" dirty="0">
                <a:latin typeface="仿宋" panose="02010609060101010101" pitchFamily="49" charset="-122"/>
                <a:ea typeface="仿宋" panose="02010609060101010101" pitchFamily="49" charset="-122"/>
              </a:rPr>
              <a:t>KSCD</a:t>
            </a:r>
            <a:r>
              <a:rPr lang="zh-CN" altLang="en-US" sz="2000" dirty="0">
                <a:latin typeface="仿宋" panose="02010609060101010101" pitchFamily="49" charset="-122"/>
                <a:ea typeface="仿宋" panose="02010609060101010101" pitchFamily="49" charset="-122"/>
              </a:rPr>
              <a:t>的</a:t>
            </a:r>
            <a:r>
              <a:rPr lang="zh-CN" altLang="en-US" sz="2000" b="1" dirty="0">
                <a:solidFill>
                  <a:srgbClr val="FF0000"/>
                </a:solidFill>
                <a:latin typeface="仿宋" panose="02010609060101010101" pitchFamily="49" charset="-122"/>
                <a:ea typeface="仿宋" panose="02010609060101010101" pitchFamily="49" charset="-122"/>
              </a:rPr>
              <a:t>有效性</a:t>
            </a:r>
            <a:r>
              <a:rPr lang="zh-CN" altLang="en-US" sz="2000" dirty="0">
                <a:latin typeface="仿宋" panose="02010609060101010101" pitchFamily="49" charset="-122"/>
                <a:ea typeface="仿宋" panose="02010609060101010101" pitchFamily="49" charset="-122"/>
              </a:rPr>
              <a:t>。</a:t>
            </a:r>
            <a:endParaRPr lang="zh-CN" altLang="en-US" sz="2000" dirty="0">
              <a:latin typeface="仿宋" panose="02010609060101010101" pitchFamily="49" charset="-122"/>
              <a:ea typeface="仿宋" panose="02010609060101010101" pitchFamily="49"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68325" y="705485"/>
            <a:ext cx="10944225" cy="5323205"/>
          </a:xfrm>
          <a:prstGeom prst="rect">
            <a:avLst/>
          </a:prstGeom>
          <a:noFill/>
        </p:spPr>
        <p:txBody>
          <a:bodyPr wrap="square" rtlCol="0">
            <a:spAutoFit/>
          </a:bodyPr>
          <a:p>
            <a:pPr marL="342900" indent="-342900">
              <a:spcBef>
                <a:spcPts val="600"/>
              </a:spcBef>
              <a:buFont typeface="Wingdings" panose="05000000000000000000" pitchFamily="2" charset="2"/>
              <a:buChar char="ü"/>
            </a:pPr>
            <a:r>
              <a:rPr lang="en-US" altLang="zh-CN" sz="2000" b="1" dirty="0">
                <a:solidFill>
                  <a:srgbClr val="C00000"/>
                </a:solidFill>
                <a:latin typeface="Times New Roman" panose="02020603050405020304" pitchFamily="18" charset="0"/>
                <a:ea typeface="仿宋" panose="02010609060101010101" pitchFamily="49" charset="-122"/>
                <a:cs typeface="Times New Roman" panose="02020603050405020304" pitchFamily="18" charset="0"/>
                <a:sym typeface="+mn-ea"/>
              </a:rPr>
              <a:t>Model Composition</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We first encode students, knowledge concepts and exercises into the same hidden space.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Then, we obtain the student knowledge mastery vector and exercise factor vectors in the knowledge space by the</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rPr>
              <a:t> multiply</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 product of their embedding representation vectors and knowledge embedding representation matrix. </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457200" indent="-457200">
              <a:spcBef>
                <a:spcPts val="600"/>
              </a:spcBef>
              <a:buFont typeface="+mj-ea"/>
              <a:buAutoNum type="circleNumDbPlain"/>
            </a:pP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Finally, we can use previous CDMs (such as neural cognitive diagnosis model (NCD) [31]) to model the interactions between the student and exercise parameters in the knowledge space for predicting student exercising performance.</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endParaRPr>
          </a:p>
          <a:p>
            <a:pPr marL="342900" indent="-342900">
              <a:spcBef>
                <a:spcPts val="600"/>
              </a:spcBef>
              <a:buFont typeface="Wingdings" panose="05000000000000000000" pitchFamily="2" charset="2"/>
              <a:buChar char="ü"/>
            </a:pPr>
            <a:r>
              <a:rPr lang="zh-CN" altLang="en-US" sz="2000" b="1" dirty="0">
                <a:solidFill>
                  <a:srgbClr val="C00000"/>
                </a:solidFill>
                <a:latin typeface="仿宋" panose="02010609060101010101" pitchFamily="49" charset="-122"/>
                <a:ea typeface="仿宋" panose="02010609060101010101" pitchFamily="49" charset="-122"/>
                <a:sym typeface="+mn-ea"/>
              </a:rPr>
              <a:t>模型组成</a:t>
            </a:r>
            <a:r>
              <a:rPr lang="zh-CN" altLang="en-US" sz="2000" dirty="0">
                <a:latin typeface="仿宋" panose="02010609060101010101" pitchFamily="49" charset="-122"/>
                <a:ea typeface="仿宋" panose="02010609060101010101" pitchFamily="49" charset="-122"/>
                <a:sym typeface="+mn-ea"/>
              </a:rPr>
              <a:t> </a:t>
            </a:r>
            <a:endParaRPr lang="en-US" altLang="zh-CN"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我们首先将学生、知识概念和练习编码到同一个隐藏空间中。</a:t>
            </a:r>
            <a:r>
              <a:rPr lang="en-US" altLang="zh-CN"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然后，通过嵌入表示向量与知识嵌入表示矩阵的</a:t>
            </a:r>
            <a:r>
              <a:rPr lang="zh-CN" altLang="en-US" sz="2000" b="1" dirty="0">
                <a:solidFill>
                  <a:srgbClr val="FF0000"/>
                </a:solidFill>
                <a:latin typeface="仿宋" panose="02010609060101010101" pitchFamily="49" charset="-122"/>
                <a:ea typeface="仿宋" panose="02010609060101010101" pitchFamily="49" charset="-122"/>
              </a:rPr>
              <a:t>乘积</a:t>
            </a:r>
            <a:r>
              <a:rPr lang="zh-CN" altLang="en-US" sz="2000" dirty="0">
                <a:latin typeface="仿宋" panose="02010609060101010101" pitchFamily="49" charset="-122"/>
                <a:ea typeface="仿宋" panose="02010609060101010101" pitchFamily="49" charset="-122"/>
              </a:rPr>
              <a:t>得到知识空间中的学生知识掌握向量和练习因子向量。</a:t>
            </a:r>
            <a:r>
              <a:rPr lang="en-US" altLang="zh-CN"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pPr marL="457200" indent="-457200">
              <a:spcBef>
                <a:spcPts val="600"/>
              </a:spcBef>
              <a:buFont typeface="+mj-ea"/>
              <a:buAutoNum type="circleNumDbPlain"/>
            </a:pPr>
            <a:r>
              <a:rPr lang="zh-CN" altLang="en-US" sz="2000" dirty="0">
                <a:latin typeface="仿宋" panose="02010609060101010101" pitchFamily="49" charset="-122"/>
                <a:ea typeface="仿宋" panose="02010609060101010101" pitchFamily="49" charset="-122"/>
              </a:rPr>
              <a:t>最后，我们可以使用以前的</a:t>
            </a:r>
            <a:r>
              <a:rPr lang="en-US" altLang="zh-CN" sz="2000" dirty="0">
                <a:latin typeface="仿宋" panose="02010609060101010101" pitchFamily="49" charset="-122"/>
                <a:ea typeface="仿宋" panose="02010609060101010101" pitchFamily="49" charset="-122"/>
              </a:rPr>
              <a:t>CDMs</a:t>
            </a:r>
            <a:r>
              <a:rPr lang="zh-CN" altLang="en-US" sz="2000" dirty="0">
                <a:latin typeface="仿宋" panose="02010609060101010101" pitchFamily="49" charset="-122"/>
                <a:ea typeface="仿宋" panose="02010609060101010101" pitchFamily="49" charset="-122"/>
              </a:rPr>
              <a:t>（如神经认知诊断模型（</a:t>
            </a:r>
            <a:r>
              <a:rPr lang="en-US" altLang="zh-CN" sz="2000" dirty="0">
                <a:latin typeface="仿宋" panose="02010609060101010101" pitchFamily="49" charset="-122"/>
                <a:ea typeface="仿宋" panose="02010609060101010101" pitchFamily="49" charset="-122"/>
              </a:rPr>
              <a:t>Neural-CD</a:t>
            </a:r>
            <a:r>
              <a:rPr lang="zh-CN" altLang="en-US" sz="2000" dirty="0">
                <a:latin typeface="仿宋" panose="02010609060101010101" pitchFamily="49" charset="-122"/>
                <a:ea typeface="仿宋" panose="02010609060101010101" pitchFamily="49" charset="-122"/>
              </a:rPr>
              <a:t>））在知识空间中对学生和习题参数之间的相互作用进行建模，以预测学生的运动表现。</a:t>
            </a:r>
            <a:r>
              <a:rPr lang="en-US" altLang="zh-CN" sz="2000" dirty="0">
                <a:latin typeface="仿宋" panose="02010609060101010101" pitchFamily="49" charset="-122"/>
                <a:ea typeface="仿宋" panose="02010609060101010101" pitchFamily="49" charset="-122"/>
              </a:rPr>
              <a:t> </a:t>
            </a:r>
            <a:endParaRPr lang="en-US" altLang="zh-CN" sz="2000" dirty="0">
              <a:latin typeface="仿宋" panose="02010609060101010101" pitchFamily="49" charset="-122"/>
              <a:ea typeface="仿宋" panose="02010609060101010101" pitchFamily="49" charset="-122"/>
            </a:endParaRPr>
          </a:p>
          <a:p>
            <a:pPr indent="0">
              <a:spcBef>
                <a:spcPts val="600"/>
              </a:spcBef>
              <a:buFont typeface="+mj-ea"/>
              <a:buNone/>
            </a:pPr>
            <a:endParaRPr lang="zh-CN" altLang="en-US" sz="2000" dirty="0">
              <a:latin typeface="仿宋" panose="02010609060101010101" pitchFamily="49" charset="-122"/>
              <a:ea typeface="仿宋" panose="02010609060101010101" pitchFamily="49"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215" y="422910"/>
            <a:ext cx="3748405" cy="460375"/>
          </a:xfrm>
          <a:prstGeom prst="rect">
            <a:avLst/>
          </a:prstGeom>
          <a:solidFill>
            <a:schemeClr val="bg1"/>
          </a:solidFill>
          <a:effectLst>
            <a:outerShdw blurRad="317500" dist="38100" dir="5400000" algn="t" rotWithShape="0">
              <a:prstClr val="black">
                <a:alpha val="40000"/>
              </a:prstClr>
            </a:outerShdw>
          </a:effectLst>
        </p:spPr>
        <p:txBody>
          <a:bodyPr wrap="square" rtlCol="0" anchor="t">
            <a:spAutoFit/>
          </a:bodyPr>
          <a:p>
            <a:r>
              <a:rPr lang="en-US" altLang="zh-CN" sz="2400" b="1" dirty="0">
                <a:latin typeface="Times New Roman" panose="02020603050405020304" pitchFamily="18" charset="0"/>
                <a:cs typeface="Times New Roman" panose="02020603050405020304" pitchFamily="18" charset="0"/>
              </a:rPr>
              <a:t>PROBLEM STATEMENT</a:t>
            </a:r>
            <a:endParaRPr lang="en-US" altLang="zh-CN" sz="24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323215" y="3809365"/>
            <a:ext cx="3748405" cy="460375"/>
          </a:xfrm>
          <a:prstGeom prst="rect">
            <a:avLst/>
          </a:prstGeom>
          <a:solidFill>
            <a:schemeClr val="bg1"/>
          </a:solidFill>
          <a:effectLst>
            <a:outerShdw blurRad="317500" dist="38100" dir="5400000" algn="t" rotWithShape="0">
              <a:prstClr val="black">
                <a:alpha val="40000"/>
              </a:prstClr>
            </a:outerShdw>
          </a:effectLst>
        </p:spPr>
        <p:txBody>
          <a:bodyPr wrap="square" rtlCol="0" anchor="t">
            <a:spAutoFit/>
          </a:bodyPr>
          <a:p>
            <a:r>
              <a:rPr lang="en-US" altLang="zh-CN" sz="2400" b="1" dirty="0">
                <a:latin typeface="Times New Roman" panose="02020603050405020304" pitchFamily="18" charset="0"/>
                <a:cs typeface="Times New Roman" panose="02020603050405020304" pitchFamily="18" charset="0"/>
              </a:rPr>
              <a:t>PROBLEM DEFINITION</a:t>
            </a:r>
            <a:endParaRPr lang="en-US" altLang="zh-CN" sz="2400" b="1"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4857750" y="317500"/>
            <a:ext cx="6654800" cy="6223000"/>
          </a:xfrm>
          <a:prstGeom prst="rect">
            <a:avLst/>
          </a:prstGeom>
        </p:spPr>
      </p:pic>
      <p:graphicFrame>
        <p:nvGraphicFramePr>
          <p:cNvPr id="10" name="表格 9"/>
          <p:cNvGraphicFramePr>
            <a:graphicFrameLocks noGrp="1"/>
          </p:cNvGraphicFramePr>
          <p:nvPr>
            <p:custDataLst>
              <p:tags r:id="rId2"/>
            </p:custDataLst>
          </p:nvPr>
        </p:nvGraphicFramePr>
        <p:xfrm>
          <a:off x="674370" y="1036320"/>
          <a:ext cx="3373755" cy="2495550"/>
        </p:xfrm>
        <a:graphic>
          <a:graphicData uri="http://schemas.openxmlformats.org/drawingml/2006/table">
            <a:tbl>
              <a:tblPr firstRow="1" bandRow="1">
                <a:tableStyleId>{5C22544A-7EE6-4342-B048-85BDC9FD1C3A}</a:tableStyleId>
              </a:tblPr>
              <a:tblGrid>
                <a:gridCol w="990600"/>
                <a:gridCol w="2383155"/>
              </a:tblGrid>
              <a:tr h="415925">
                <a:tc>
                  <a:txBody>
                    <a:bodyPr/>
                    <a:p>
                      <a:pPr algn="ctr"/>
                      <a:r>
                        <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N</a:t>
                      </a:r>
                      <a:r>
                        <a:rPr lang="zh-CN" altLang="en-US" sz="2000" b="0" i="0" dirty="0">
                          <a:solidFill>
                            <a:schemeClr val="accent5">
                              <a:lumMod val="75000"/>
                            </a:schemeClr>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altLang="en-US" sz="2000" dirty="0"/>
                    </a:p>
                  </a:txBody>
                  <a:tcPr anchor="ctr" anchorCt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学生数量</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r>
                        <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M</a:t>
                      </a:r>
                      <a:endPar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r>
                        <a:rPr lang="zh-CN"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试题数量</a:t>
                      </a:r>
                      <a:endParaRPr lang="zh-CN"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C</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知识点数量</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S</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学生集合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习题集合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K</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知识点集合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bl>
          </a:graphicData>
        </a:graphic>
      </p:graphicFrame>
      <mc:AlternateContent xmlns:mc="http://schemas.openxmlformats.org/markup-compatibility/2006">
        <mc:Choice xmlns:a14="http://schemas.microsoft.com/office/drawing/2010/main" Requires="a14">
          <p:sp>
            <p:nvSpPr>
              <p:cNvPr id="28" name="文本框 27"/>
              <p:cNvSpPr txBox="1"/>
              <p:nvPr/>
            </p:nvSpPr>
            <p:spPr>
              <a:xfrm>
                <a:off x="323215" y="4587240"/>
                <a:ext cx="4323080" cy="1701165"/>
              </a:xfrm>
              <a:prstGeom prst="rect">
                <a:avLst/>
              </a:prstGeom>
              <a:solidFill>
                <a:schemeClr val="accent1">
                  <a:lumMod val="20000"/>
                  <a:lumOff val="80000"/>
                </a:schemeClr>
              </a:solidFill>
            </p:spPr>
            <p:txBody>
              <a:bodyPr wrap="square">
                <a:noAutofit/>
              </a:bodyPr>
              <a:p>
                <a:pPr indent="457200" fontAlgn="auto"/>
                <a:r>
                  <a:rPr lang="zh-CN" altLang="en-US" sz="2000" b="1" i="0" dirty="0">
                    <a:solidFill>
                      <a:schemeClr val="accent1"/>
                    </a:solidFill>
                    <a:latin typeface="仿宋" panose="02010609060101010101" pitchFamily="49" charset="-122"/>
                    <a:ea typeface="仿宋" panose="02010609060101010101" pitchFamily="49" charset="-122"/>
                  </a:rPr>
                  <a:t>我们的目标是通过学生作答习题的表现获得</a:t>
                </a:r>
                <a14:m>
                  <m:oMath xmlns:m="http://schemas.openxmlformats.org/officeDocument/2006/math">
                    <m:sSub>
                      <m:sSub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𝜶</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𝒊</m:t>
                        </m:r>
                      </m:sub>
                    </m:sSub>
                  </m:oMath>
                </a14:m>
                <a:r>
                  <a:rPr lang="zh-CN" altLang="en-US" sz="2000" b="1" dirty="0">
                    <a:solidFill>
                      <a:schemeClr val="accent1"/>
                    </a:solidFill>
                    <a:latin typeface="仿宋" panose="02010609060101010101" pitchFamily="49" charset="-122"/>
                    <a:ea typeface="仿宋" panose="02010609060101010101" pitchFamily="49" charset="-122"/>
                  </a:rPr>
                  <a:t>（学生i的知识掌握程度）来预测</a:t>
                </a:r>
                <a14:m>
                  <m:oMath xmlns:m="http://schemas.openxmlformats.org/officeDocument/2006/math">
                    <m:r>
                      <a:rPr lang="zh-CN" altLang="en-US" sz="2000" b="1" dirty="0">
                        <a:solidFill>
                          <a:schemeClr val="accent1"/>
                        </a:solidFill>
                        <a:latin typeface="仿宋" panose="02010609060101010101" pitchFamily="49" charset="-122"/>
                        <a:ea typeface="仿宋" panose="02010609060101010101" pitchFamily="49" charset="-122"/>
                      </a:rPr>
                      <m:t>𝑃</m:t>
                    </m:r>
                    <m:r>
                      <a:rPr lang="zh-CN" altLang="en-US" sz="2000" b="1" dirty="0">
                        <a:solidFill>
                          <a:schemeClr val="accent1"/>
                        </a:solidFill>
                        <a:latin typeface="仿宋" panose="02010609060101010101" pitchFamily="49" charset="-122"/>
                        <a:ea typeface="仿宋" panose="02010609060101010101" pitchFamily="49" charset="-122"/>
                      </a:rPr>
                      <m:t>(</m:t>
                    </m:r>
                    <m:sSub>
                      <m:sSubPr>
                        <m:ctrlPr>
                          <a:rPr lang="zh-CN" altLang="en-US" sz="2000" b="1" dirty="0">
                            <a:solidFill>
                              <a:schemeClr val="accent1"/>
                            </a:solidFill>
                            <a:latin typeface="仿宋" panose="02010609060101010101" pitchFamily="49" charset="-122"/>
                            <a:ea typeface="仿宋" panose="02010609060101010101" pitchFamily="49" charset="-122"/>
                          </a:rPr>
                        </m:ctrlPr>
                      </m:sSubPr>
                      <m:e>
                        <m:r>
                          <a:rPr lang="zh-CN" altLang="en-US" sz="2000" b="1" dirty="0">
                            <a:solidFill>
                              <a:schemeClr val="accent1"/>
                            </a:solidFill>
                            <a:latin typeface="仿宋" panose="02010609060101010101" pitchFamily="49" charset="-122"/>
                            <a:ea typeface="仿宋" panose="02010609060101010101" pitchFamily="49" charset="-122"/>
                          </a:rPr>
                          <m:t>𝑟</m:t>
                        </m:r>
                      </m:e>
                      <m:sub>
                        <m:r>
                          <a:rPr lang="zh-CN" altLang="en-US" sz="2000" b="1" dirty="0">
                            <a:solidFill>
                              <a:schemeClr val="accent1"/>
                            </a:solidFill>
                            <a:latin typeface="仿宋" panose="02010609060101010101" pitchFamily="49" charset="-122"/>
                            <a:ea typeface="仿宋" panose="02010609060101010101" pitchFamily="49" charset="-122"/>
                          </a:rPr>
                          <m:t>𝑖𝑗</m:t>
                        </m:r>
                      </m:sub>
                    </m:sSub>
                    <m:r>
                      <a:rPr lang="zh-CN" altLang="en-US" sz="2000" b="1" dirty="0">
                        <a:solidFill>
                          <a:schemeClr val="accent1"/>
                        </a:solidFill>
                        <a:latin typeface="仿宋" panose="02010609060101010101" pitchFamily="49" charset="-122"/>
                        <a:ea typeface="仿宋" panose="02010609060101010101" pitchFamily="49" charset="-122"/>
                      </a:rPr>
                      <m:t>=</m:t>
                    </m:r>
                    <m:r>
                      <a:rPr lang="zh-CN" altLang="en-US" sz="2000" b="1" dirty="0">
                        <a:solidFill>
                          <a:schemeClr val="accent1"/>
                        </a:solidFill>
                        <a:latin typeface="仿宋" panose="02010609060101010101" pitchFamily="49" charset="-122"/>
                        <a:ea typeface="仿宋" panose="02010609060101010101" pitchFamily="49" charset="-122"/>
                      </a:rPr>
                      <m:t>1</m:t>
                    </m:r>
                    <m:r>
                      <a:rPr lang="zh-CN" altLang="en-US" sz="2000" b="1" dirty="0">
                        <a:solidFill>
                          <a:schemeClr val="accent1"/>
                        </a:solidFill>
                        <a:latin typeface="仿宋" panose="02010609060101010101" pitchFamily="49" charset="-122"/>
                        <a:ea typeface="仿宋" panose="02010609060101010101" pitchFamily="49" charset="-122"/>
                      </a:rPr>
                      <m:t>)=</m:t>
                    </m:r>
                    <m:r>
                      <a:rPr lang="zh-CN" altLang="en-US" sz="2000" b="1" dirty="0">
                        <a:solidFill>
                          <a:schemeClr val="accent1"/>
                        </a:solidFill>
                        <a:latin typeface="仿宋" panose="02010609060101010101" pitchFamily="49" charset="-122"/>
                        <a:ea typeface="仿宋" panose="02010609060101010101" pitchFamily="49" charset="-122"/>
                      </a:rPr>
                      <m:t>𝑓</m:t>
                    </m:r>
                    <m:r>
                      <a:rPr lang="zh-CN" altLang="en-US" sz="2000" b="1" dirty="0">
                        <a:solidFill>
                          <a:schemeClr val="accent1"/>
                        </a:solidFill>
                        <a:latin typeface="仿宋" panose="02010609060101010101" pitchFamily="49" charset="-122"/>
                        <a:ea typeface="仿宋" panose="02010609060101010101" pitchFamily="49" charset="-122"/>
                      </a:rPr>
                      <m:t>(</m:t>
                    </m:r>
                    <m:sSub>
                      <m:sSubPr>
                        <m:ctrlPr>
                          <a:rPr lang="zh-CN" altLang="en-US" sz="2000" b="1" dirty="0">
                            <a:solidFill>
                              <a:schemeClr val="accent1"/>
                            </a:solidFill>
                            <a:latin typeface="仿宋" panose="02010609060101010101" pitchFamily="49" charset="-122"/>
                            <a:ea typeface="仿宋" panose="02010609060101010101" pitchFamily="49" charset="-122"/>
                          </a:rPr>
                        </m:ctrlPr>
                      </m:sSubPr>
                      <m:e>
                        <m:r>
                          <a:rPr lang="zh-CN" altLang="en-US" sz="2000" b="1" dirty="0">
                            <a:solidFill>
                              <a:schemeClr val="accent1"/>
                            </a:solidFill>
                            <a:latin typeface="仿宋" panose="02010609060101010101" pitchFamily="49" charset="-122"/>
                            <a:ea typeface="仿宋" panose="02010609060101010101" pitchFamily="49" charset="-122"/>
                          </a:rPr>
                          <m:t>𝜶</m:t>
                        </m:r>
                      </m:e>
                      <m:sub>
                        <m:r>
                          <a:rPr lang="zh-CN" altLang="en-US" sz="2000" b="1" dirty="0">
                            <a:solidFill>
                              <a:schemeClr val="accent1"/>
                            </a:solidFill>
                            <a:latin typeface="仿宋" panose="02010609060101010101" pitchFamily="49" charset="-122"/>
                            <a:ea typeface="仿宋" panose="02010609060101010101" pitchFamily="49" charset="-122"/>
                          </a:rPr>
                          <m:t>𝒊</m:t>
                        </m:r>
                      </m:sub>
                    </m:sSub>
                    <m:r>
                      <a:rPr lang="zh-CN" altLang="en-US" sz="2000" b="1" dirty="0">
                        <a:solidFill>
                          <a:schemeClr val="accent1"/>
                        </a:solidFill>
                        <a:latin typeface="仿宋" panose="02010609060101010101" pitchFamily="49" charset="-122"/>
                        <a:ea typeface="仿宋" panose="02010609060101010101" pitchFamily="49" charset="-122"/>
                      </a:rPr>
                      <m:t>,</m:t>
                    </m:r>
                    <m:sSub>
                      <m:sSubPr>
                        <m:ctrlPr>
                          <a:rPr lang="zh-CN" altLang="en-US" sz="2000" b="1" dirty="0">
                            <a:solidFill>
                              <a:schemeClr val="accent1"/>
                            </a:solidFill>
                            <a:latin typeface="仿宋" panose="02010609060101010101" pitchFamily="49" charset="-122"/>
                            <a:ea typeface="仿宋" panose="02010609060101010101" pitchFamily="49" charset="-122"/>
                          </a:rPr>
                        </m:ctrlPr>
                      </m:sSubPr>
                      <m:e>
                        <m:r>
                          <a:rPr lang="zh-CN" altLang="en-US" sz="2000" b="1" dirty="0">
                            <a:solidFill>
                              <a:schemeClr val="accent1"/>
                            </a:solidFill>
                            <a:latin typeface="仿宋" panose="02010609060101010101" pitchFamily="49" charset="-122"/>
                            <a:ea typeface="仿宋" panose="02010609060101010101" pitchFamily="49" charset="-122"/>
                          </a:rPr>
                          <m:t>𝜱</m:t>
                        </m:r>
                      </m:e>
                      <m:sub>
                        <m:r>
                          <a:rPr lang="zh-CN" altLang="en-US" sz="2000" b="1" dirty="0">
                            <a:solidFill>
                              <a:schemeClr val="accent1"/>
                            </a:solidFill>
                            <a:latin typeface="仿宋" panose="02010609060101010101" pitchFamily="49" charset="-122"/>
                            <a:ea typeface="仿宋" panose="02010609060101010101" pitchFamily="49" charset="-122"/>
                          </a:rPr>
                          <m:t>𝒋</m:t>
                        </m:r>
                      </m:sub>
                    </m:sSub>
                    <m:r>
                      <a:rPr lang="zh-CN" altLang="en-US" sz="2000" b="1" dirty="0">
                        <a:solidFill>
                          <a:schemeClr val="accent1"/>
                        </a:solidFill>
                        <a:latin typeface="仿宋" panose="02010609060101010101" pitchFamily="49" charset="-122"/>
                        <a:ea typeface="仿宋" panose="02010609060101010101" pitchFamily="49" charset="-122"/>
                      </a:rPr>
                      <m:t>)</m:t>
                    </m:r>
                  </m:oMath>
                </a14:m>
                <a:r>
                  <a:rPr lang="zh-CN" altLang="en-US" sz="2000" b="1" dirty="0">
                    <a:solidFill>
                      <a:schemeClr val="accent1"/>
                    </a:solidFill>
                    <a:latin typeface="仿宋" panose="02010609060101010101" pitchFamily="49" charset="-122"/>
                    <a:ea typeface="仿宋" panose="02010609060101010101" pitchFamily="49" charset="-122"/>
                  </a:rPr>
                  <a:t>,其中</a:t>
                </a:r>
                <a14:m>
                  <m:oMath xmlns:m="http://schemas.openxmlformats.org/officeDocument/2006/math">
                    <m:sSub>
                      <m:sSubPr>
                        <m:ctrlPr>
                          <a:rPr lang="zh-CN" altLang="en-US" sz="2000" b="1" dirty="0">
                            <a:solidFill>
                              <a:schemeClr val="accent1"/>
                            </a:solidFill>
                            <a:latin typeface="仿宋" panose="02010609060101010101" pitchFamily="49" charset="-122"/>
                            <a:ea typeface="仿宋" panose="02010609060101010101" pitchFamily="49" charset="-122"/>
                          </a:rPr>
                        </m:ctrlPr>
                      </m:sSubPr>
                      <m:e>
                        <m:r>
                          <a:rPr lang="zh-CN" altLang="en-US" sz="2000" b="1" dirty="0">
                            <a:solidFill>
                              <a:schemeClr val="accent1"/>
                            </a:solidFill>
                            <a:latin typeface="仿宋" panose="02010609060101010101" pitchFamily="49" charset="-122"/>
                            <a:ea typeface="仿宋" panose="02010609060101010101" pitchFamily="49" charset="-122"/>
                          </a:rPr>
                          <m:t>𝜱</m:t>
                        </m:r>
                      </m:e>
                      <m:sub>
                        <m:r>
                          <a:rPr lang="zh-CN" altLang="en-US" sz="2000" b="1" dirty="0">
                            <a:solidFill>
                              <a:schemeClr val="accent1"/>
                            </a:solidFill>
                            <a:latin typeface="仿宋" panose="02010609060101010101" pitchFamily="49" charset="-122"/>
                            <a:ea typeface="仿宋" panose="02010609060101010101" pitchFamily="49" charset="-122"/>
                          </a:rPr>
                          <m:t>𝒋</m:t>
                        </m:r>
                      </m:sub>
                    </m:sSub>
                  </m:oMath>
                </a14:m>
                <a:r>
                  <a:rPr lang="zh-CN" altLang="en-US" sz="2000" b="1" dirty="0">
                    <a:solidFill>
                      <a:schemeClr val="accent1"/>
                    </a:solidFill>
                    <a:latin typeface="仿宋" panose="02010609060101010101" pitchFamily="49" charset="-122"/>
                    <a:ea typeface="仿宋" panose="02010609060101010101" pitchFamily="49" charset="-122"/>
                  </a:rPr>
                  <a:t>是习题</a:t>
                </a:r>
                <a14:m>
                  <m:oMath xmlns:m="http://schemas.openxmlformats.org/officeDocument/2006/math">
                    <m:sSub>
                      <m:sSubPr>
                        <m:ctrlPr>
                          <a:rPr lang="zh-CN" altLang="en-US" sz="2000" b="1" dirty="0">
                            <a:solidFill>
                              <a:schemeClr val="accent1"/>
                            </a:solidFill>
                            <a:latin typeface="仿宋" panose="02010609060101010101" pitchFamily="49" charset="-122"/>
                            <a:ea typeface="仿宋" panose="02010609060101010101" pitchFamily="49" charset="-122"/>
                          </a:rPr>
                        </m:ctrlPr>
                      </m:sSubPr>
                      <m:e>
                        <m:r>
                          <a:rPr lang="zh-CN" altLang="en-US" sz="2000" b="1" dirty="0">
                            <a:solidFill>
                              <a:schemeClr val="accent1"/>
                            </a:solidFill>
                            <a:latin typeface="仿宋" panose="02010609060101010101" pitchFamily="49" charset="-122"/>
                            <a:ea typeface="仿宋" panose="02010609060101010101" pitchFamily="49" charset="-122"/>
                          </a:rPr>
                          <m:t>𝑒</m:t>
                        </m:r>
                      </m:e>
                      <m:sub>
                        <m:r>
                          <a:rPr lang="zh-CN" altLang="en-US" sz="2000" b="1" dirty="0">
                            <a:solidFill>
                              <a:schemeClr val="accent1"/>
                            </a:solidFill>
                            <a:latin typeface="仿宋" panose="02010609060101010101" pitchFamily="49" charset="-122"/>
                            <a:ea typeface="仿宋" panose="02010609060101010101" pitchFamily="49" charset="-122"/>
                          </a:rPr>
                          <m:t>𝑗</m:t>
                        </m:r>
                      </m:sub>
                    </m:sSub>
                  </m:oMath>
                </a14:m>
                <a:r>
                  <a:rPr lang="zh-CN" altLang="en-US" sz="2000" b="1" dirty="0">
                    <a:solidFill>
                      <a:schemeClr val="accent1"/>
                    </a:solidFill>
                    <a:latin typeface="仿宋" panose="02010609060101010101" pitchFamily="49" charset="-122"/>
                    <a:ea typeface="仿宋" panose="02010609060101010101" pitchFamily="49" charset="-122"/>
                  </a:rPr>
                  <a:t>的参数（包含习题的知识点难度和习题区分度）</a:t>
                </a:r>
                <a:endParaRPr lang="zh-CN" altLang="en-US" sz="2000" dirty="0">
                  <a:solidFill>
                    <a:schemeClr val="accent1"/>
                  </a:solidFill>
                  <a:latin typeface="Cambria Math" panose="02040503050406030204" charset="0"/>
                  <a:ea typeface="仿宋" panose="02010609060101010101" pitchFamily="49" charset="-122"/>
                  <a:cs typeface="Cambria Math" panose="02040503050406030204"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323215" y="4587240"/>
                <a:ext cx="4323080" cy="1701165"/>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75945" y="555625"/>
            <a:ext cx="5791200" cy="5746750"/>
          </a:xfrm>
          <a:prstGeom prst="rect">
            <a:avLst/>
          </a:prstGeom>
        </p:spPr>
      </p:pic>
      <p:sp>
        <p:nvSpPr>
          <p:cNvPr id="7" name="文本框 6"/>
          <p:cNvSpPr txBox="1"/>
          <p:nvPr>
            <p:custDataLst>
              <p:tags r:id="rId2"/>
            </p:custDataLst>
          </p:nvPr>
        </p:nvSpPr>
        <p:spPr>
          <a:xfrm>
            <a:off x="6367145" y="5108575"/>
            <a:ext cx="1749425"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嵌入模块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6" name="文本框 5"/>
          <p:cNvSpPr txBox="1"/>
          <p:nvPr>
            <p:custDataLst>
              <p:tags r:id="rId3"/>
            </p:custDataLst>
          </p:nvPr>
        </p:nvSpPr>
        <p:spPr>
          <a:xfrm>
            <a:off x="6367145" y="3529965"/>
            <a:ext cx="2434590"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知识感知表示模块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8" name="文本框 7"/>
          <p:cNvSpPr txBox="1"/>
          <p:nvPr>
            <p:custDataLst>
              <p:tags r:id="rId4"/>
            </p:custDataLst>
          </p:nvPr>
        </p:nvSpPr>
        <p:spPr>
          <a:xfrm>
            <a:off x="6367145" y="2056130"/>
            <a:ext cx="2434590"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学生</a:t>
            </a:r>
            <a:r>
              <a:rPr lang="en-US" altLang="zh-CN" sz="2000" b="1" dirty="0">
                <a:solidFill>
                  <a:srgbClr val="FF0000"/>
                </a:solidFill>
                <a:latin typeface="仿宋" panose="02010609060101010101" pitchFamily="49" charset="-122"/>
                <a:ea typeface="仿宋" panose="02010609060101010101" pitchFamily="49" charset="-122"/>
              </a:rPr>
              <a:t>-</a:t>
            </a:r>
            <a:r>
              <a:rPr lang="zh-CN" altLang="en-US" sz="2000" b="1" dirty="0">
                <a:solidFill>
                  <a:srgbClr val="FF0000"/>
                </a:solidFill>
                <a:latin typeface="仿宋" panose="02010609060101010101" pitchFamily="49" charset="-122"/>
                <a:ea typeface="仿宋" panose="02010609060101010101" pitchFamily="49" charset="-122"/>
              </a:rPr>
              <a:t>习题交互模块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3" name="文本框 2"/>
          <p:cNvSpPr txBox="1"/>
          <p:nvPr/>
        </p:nvSpPr>
        <p:spPr>
          <a:xfrm>
            <a:off x="8359140" y="460375"/>
            <a:ext cx="2581910" cy="460375"/>
          </a:xfrm>
          <a:prstGeom prst="rect">
            <a:avLst/>
          </a:prstGeom>
          <a:solidFill>
            <a:schemeClr val="bg1"/>
          </a:solidFill>
          <a:effectLst>
            <a:outerShdw blurRad="317500" dist="38100" dir="5400000" algn="t" rotWithShape="0">
              <a:prstClr val="black">
                <a:alpha val="40000"/>
              </a:prstClr>
            </a:outerShdw>
          </a:effectLst>
        </p:spPr>
        <p:txBody>
          <a:bodyPr wrap="square" rtlCol="0" anchor="t">
            <a:spAutoFit/>
          </a:bodyPr>
          <a:p>
            <a:pPr algn="ctr"/>
            <a:r>
              <a:rPr lang="zh-CN" altLang="en-US" sz="2400" b="1">
                <a:latin typeface="思源宋体 CN Heavy" panose="02020900000000000000" charset="-122"/>
                <a:ea typeface="思源宋体 CN Heavy" panose="02020900000000000000" charset="-122"/>
              </a:rPr>
              <a:t>KSCD框架</a:t>
            </a:r>
            <a:endParaRPr lang="zh-CN" altLang="en-US" sz="2400" b="1">
              <a:latin typeface="思源宋体 CN Heavy" panose="02020900000000000000" charset="-122"/>
              <a:ea typeface="思源宋体 CN Heavy" panose="02020900000000000000" charset="-122"/>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6015355" y="845820"/>
            <a:ext cx="6089650" cy="4927600"/>
          </a:xfrm>
          <a:prstGeom prst="rect">
            <a:avLst/>
          </a:prstGeom>
        </p:spPr>
      </p:pic>
      <p:pic>
        <p:nvPicPr>
          <p:cNvPr id="3" name="图片 2"/>
          <p:cNvPicPr>
            <a:picLocks noChangeAspect="1"/>
          </p:cNvPicPr>
          <p:nvPr/>
        </p:nvPicPr>
        <p:blipFill>
          <a:blip r:embed="rId2"/>
          <a:stretch>
            <a:fillRect/>
          </a:stretch>
        </p:blipFill>
        <p:spPr>
          <a:xfrm>
            <a:off x="224155" y="3766820"/>
            <a:ext cx="5753100" cy="2006600"/>
          </a:xfrm>
          <a:prstGeom prst="rect">
            <a:avLst/>
          </a:prstGeom>
        </p:spPr>
      </p:pic>
      <p:sp>
        <p:nvSpPr>
          <p:cNvPr id="11" name="对话气泡: 圆角矩形 10"/>
          <p:cNvSpPr/>
          <p:nvPr/>
        </p:nvSpPr>
        <p:spPr>
          <a:xfrm>
            <a:off x="6756400" y="1310640"/>
            <a:ext cx="1607820" cy="913130"/>
          </a:xfrm>
          <a:prstGeom prst="wedgeRoundRectCallout">
            <a:avLst>
              <a:gd name="adj1" fmla="val 16587"/>
              <a:gd name="adj2" fmla="val 9394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学生</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s</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i</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one-hot</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编码</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对话气泡: 圆角矩形 10"/>
          <p:cNvSpPr/>
          <p:nvPr/>
        </p:nvSpPr>
        <p:spPr>
          <a:xfrm>
            <a:off x="8448040" y="1286510"/>
            <a:ext cx="1560830" cy="937260"/>
          </a:xfrm>
          <a:prstGeom prst="wedgeRoundRectCallout">
            <a:avLst>
              <a:gd name="adj1" fmla="val -16761"/>
              <a:gd name="adj2" fmla="val 97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习题</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one-hot</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mn-ea"/>
              </a:rPr>
              <a:t>编码</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对话气泡: 圆角矩形 10"/>
          <p:cNvSpPr/>
          <p:nvPr/>
        </p:nvSpPr>
        <p:spPr>
          <a:xfrm flipH="1">
            <a:off x="10083800" y="1286510"/>
            <a:ext cx="1576070" cy="937260"/>
          </a:xfrm>
          <a:prstGeom prst="wedgeRoundRectCallout">
            <a:avLst>
              <a:gd name="adj1" fmla="val 36140"/>
              <a:gd name="adj2" fmla="val 9126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知识点</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k</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c</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的</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one-hot</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mn-ea"/>
              </a:rPr>
              <a:t>编码</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6645275" y="3088640"/>
            <a:ext cx="1104265" cy="41084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6015355" y="3696970"/>
            <a:ext cx="986790" cy="41084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对话气泡: 圆角矩形 6"/>
          <p:cNvSpPr/>
          <p:nvPr>
            <p:custDataLst>
              <p:tags r:id="rId3"/>
            </p:custDataLst>
          </p:nvPr>
        </p:nvSpPr>
        <p:spPr>
          <a:xfrm>
            <a:off x="1320955" y="4273574"/>
            <a:ext cx="733790" cy="296386"/>
          </a:xfrm>
          <a:prstGeom prst="wedgeRoundRectCallout">
            <a:avLst>
              <a:gd name="adj1" fmla="val -26965"/>
              <a:gd name="adj2" fmla="val 77757"/>
              <a:gd name="adj3" fmla="val 1666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3" name="对话气泡: 圆角矩形 6"/>
          <p:cNvSpPr/>
          <p:nvPr>
            <p:custDataLst>
              <p:tags r:id="rId4"/>
            </p:custDataLst>
          </p:nvPr>
        </p:nvSpPr>
        <p:spPr>
          <a:xfrm>
            <a:off x="4227830" y="4273550"/>
            <a:ext cx="772795" cy="296545"/>
          </a:xfrm>
          <a:prstGeom prst="wedgeRoundRectCallout">
            <a:avLst>
              <a:gd name="adj1" fmla="val -26965"/>
              <a:gd name="adj2" fmla="val 77757"/>
              <a:gd name="adj3" fmla="val 1666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4" name="对话气泡: 圆角矩形 6"/>
          <p:cNvSpPr/>
          <p:nvPr>
            <p:custDataLst>
              <p:tags r:id="rId5"/>
            </p:custDataLst>
          </p:nvPr>
        </p:nvSpPr>
        <p:spPr>
          <a:xfrm>
            <a:off x="2620010" y="4273550"/>
            <a:ext cx="772795" cy="296545"/>
          </a:xfrm>
          <a:prstGeom prst="wedgeRoundRectCallout">
            <a:avLst>
              <a:gd name="adj1" fmla="val -36195"/>
              <a:gd name="adj2" fmla="val 83190"/>
              <a:gd name="adj3" fmla="val 1666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5" name="文本框 14"/>
          <p:cNvSpPr txBox="1"/>
          <p:nvPr>
            <p:custDataLst>
              <p:tags r:id="rId6"/>
            </p:custDataLst>
          </p:nvPr>
        </p:nvSpPr>
        <p:spPr>
          <a:xfrm>
            <a:off x="6015355" y="5763895"/>
            <a:ext cx="6015990" cy="677545"/>
          </a:xfrm>
          <a:prstGeom prst="rect">
            <a:avLst/>
          </a:prstGeom>
          <a:solidFill>
            <a:schemeClr val="accent1">
              <a:lumMod val="20000"/>
              <a:lumOff val="80000"/>
            </a:schemeClr>
          </a:solidFill>
        </p:spPr>
        <p:txBody>
          <a:bodyPr wrap="square" rtlCol="0">
            <a:noAutofit/>
          </a:bodyPr>
          <a:p>
            <a:pPr indent="457200" algn="just" fontAlgn="auto"/>
            <a:r>
              <a:rPr lang="zh-CN" altLang="en-US" sz="2000" b="1" dirty="0">
                <a:solidFill>
                  <a:schemeClr val="accent1"/>
                </a:solidFill>
                <a:latin typeface="仿宋" panose="02010609060101010101" pitchFamily="49" charset="-122"/>
                <a:ea typeface="仿宋" panose="02010609060101010101" pitchFamily="49" charset="-122"/>
              </a:rPr>
              <a:t>每一个知识点都能用一个</a:t>
            </a:r>
            <a:r>
              <a:rPr lang="en-US" altLang="zh-CN" sz="2000" b="1" dirty="0">
                <a:solidFill>
                  <a:schemeClr val="accent1"/>
                </a:solidFill>
                <a:latin typeface="仿宋" panose="02010609060101010101" pitchFamily="49" charset="-122"/>
                <a:ea typeface="仿宋" panose="02010609060101010101" pitchFamily="49" charset="-122"/>
              </a:rPr>
              <a:t>d</a:t>
            </a:r>
            <a:r>
              <a:rPr lang="zh-CN" altLang="en-US" sz="2000" b="1" dirty="0">
                <a:solidFill>
                  <a:schemeClr val="accent1"/>
                </a:solidFill>
                <a:latin typeface="仿宋" panose="02010609060101010101" pitchFamily="49" charset="-122"/>
                <a:ea typeface="仿宋" panose="02010609060101010101" pitchFamily="49" charset="-122"/>
              </a:rPr>
              <a:t>维向量表示，所以我们可以用矩阵</a:t>
            </a:r>
            <a:r>
              <a:rPr lang="en-US" altLang="zh-CN" sz="2000" b="1" dirty="0">
                <a:solidFill>
                  <a:schemeClr val="accent1"/>
                </a:solidFill>
                <a:latin typeface="仿宋" panose="02010609060101010101" pitchFamily="49" charset="-122"/>
                <a:ea typeface="仿宋" panose="02010609060101010101" pitchFamily="49" charset="-122"/>
              </a:rPr>
              <a:t>h</a:t>
            </a:r>
            <a:r>
              <a:rPr lang="en-US" altLang="zh-CN" sz="2000" b="1" baseline="30000" dirty="0">
                <a:solidFill>
                  <a:schemeClr val="accent1"/>
                </a:solidFill>
                <a:latin typeface="仿宋" panose="02010609060101010101" pitchFamily="49" charset="-122"/>
                <a:ea typeface="仿宋" panose="02010609060101010101" pitchFamily="49" charset="-122"/>
              </a:rPr>
              <a:t>K</a:t>
            </a:r>
            <a:r>
              <a:rPr lang="en-US" altLang="zh-CN" sz="2000" b="1" dirty="0">
                <a:solidFill>
                  <a:schemeClr val="accent1"/>
                </a:solidFill>
                <a:latin typeface="仿宋" panose="02010609060101010101" pitchFamily="49" charset="-122"/>
                <a:ea typeface="仿宋" panose="02010609060101010101" pitchFamily="49" charset="-122"/>
              </a:rPr>
              <a:t>∈</a:t>
            </a:r>
            <a:r>
              <a:rPr lang="en-US" altLang="zh-CN" sz="2000" b="1" dirty="0">
                <a:solidFill>
                  <a:schemeClr val="accent1"/>
                </a:solidFill>
                <a:latin typeface="Castellar" panose="020A0402060406010301" charset="0"/>
                <a:ea typeface="华文中宋" panose="02010600040101010101" charset="-122"/>
                <a:cs typeface="Castellar" panose="020A0402060406010301" charset="0"/>
              </a:rPr>
              <a:t>R</a:t>
            </a:r>
            <a:r>
              <a:rPr lang="en-US" altLang="zh-CN" sz="2000" b="1" baseline="30000" dirty="0">
                <a:solidFill>
                  <a:schemeClr val="accent1"/>
                </a:solidFill>
                <a:latin typeface="仿宋" panose="02010609060101010101" pitchFamily="49" charset="-122"/>
                <a:ea typeface="仿宋" panose="02010609060101010101" pitchFamily="49" charset="-122"/>
              </a:rPr>
              <a:t>C</a:t>
            </a:r>
            <a:r>
              <a:rPr lang="zh-CN" altLang="en-US" sz="2000" b="1" baseline="30000" dirty="0">
                <a:solidFill>
                  <a:schemeClr val="accent1"/>
                </a:solidFill>
                <a:latin typeface="仿宋" panose="02010609060101010101" pitchFamily="49" charset="-122"/>
                <a:ea typeface="仿宋" panose="02010609060101010101" pitchFamily="49" charset="-122"/>
              </a:rPr>
              <a:t>×</a:t>
            </a:r>
            <a:r>
              <a:rPr lang="en-US" altLang="zh-CN" sz="2000" b="1" baseline="30000" dirty="0">
                <a:solidFill>
                  <a:schemeClr val="accent1"/>
                </a:solidFill>
                <a:latin typeface="仿宋" panose="02010609060101010101" pitchFamily="49" charset="-122"/>
                <a:ea typeface="仿宋" panose="02010609060101010101" pitchFamily="49" charset="-122"/>
              </a:rPr>
              <a:t>d</a:t>
            </a:r>
            <a:r>
              <a:rPr lang="zh-CN" altLang="en-US" sz="2000" b="1" dirty="0">
                <a:solidFill>
                  <a:schemeClr val="accent1"/>
                </a:solidFill>
                <a:latin typeface="仿宋" panose="02010609060101010101" pitchFamily="49" charset="-122"/>
                <a:ea typeface="仿宋" panose="02010609060101010101" pitchFamily="49" charset="-122"/>
              </a:rPr>
              <a:t>表示知识点集合</a:t>
            </a:r>
            <a:r>
              <a:rPr lang="en-US" altLang="zh-CN" sz="2000" b="1" dirty="0">
                <a:solidFill>
                  <a:schemeClr val="accent1"/>
                </a:solidFill>
                <a:latin typeface="Castellar" panose="020A0402060406010301" charset="0"/>
                <a:ea typeface="华文中宋" panose="02010600040101010101" charset="-122"/>
                <a:cs typeface="Castellar" panose="020A0402060406010301" charset="0"/>
              </a:rPr>
              <a:t>K</a:t>
            </a:r>
            <a:endParaRPr lang="en-US" altLang="zh-CN" sz="2000" b="1" dirty="0">
              <a:solidFill>
                <a:schemeClr val="accent1"/>
              </a:solidFill>
              <a:latin typeface="Castellar" panose="020A0402060406010301" charset="0"/>
              <a:ea typeface="华文中宋" panose="02010600040101010101" charset="-122"/>
              <a:cs typeface="Castellar" panose="020A0402060406010301" charset="0"/>
            </a:endParaRPr>
          </a:p>
        </p:txBody>
      </p:sp>
      <p:sp>
        <p:nvSpPr>
          <p:cNvPr id="7" name="文本框 6"/>
          <p:cNvSpPr txBox="1"/>
          <p:nvPr>
            <p:custDataLst>
              <p:tags r:id="rId7"/>
            </p:custDataLst>
          </p:nvPr>
        </p:nvSpPr>
        <p:spPr>
          <a:xfrm>
            <a:off x="4197350" y="5268595"/>
            <a:ext cx="1749425"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嵌入模块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18" name="对话气泡: 圆角矩形 6"/>
          <p:cNvSpPr/>
          <p:nvPr/>
        </p:nvSpPr>
        <p:spPr>
          <a:xfrm>
            <a:off x="3285490" y="5386070"/>
            <a:ext cx="772795" cy="296545"/>
          </a:xfrm>
          <a:prstGeom prst="wedgeRoundRectCallout">
            <a:avLst>
              <a:gd name="adj1" fmla="val -58627"/>
              <a:gd name="adj2" fmla="val -187901"/>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0" name="对话气泡: 圆角矩形 6"/>
          <p:cNvSpPr/>
          <p:nvPr/>
        </p:nvSpPr>
        <p:spPr>
          <a:xfrm>
            <a:off x="1084580" y="5332095"/>
            <a:ext cx="772795" cy="296545"/>
          </a:xfrm>
          <a:prstGeom prst="wedgeRoundRectCallout">
            <a:avLst>
              <a:gd name="adj1" fmla="val 5710"/>
              <a:gd name="adj2" fmla="val -92184"/>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1" name="对话气泡: 圆角矩形 6"/>
          <p:cNvSpPr/>
          <p:nvPr>
            <p:custDataLst>
              <p:tags r:id="rId8"/>
            </p:custDataLst>
          </p:nvPr>
        </p:nvSpPr>
        <p:spPr>
          <a:xfrm>
            <a:off x="517045" y="3635399"/>
            <a:ext cx="733790" cy="296386"/>
          </a:xfrm>
          <a:prstGeom prst="wedgeRoundRectCallout">
            <a:avLst>
              <a:gd name="adj1" fmla="val -26965"/>
              <a:gd name="adj2" fmla="val 77757"/>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2" name="对话气泡: 圆角矩形 6"/>
          <p:cNvSpPr/>
          <p:nvPr>
            <p:custDataLst>
              <p:tags r:id="rId9"/>
            </p:custDataLst>
          </p:nvPr>
        </p:nvSpPr>
        <p:spPr>
          <a:xfrm>
            <a:off x="2474115" y="3406164"/>
            <a:ext cx="733790" cy="296386"/>
          </a:xfrm>
          <a:prstGeom prst="wedgeRoundRectCallout">
            <a:avLst>
              <a:gd name="adj1" fmla="val 17045"/>
              <a:gd name="adj2" fmla="val 120533"/>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3" name="对话气泡: 圆角矩形 6"/>
          <p:cNvSpPr/>
          <p:nvPr>
            <p:custDataLst>
              <p:tags r:id="rId10"/>
            </p:custDataLst>
          </p:nvPr>
        </p:nvSpPr>
        <p:spPr>
          <a:xfrm>
            <a:off x="3827300" y="3564914"/>
            <a:ext cx="733790" cy="296386"/>
          </a:xfrm>
          <a:prstGeom prst="wedgeRoundRectCallout">
            <a:avLst>
              <a:gd name="adj1" fmla="val -32367"/>
              <a:gd name="adj2" fmla="val 109820"/>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5" name="矩形 24"/>
          <p:cNvSpPr/>
          <p:nvPr/>
        </p:nvSpPr>
        <p:spPr>
          <a:xfrm>
            <a:off x="7322820" y="4364355"/>
            <a:ext cx="2169160" cy="33210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29" name="表格 28"/>
          <p:cNvGraphicFramePr>
            <a:graphicFrameLocks noGrp="1"/>
          </p:cNvGraphicFramePr>
          <p:nvPr>
            <p:custDataLst>
              <p:tags r:id="rId11"/>
            </p:custDataLst>
          </p:nvPr>
        </p:nvGraphicFramePr>
        <p:xfrm>
          <a:off x="1414145" y="845820"/>
          <a:ext cx="3373755" cy="2495550"/>
        </p:xfrm>
        <a:graphic>
          <a:graphicData uri="http://schemas.openxmlformats.org/drawingml/2006/table">
            <a:tbl>
              <a:tblPr firstRow="1" bandRow="1">
                <a:tableStyleId>{5C22544A-7EE6-4342-B048-85BDC9FD1C3A}</a:tableStyleId>
              </a:tblPr>
              <a:tblGrid>
                <a:gridCol w="990600"/>
                <a:gridCol w="2383155"/>
              </a:tblGrid>
              <a:tr h="415925">
                <a:tc>
                  <a:txBody>
                    <a:bodyPr/>
                    <a:p>
                      <a:pPr algn="ctr"/>
                      <a:r>
                        <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N</a:t>
                      </a:r>
                      <a:r>
                        <a:rPr lang="zh-CN" altLang="en-US" sz="2000" b="0" i="0" dirty="0">
                          <a:solidFill>
                            <a:schemeClr val="accent5">
                              <a:lumMod val="75000"/>
                            </a:schemeClr>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altLang="en-US" sz="2000" dirty="0"/>
                    </a:p>
                  </a:txBody>
                  <a:tcPr anchor="ctr" anchorCt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学生数量</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r>
                        <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M</a:t>
                      </a:r>
                      <a:endParaRPr 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r>
                        <a:rPr lang="zh-CN"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试题数量</a:t>
                      </a:r>
                      <a:endParaRPr lang="zh-CN"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C</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知识点数量</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S</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学生集合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习题集合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r h="415925">
                <a:tc>
                  <a:txBody>
                    <a:bodyPr/>
                    <a:p>
                      <a:pPr algn="ctr">
                        <a:buNone/>
                      </a:pPr>
                      <a:r>
                        <a:rPr lang="zh-CN" altLang="en-US"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集合</a:t>
                      </a:r>
                      <a:r>
                        <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K</a:t>
                      </a:r>
                      <a:endParaRPr lang="en-US" altLang="zh-CN" sz="2000" b="1"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p>
                      <a:pPr algn="ctr">
                        <a:buNone/>
                      </a:pPr>
                      <a:r>
                        <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rPr>
                        <a:t>知识点集合</a:t>
                      </a:r>
                      <a:endParaRPr lang="zh-CN" altLang="en-US" sz="2000" b="0" i="0" dirty="0">
                        <a:solidFill>
                          <a:schemeClr val="accen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anchorCt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r>
            </a:tbl>
          </a:graphicData>
        </a:graphic>
      </p:graphicFrame>
      <p:sp>
        <p:nvSpPr>
          <p:cNvPr id="30" name="矩形 29"/>
          <p:cNvSpPr/>
          <p:nvPr/>
        </p:nvSpPr>
        <p:spPr>
          <a:xfrm>
            <a:off x="6015355" y="4936490"/>
            <a:ext cx="6015990" cy="150558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对话气泡: 圆角矩形 6"/>
          <p:cNvSpPr/>
          <p:nvPr/>
        </p:nvSpPr>
        <p:spPr>
          <a:xfrm>
            <a:off x="5373370" y="4972050"/>
            <a:ext cx="772795" cy="296545"/>
          </a:xfrm>
          <a:prstGeom prst="wedgeRoundRectCallout">
            <a:avLst>
              <a:gd name="adj1" fmla="val -87140"/>
              <a:gd name="adj2" fmla="val 8886"/>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1" name="对话气泡: 圆角矩形 10"/>
          <p:cNvSpPr/>
          <p:nvPr/>
        </p:nvSpPr>
        <p:spPr>
          <a:xfrm>
            <a:off x="7463155" y="3824605"/>
            <a:ext cx="2971800" cy="338455"/>
          </a:xfrm>
          <a:prstGeom prst="wedgeRoundRectCallout">
            <a:avLst>
              <a:gd name="adj1" fmla="val -16761"/>
              <a:gd name="adj2" fmla="val 97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2000" b="1" dirty="0">
                <a:solidFill>
                  <a:schemeClr val="bg1"/>
                </a:solidFill>
                <a:latin typeface="仿宋" panose="02010609060101010101" pitchFamily="49" charset="-122"/>
                <a:ea typeface="仿宋" panose="02010609060101010101" pitchFamily="49" charset="-122"/>
                <a:sym typeface="+mn-ea"/>
              </a:rPr>
              <a:t>A</a:t>
            </a:r>
            <a:r>
              <a:rPr lang="zh-CN" altLang="en-US" sz="2000" b="1" dirty="0">
                <a:solidFill>
                  <a:schemeClr val="bg1"/>
                </a:solidFill>
                <a:latin typeface="仿宋" panose="02010609060101010101" pitchFamily="49" charset="-122"/>
                <a:ea typeface="仿宋" panose="02010609060101010101" pitchFamily="49" charset="-122"/>
                <a:sym typeface="+mn-ea"/>
              </a:rPr>
              <a:t>、</a:t>
            </a:r>
            <a:r>
              <a:rPr lang="en-US" altLang="zh-CN" sz="2000" b="1" dirty="0">
                <a:solidFill>
                  <a:schemeClr val="bg1"/>
                </a:solidFill>
                <a:latin typeface="仿宋" panose="02010609060101010101" pitchFamily="49" charset="-122"/>
                <a:ea typeface="仿宋" panose="02010609060101010101" pitchFamily="49" charset="-122"/>
                <a:sym typeface="+mn-ea"/>
              </a:rPr>
              <a:t>B</a:t>
            </a:r>
            <a:r>
              <a:rPr lang="zh-CN" altLang="en-US" sz="2000" b="1" dirty="0">
                <a:solidFill>
                  <a:schemeClr val="bg1"/>
                </a:solidFill>
                <a:latin typeface="仿宋" panose="02010609060101010101" pitchFamily="49" charset="-122"/>
                <a:ea typeface="仿宋" panose="02010609060101010101" pitchFamily="49" charset="-122"/>
                <a:sym typeface="+mn-ea"/>
              </a:rPr>
              <a:t>、</a:t>
            </a:r>
            <a:r>
              <a:rPr lang="en-US" altLang="zh-CN" sz="2000" b="1" dirty="0">
                <a:solidFill>
                  <a:schemeClr val="bg1"/>
                </a:solidFill>
                <a:latin typeface="仿宋" panose="02010609060101010101" pitchFamily="49" charset="-122"/>
                <a:ea typeface="仿宋" panose="02010609060101010101" pitchFamily="49" charset="-122"/>
                <a:sym typeface="+mn-ea"/>
              </a:rPr>
              <a:t>D</a:t>
            </a:r>
            <a:r>
              <a:rPr lang="zh-CN" altLang="en-US" sz="2000" b="1" dirty="0">
                <a:solidFill>
                  <a:schemeClr val="bg1"/>
                </a:solidFill>
                <a:latin typeface="仿宋" panose="02010609060101010101" pitchFamily="49" charset="-122"/>
                <a:ea typeface="仿宋" panose="02010609060101010101" pitchFamily="49" charset="-122"/>
                <a:sym typeface="+mn-ea"/>
              </a:rPr>
              <a:t>是可训练的矩阵</a:t>
            </a:r>
            <a:endParaRPr lang="zh-CN" altLang="en-US" sz="2000" b="1" dirty="0">
              <a:solidFill>
                <a:schemeClr val="bg1"/>
              </a:solidFill>
              <a:latin typeface="仿宋" panose="02010609060101010101" pitchFamily="49" charset="-122"/>
              <a:ea typeface="仿宋" panose="02010609060101010101" pitchFamily="49"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32" name="文本框 31"/>
              <p:cNvSpPr txBox="1"/>
              <p:nvPr/>
            </p:nvSpPr>
            <p:spPr>
              <a:xfrm>
                <a:off x="2943225" y="4696460"/>
                <a:ext cx="665480" cy="35877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m:rPr>
                              <m:sty m:val="p"/>
                            </m:rPr>
                            <a:rPr lang="en-US" altLang="zh-CN">
                              <a:latin typeface="Cambria Math" panose="02040503050406030204" charset="0"/>
                              <a:cs typeface="Cambria Math" panose="02040503050406030204" charset="0"/>
                            </a:rPr>
                            <m:t>x</m:t>
                          </m:r>
                        </m:e>
                        <m:sub>
                          <m:r>
                            <a:rPr lang="en-US" altLang="zh-CN" i="1">
                              <a:latin typeface="Cambria Math" panose="02040503050406030204" charset="0"/>
                              <a:cs typeface="Cambria Math" panose="02040503050406030204" charset="0"/>
                            </a:rPr>
                            <m:t>𝑐</m:t>
                          </m:r>
                        </m:sub>
                        <m:sup>
                          <m:r>
                            <a:rPr lang="en-US" altLang="zh-CN" i="1">
                              <a:latin typeface="Cambria Math" panose="02040503050406030204" charset="0"/>
                              <a:cs typeface="Cambria Math" panose="02040503050406030204" charset="0"/>
                            </a:rPr>
                            <m:t>𝐾</m:t>
                          </m:r>
                        </m:sup>
                      </m:sSubSup>
                    </m:oMath>
                  </m:oMathPara>
                </a14:m>
                <a:endParaRPr lang="en-US" altLang="zh-CN"/>
              </a:p>
            </p:txBody>
          </p:sp>
        </mc:Choice>
        <mc:Fallback>
          <p:sp>
            <p:nvSpPr>
              <p:cNvPr id="32" name="文本框 31"/>
              <p:cNvSpPr txBox="1">
                <a:spLocks noRot="1" noChangeAspect="1" noMove="1" noResize="1" noEditPoints="1" noAdjustHandles="1" noChangeArrowheads="1" noChangeShapeType="1" noTextEdit="1"/>
              </p:cNvSpPr>
              <p:nvPr/>
            </p:nvSpPr>
            <p:spPr>
              <a:xfrm>
                <a:off x="2943225" y="4696460"/>
                <a:ext cx="665480" cy="358775"/>
              </a:xfrm>
              <a:prstGeom prst="rect">
                <a:avLst/>
              </a:prstGeom>
              <a:blipFill rotWithShape="1">
                <a:blip r:embed="rId12"/>
                <a:stretch>
                  <a:fillRect/>
                </a:stretch>
              </a:blipFill>
            </p:spPr>
            <p:txBody>
              <a:bodyPr/>
              <a:lstStyle/>
              <a:p>
                <a:r>
                  <a:rPr lang="zh-CN" altLang="en-US">
                    <a:noFill/>
                  </a:rPr>
                  <a:t> </a:t>
                </a:r>
              </a:p>
            </p:txBody>
          </p:sp>
        </mc:Fallback>
      </mc:AlternateContent>
      <p:graphicFrame>
        <p:nvGraphicFramePr>
          <p:cNvPr id="33" name="对象 32">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13" imgW="114300" imgH="215900" progId="Equation.KSEE3">
                  <p:embed/>
                </p:oleObj>
              </mc:Choice>
              <mc:Fallback>
                <p:oleObj name="" r:id="rId13" imgW="114300" imgH="215900" progId="Equation.KSEE3">
                  <p:embed/>
                  <p:pic>
                    <p:nvPicPr>
                      <p:cNvPr id="0" name="图片 1024"/>
                      <p:cNvPicPr/>
                      <p:nvPr/>
                    </p:nvPicPr>
                    <p:blipFill>
                      <a:blip r:embed="rId14"/>
                      <a:stretch>
                        <a:fillRect/>
                      </a:stretch>
                    </p:blipFill>
                    <p:spPr>
                      <a:xfrm>
                        <a:off x="6038850" y="3321050"/>
                        <a:ext cx="114300" cy="2159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34" name="文本框 33"/>
              <p:cNvSpPr txBox="1"/>
              <p:nvPr/>
            </p:nvSpPr>
            <p:spPr>
              <a:xfrm>
                <a:off x="2673350" y="3794760"/>
                <a:ext cx="665480" cy="35877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m:rPr>
                              <m:sty m:val="p"/>
                            </m:rPr>
                            <a:rPr lang="en-US" altLang="zh-CN">
                              <a:latin typeface="Cambria Math" panose="02040503050406030204" charset="0"/>
                              <a:cs typeface="Cambria Math" panose="02040503050406030204" charset="0"/>
                            </a:rPr>
                            <m:t>h</m:t>
                          </m:r>
                        </m:e>
                        <m:sub>
                          <m:r>
                            <a:rPr lang="en-US" altLang="zh-CN" i="1">
                              <a:latin typeface="Cambria Math" panose="02040503050406030204" charset="0"/>
                              <a:cs typeface="Cambria Math" panose="02040503050406030204" charset="0"/>
                            </a:rPr>
                            <m:t>𝑐</m:t>
                          </m:r>
                        </m:sub>
                        <m:sup>
                          <m:r>
                            <a:rPr lang="en-US" altLang="zh-CN" i="1">
                              <a:latin typeface="Cambria Math" panose="02040503050406030204" charset="0"/>
                              <a:cs typeface="Cambria Math" panose="02040503050406030204" charset="0"/>
                            </a:rPr>
                            <m:t>𝐾</m:t>
                          </m:r>
                        </m:sup>
                      </m:sSubSup>
                    </m:oMath>
                  </m:oMathPara>
                </a14:m>
                <a:endParaRPr lang="en-US" altLang="zh-CN"/>
              </a:p>
            </p:txBody>
          </p:sp>
        </mc:Choice>
        <mc:Fallback>
          <p:sp>
            <p:nvSpPr>
              <p:cNvPr id="34" name="文本框 33"/>
              <p:cNvSpPr txBox="1">
                <a:spLocks noRot="1" noChangeAspect="1" noMove="1" noResize="1" noEditPoints="1" noAdjustHandles="1" noChangeArrowheads="1" noChangeShapeType="1" noTextEdit="1"/>
              </p:cNvSpPr>
              <p:nvPr/>
            </p:nvSpPr>
            <p:spPr>
              <a:xfrm>
                <a:off x="2673350" y="3794760"/>
                <a:ext cx="665480" cy="358775"/>
              </a:xfrm>
              <a:prstGeom prst="rect">
                <a:avLst/>
              </a:prstGeom>
              <a:blipFill rotWithShape="1">
                <a:blip r:embed="rId15"/>
                <a:stretch>
                  <a:fillRect/>
                </a:stretch>
              </a:blipFill>
            </p:spPr>
            <p:txBody>
              <a:bodyPr/>
              <a:lstStyle/>
              <a:p>
                <a:r>
                  <a:rPr lang="zh-CN" altLang="en-US">
                    <a:noFill/>
                  </a:rPr>
                  <a:t> </a:t>
                </a:r>
              </a:p>
            </p:txBody>
          </p:sp>
        </mc:Fallback>
      </mc:AlternateContent>
      <p:sp>
        <p:nvSpPr>
          <p:cNvPr id="2" name="文本框 1"/>
          <p:cNvSpPr txBox="1"/>
          <p:nvPr/>
        </p:nvSpPr>
        <p:spPr>
          <a:xfrm>
            <a:off x="8951595" y="720725"/>
            <a:ext cx="2581910" cy="460375"/>
          </a:xfrm>
          <a:prstGeom prst="rect">
            <a:avLst/>
          </a:prstGeom>
          <a:noFill/>
          <a:effectLst/>
        </p:spPr>
        <p:txBody>
          <a:bodyPr wrap="square" rtlCol="0" anchor="t">
            <a:spAutoFit/>
          </a:bodyPr>
          <a:p>
            <a:pPr algn="ctr"/>
            <a:r>
              <a:rPr lang="zh-CN" altLang="en-US" sz="2400" b="1">
                <a:latin typeface="思源宋体 CN Heavy" panose="02020900000000000000" charset="-122"/>
                <a:ea typeface="思源宋体 CN Heavy" panose="02020900000000000000" charset="-122"/>
              </a:rPr>
              <a:t>嵌入模块</a:t>
            </a:r>
            <a:endParaRPr lang="zh-CN" altLang="en-US" sz="2400" b="1">
              <a:latin typeface="思源宋体 CN Heavy" panose="02020900000000000000" charset="-122"/>
              <a:ea typeface="思源宋体 CN Heavy" panose="02020900000000000000" charset="-122"/>
            </a:endParaRPr>
          </a:p>
        </p:txBody>
      </p:sp>
      <p:sp>
        <p:nvSpPr>
          <p:cNvPr id="4" name="矩形 3"/>
          <p:cNvSpPr/>
          <p:nvPr/>
        </p:nvSpPr>
        <p:spPr>
          <a:xfrm>
            <a:off x="9552940" y="3164205"/>
            <a:ext cx="2551430" cy="33210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对话气泡: 圆角矩形 10"/>
          <p:cNvSpPr/>
          <p:nvPr/>
        </p:nvSpPr>
        <p:spPr>
          <a:xfrm>
            <a:off x="8819515" y="2603500"/>
            <a:ext cx="3373120" cy="338455"/>
          </a:xfrm>
          <a:prstGeom prst="wedgeRoundRectCallout">
            <a:avLst>
              <a:gd name="adj1" fmla="val -16761"/>
              <a:gd name="adj2" fmla="val 97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s</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sym typeface="+mn-ea"/>
              </a:rPr>
              <a:t>i</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sym typeface="+mn-ea"/>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mn-ea"/>
              </a:rPr>
              <a:t>k</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sym typeface="+mn-ea"/>
              </a:rPr>
              <a:t>c</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mn-ea"/>
              </a:rPr>
              <a:t>的初始化嵌入表示</a:t>
            </a:r>
            <a:endParaRPr lang="zh-CN" altLang="en-US" sz="2000" b="1" dirty="0">
              <a:solidFill>
                <a:schemeClr val="bg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spTree>
    <p:custDataLst>
      <p:tags r:id="rId1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randombar(horizontal)">
                                      <p:cBhvr>
                                        <p:cTn id="22" dur="500"/>
                                        <p:tgtEl>
                                          <p:spTgt spid="18"/>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randombar(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randombar(horizontal)">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randombar(horizontal)">
                                      <p:cBhvr>
                                        <p:cTn id="38" dur="500"/>
                                        <p:tgtEl>
                                          <p:spTgt spid="12"/>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randombar(horizontal)">
                                      <p:cBhvr>
                                        <p:cTn id="41" dur="500"/>
                                        <p:tgtEl>
                                          <p:spTgt spid="13"/>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randombar(horizontal)">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randombar(horizontal)">
                                      <p:cBhvr>
                                        <p:cTn id="49" dur="500"/>
                                        <p:tgtEl>
                                          <p:spTgt spid="21"/>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randombar(horizontal)">
                                      <p:cBhvr>
                                        <p:cTn id="52" dur="500"/>
                                        <p:tgtEl>
                                          <p:spTgt spid="22"/>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randombar(horizontal)">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randombar(horizontal)">
                                      <p:cBhvr>
                                        <p:cTn id="6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5" grpId="0" bldLvl="0" animBg="1"/>
      <p:bldP spid="6" grpId="0" bldLvl="0" animBg="1"/>
      <p:bldP spid="12" grpId="0" bldLvl="0" animBg="1"/>
      <p:bldP spid="13" grpId="0" bldLvl="0" animBg="1"/>
      <p:bldP spid="14" grpId="0" bldLvl="0" animBg="1"/>
      <p:bldP spid="18" grpId="0" bldLvl="0" animBg="1"/>
      <p:bldP spid="19" grpId="0" bldLvl="0" animBg="1"/>
      <p:bldP spid="20" grpId="0" bldLvl="0" animBg="1"/>
      <p:bldP spid="21" grpId="0" bldLvl="0" animBg="1"/>
      <p:bldP spid="22" grpId="0" bldLvl="0" animBg="1"/>
      <p:bldP spid="23" grpId="0" bldLvl="0" animBg="1"/>
      <p:bldP spid="31" grpId="0" bldLvl="0" animBg="1"/>
      <p:bldP spid="1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custDataLst>
              <p:tags r:id="rId1"/>
            </p:custDataLst>
          </p:nvPr>
        </p:nvSpPr>
        <p:spPr>
          <a:xfrm>
            <a:off x="786765" y="897890"/>
            <a:ext cx="4901565" cy="1384935"/>
          </a:xfrm>
          <a:prstGeom prst="rect">
            <a:avLst/>
          </a:prstGeom>
          <a:solidFill>
            <a:schemeClr val="accent1">
              <a:lumMod val="20000"/>
              <a:lumOff val="80000"/>
            </a:schemeClr>
          </a:solidFill>
        </p:spPr>
        <p:txBody>
          <a:bodyPr wrap="square" rtlCol="0">
            <a:noAutofit/>
          </a:bodyPr>
          <a:p>
            <a:pPr indent="457200" fontAlgn="auto"/>
            <a:r>
              <a:rPr lang="zh-CN" altLang="en-US" sz="2000" b="1" dirty="0">
                <a:solidFill>
                  <a:schemeClr val="accent1"/>
                </a:solidFill>
                <a:latin typeface="仿宋" panose="02010609060101010101" pitchFamily="49" charset="-122"/>
                <a:ea typeface="仿宋" panose="02010609060101010101" pitchFamily="49" charset="-122"/>
                <a:sym typeface="+mn-ea"/>
              </a:rPr>
              <a:t>该模块的主要目的是基于嵌入模块得到的表示，获得</a:t>
            </a:r>
            <a:r>
              <a:rPr lang="zh-CN" altLang="en-US" sz="2000" b="1" dirty="0">
                <a:solidFill>
                  <a:srgbClr val="FF0000"/>
                </a:solidFill>
                <a:latin typeface="仿宋" panose="02010609060101010101" pitchFamily="49" charset="-122"/>
                <a:ea typeface="仿宋" panose="02010609060101010101" pitchFamily="49" charset="-122"/>
                <a:sym typeface="+mn-ea"/>
              </a:rPr>
              <a:t>可解释的</a:t>
            </a:r>
            <a:r>
              <a:rPr lang="zh-CN" altLang="en-US" sz="2000" b="1" dirty="0">
                <a:solidFill>
                  <a:schemeClr val="accent1"/>
                </a:solidFill>
                <a:latin typeface="仿宋" panose="02010609060101010101" pitchFamily="49" charset="-122"/>
                <a:ea typeface="仿宋" panose="02010609060101010101" pitchFamily="49" charset="-122"/>
                <a:sym typeface="+mn-ea"/>
              </a:rPr>
              <a:t>学生和习题参数（即学生的知识掌握程度向量𝜶</a:t>
            </a:r>
            <a:r>
              <a:rPr lang="zh-CN" altLang="en-US" sz="2000" b="1" baseline="-25000" dirty="0">
                <a:solidFill>
                  <a:schemeClr val="accent1"/>
                </a:solidFill>
                <a:latin typeface="仿宋" panose="02010609060101010101" pitchFamily="49" charset="-122"/>
                <a:ea typeface="仿宋" panose="02010609060101010101" pitchFamily="49" charset="-122"/>
                <a:sym typeface="+mn-ea"/>
              </a:rPr>
              <a:t>i</a:t>
            </a:r>
            <a:r>
              <a:rPr lang="zh-CN" altLang="en-US" sz="2000" b="1" dirty="0">
                <a:solidFill>
                  <a:schemeClr val="accent1"/>
                </a:solidFill>
                <a:latin typeface="仿宋" panose="02010609060101010101" pitchFamily="49" charset="-122"/>
                <a:ea typeface="仿宋" panose="02010609060101010101" pitchFamily="49" charset="-122"/>
                <a:sym typeface="+mn-ea"/>
              </a:rPr>
              <a:t>、习题的知识点难度向量𝜷</a:t>
            </a:r>
            <a:r>
              <a:rPr lang="zh-CN" altLang="en-US" sz="2000" b="1" baseline="-25000" dirty="0">
                <a:solidFill>
                  <a:schemeClr val="accent1"/>
                </a:solidFill>
                <a:latin typeface="仿宋" panose="02010609060101010101" pitchFamily="49" charset="-122"/>
                <a:ea typeface="仿宋" panose="02010609060101010101" pitchFamily="49" charset="-122"/>
                <a:sym typeface="+mn-ea"/>
              </a:rPr>
              <a:t>𝑗</a:t>
            </a:r>
            <a:r>
              <a:rPr lang="zh-CN" altLang="en-US" sz="2000" b="1" dirty="0">
                <a:solidFill>
                  <a:schemeClr val="accent1"/>
                </a:solidFill>
                <a:latin typeface="仿宋" panose="02010609060101010101" pitchFamily="49" charset="-122"/>
                <a:ea typeface="仿宋" panose="02010609060101010101" pitchFamily="49" charset="-122"/>
                <a:sym typeface="+mn-ea"/>
              </a:rPr>
              <a:t>和习题的区分度</a:t>
            </a:r>
            <a:r>
              <a:rPr lang="zh-CN" altLang="en-US" sz="2000" b="1" kern="0" spc="-100" dirty="0">
                <a:solidFill>
                  <a:schemeClr val="accent1"/>
                </a:solidFill>
                <a:uFillTx/>
                <a:latin typeface="仿宋" panose="02010609060101010101" pitchFamily="49" charset="-122"/>
                <a:ea typeface="仿宋" panose="02010609060101010101" pitchFamily="49" charset="-122"/>
                <a:sym typeface="+mn-ea"/>
              </a:rPr>
              <a:t>𝜂</a:t>
            </a:r>
            <a:r>
              <a:rPr lang="zh-CN" altLang="en-US" sz="2000" b="1" baseline="-25000" dirty="0">
                <a:solidFill>
                  <a:schemeClr val="accent1"/>
                </a:solidFill>
                <a:latin typeface="仿宋" panose="02010609060101010101" pitchFamily="49" charset="-122"/>
                <a:ea typeface="仿宋" panose="02010609060101010101" pitchFamily="49" charset="-122"/>
                <a:sym typeface="+mn-ea"/>
              </a:rPr>
              <a:t>𝑗</a:t>
            </a:r>
            <a:r>
              <a:rPr lang="zh-CN" altLang="en-US" sz="2000" b="1" dirty="0">
                <a:solidFill>
                  <a:schemeClr val="accent1"/>
                </a:solidFill>
                <a:latin typeface="仿宋" panose="02010609060101010101" pitchFamily="49" charset="-122"/>
                <a:ea typeface="仿宋" panose="02010609060101010101" pitchFamily="49" charset="-122"/>
                <a:sym typeface="+mn-ea"/>
              </a:rPr>
              <a:t>）。 </a:t>
            </a:r>
            <a:endParaRPr lang="zh-CN" altLang="en-US" sz="2000" b="1" dirty="0">
              <a:solidFill>
                <a:schemeClr val="accent1"/>
              </a:solidFill>
              <a:latin typeface="仿宋" panose="02010609060101010101" pitchFamily="49" charset="-122"/>
              <a:ea typeface="仿宋" panose="02010609060101010101" pitchFamily="49" charset="-122"/>
            </a:endParaRPr>
          </a:p>
        </p:txBody>
      </p:sp>
      <p:pic>
        <p:nvPicPr>
          <p:cNvPr id="12" name="图片 11"/>
          <p:cNvPicPr>
            <a:picLocks noChangeAspect="1"/>
          </p:cNvPicPr>
          <p:nvPr/>
        </p:nvPicPr>
        <p:blipFill>
          <a:blip r:embed="rId2"/>
          <a:stretch>
            <a:fillRect/>
          </a:stretch>
        </p:blipFill>
        <p:spPr>
          <a:xfrm>
            <a:off x="146685" y="2740025"/>
            <a:ext cx="6704330" cy="3745865"/>
          </a:xfrm>
          <a:prstGeom prst="rect">
            <a:avLst/>
          </a:prstGeom>
        </p:spPr>
      </p:pic>
      <p:sp>
        <p:nvSpPr>
          <p:cNvPr id="22" name="对话气泡: 圆角矩形 6"/>
          <p:cNvSpPr/>
          <p:nvPr>
            <p:custDataLst>
              <p:tags r:id="rId3"/>
            </p:custDataLst>
          </p:nvPr>
        </p:nvSpPr>
        <p:spPr>
          <a:xfrm>
            <a:off x="1424460" y="4138319"/>
            <a:ext cx="733790" cy="296386"/>
          </a:xfrm>
          <a:prstGeom prst="wedgeRoundRectCallout">
            <a:avLst>
              <a:gd name="adj1" fmla="val 34265"/>
              <a:gd name="adj2" fmla="val 83253"/>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1" name="对话气泡: 圆角矩形 6"/>
          <p:cNvSpPr/>
          <p:nvPr>
            <p:custDataLst>
              <p:tags r:id="rId4"/>
            </p:custDataLst>
          </p:nvPr>
        </p:nvSpPr>
        <p:spPr>
          <a:xfrm>
            <a:off x="327815" y="4138319"/>
            <a:ext cx="733790" cy="296386"/>
          </a:xfrm>
          <a:prstGeom prst="wedgeRoundRectCallout">
            <a:avLst>
              <a:gd name="adj1" fmla="val -4416"/>
              <a:gd name="adj2" fmla="val 80254"/>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3" name="对话气泡: 圆角矩形 6"/>
          <p:cNvSpPr/>
          <p:nvPr>
            <p:custDataLst>
              <p:tags r:id="rId5"/>
            </p:custDataLst>
          </p:nvPr>
        </p:nvSpPr>
        <p:spPr>
          <a:xfrm>
            <a:off x="52860" y="2771164"/>
            <a:ext cx="733790" cy="296386"/>
          </a:xfrm>
          <a:prstGeom prst="wedgeRoundRectCallout">
            <a:avLst>
              <a:gd name="adj1" fmla="val -9781"/>
              <a:gd name="adj2" fmla="val 106821"/>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4" name="对话气泡: 圆角矩形 6"/>
          <p:cNvSpPr/>
          <p:nvPr>
            <p:custDataLst>
              <p:tags r:id="rId6"/>
            </p:custDataLst>
          </p:nvPr>
        </p:nvSpPr>
        <p:spPr>
          <a:xfrm>
            <a:off x="4231795" y="4052594"/>
            <a:ext cx="733790" cy="296386"/>
          </a:xfrm>
          <a:prstGeom prst="wedgeRoundRectCallout">
            <a:avLst>
              <a:gd name="adj1" fmla="val -13069"/>
              <a:gd name="adj2" fmla="val 98894"/>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6" name="对话气泡: 圆角矩形 6"/>
          <p:cNvSpPr/>
          <p:nvPr>
            <p:custDataLst>
              <p:tags r:id="rId7"/>
            </p:custDataLst>
          </p:nvPr>
        </p:nvSpPr>
        <p:spPr>
          <a:xfrm>
            <a:off x="2285520" y="2842919"/>
            <a:ext cx="733790" cy="296386"/>
          </a:xfrm>
          <a:prstGeom prst="wedgeRoundRectCallout">
            <a:avLst>
              <a:gd name="adj1" fmla="val -9781"/>
              <a:gd name="adj2" fmla="val 106821"/>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endParaRPr lang="zh-CN" altLang="en-US" i="1" dirty="0">
              <a:solidFill>
                <a:schemeClr val="tx1"/>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8"/>
          <a:stretch>
            <a:fillRect/>
          </a:stretch>
        </p:blipFill>
        <p:spPr>
          <a:xfrm>
            <a:off x="668020" y="269240"/>
            <a:ext cx="5427980" cy="590550"/>
          </a:xfrm>
          <a:prstGeom prst="rect">
            <a:avLst/>
          </a:prstGeom>
        </p:spPr>
      </p:pic>
      <p:pic>
        <p:nvPicPr>
          <p:cNvPr id="19" name="图片 18"/>
          <p:cNvPicPr>
            <a:picLocks noChangeAspect="1"/>
          </p:cNvPicPr>
          <p:nvPr/>
        </p:nvPicPr>
        <p:blipFill>
          <a:blip r:embed="rId9"/>
          <a:stretch>
            <a:fillRect/>
          </a:stretch>
        </p:blipFill>
        <p:spPr>
          <a:xfrm>
            <a:off x="6912610" y="774065"/>
            <a:ext cx="5091430" cy="5711190"/>
          </a:xfrm>
          <a:prstGeom prst="rect">
            <a:avLst/>
          </a:prstGeom>
        </p:spPr>
      </p:pic>
      <p:sp>
        <p:nvSpPr>
          <p:cNvPr id="20" name="文本框 19"/>
          <p:cNvSpPr txBox="1"/>
          <p:nvPr>
            <p:custDataLst>
              <p:tags r:id="rId10"/>
            </p:custDataLst>
          </p:nvPr>
        </p:nvSpPr>
        <p:spPr>
          <a:xfrm>
            <a:off x="4416425" y="2409190"/>
            <a:ext cx="2434590"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知识感知表示模块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23" name="文本框 22"/>
          <p:cNvSpPr txBox="1"/>
          <p:nvPr>
            <p:custDataLst>
              <p:tags r:id="rId11"/>
            </p:custDataLst>
          </p:nvPr>
        </p:nvSpPr>
        <p:spPr>
          <a:xfrm>
            <a:off x="5101590" y="5946140"/>
            <a:ext cx="1749425"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嵌入模块</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24" name="文本框 23"/>
          <p:cNvSpPr txBox="1"/>
          <p:nvPr>
            <p:custDataLst>
              <p:tags r:id="rId12"/>
            </p:custDataLst>
          </p:nvPr>
        </p:nvSpPr>
        <p:spPr>
          <a:xfrm>
            <a:off x="7089140" y="4860290"/>
            <a:ext cx="4738370" cy="338455"/>
          </a:xfrm>
          <a:prstGeom prst="rect">
            <a:avLst/>
          </a:prstGeom>
          <a:solidFill>
            <a:srgbClr val="CBEAF6"/>
          </a:solidFill>
        </p:spPr>
        <p:txBody>
          <a:bodyPr wrap="square" rtlCol="0">
            <a:noAutofit/>
          </a:bodyPr>
          <a:p>
            <a:pPr algn="ctr"/>
            <a:r>
              <a:rPr lang="en-US" altLang="zh-CN" sz="2000" b="1" dirty="0">
                <a:solidFill>
                  <a:srgbClr val="FF0000"/>
                </a:solidFill>
                <a:latin typeface="仿宋" panose="02010609060101010101" pitchFamily="49" charset="-122"/>
                <a:ea typeface="仿宋" panose="02010609060101010101" pitchFamily="49" charset="-122"/>
              </a:rPr>
              <a:t>W</a:t>
            </a:r>
            <a:r>
              <a:rPr lang="zh-CN" altLang="en-US" sz="2000" b="1" dirty="0">
                <a:solidFill>
                  <a:srgbClr val="FF0000"/>
                </a:solidFill>
                <a:latin typeface="仿宋" panose="02010609060101010101" pitchFamily="49" charset="-122"/>
                <a:ea typeface="仿宋" panose="02010609060101010101" pitchFamily="49" charset="-122"/>
              </a:rPr>
              <a:t>、</a:t>
            </a:r>
            <a:r>
              <a:rPr lang="en-US" altLang="zh-CN" sz="2000" b="1" dirty="0">
                <a:solidFill>
                  <a:srgbClr val="FF0000"/>
                </a:solidFill>
                <a:latin typeface="仿宋" panose="02010609060101010101" pitchFamily="49" charset="-122"/>
                <a:ea typeface="仿宋" panose="02010609060101010101" pitchFamily="49" charset="-122"/>
              </a:rPr>
              <a:t>b</a:t>
            </a:r>
            <a:r>
              <a:rPr lang="zh-CN" altLang="en-US" sz="2000" b="1" dirty="0">
                <a:solidFill>
                  <a:srgbClr val="FF0000"/>
                </a:solidFill>
                <a:latin typeface="仿宋" panose="02010609060101010101" pitchFamily="49" charset="-122"/>
                <a:ea typeface="仿宋" panose="02010609060101010101" pitchFamily="49" charset="-122"/>
              </a:rPr>
              <a:t>是待训练的权重矩阵和偏置</a:t>
            </a:r>
            <a:endParaRPr lang="zh-CN" altLang="en-US" sz="2000" b="1" dirty="0">
              <a:solidFill>
                <a:srgbClr val="FF0000"/>
              </a:solidFill>
              <a:latin typeface="仿宋" panose="02010609060101010101" pitchFamily="49" charset="-122"/>
              <a:ea typeface="仿宋" panose="02010609060101010101" pitchFamily="49" charset="-122"/>
            </a:endParaRPr>
          </a:p>
        </p:txBody>
      </p:sp>
      <mc:AlternateContent xmlns:mc="http://schemas.openxmlformats.org/markup-compatibility/2006">
        <mc:Choice xmlns:a14="http://schemas.microsoft.com/office/drawing/2010/main" Requires="a14">
          <p:sp>
            <p:nvSpPr>
              <p:cNvPr id="25" name="对话气泡: 圆角矩形 6"/>
              <p:cNvSpPr/>
              <p:nvPr>
                <p:custDataLst>
                  <p:tags r:id="rId13"/>
                </p:custDataLst>
              </p:nvPr>
            </p:nvSpPr>
            <p:spPr>
              <a:xfrm>
                <a:off x="9468485" y="3783965"/>
                <a:ext cx="1206500" cy="650875"/>
              </a:xfrm>
              <a:prstGeom prst="wedgeRoundRectCallout">
                <a:avLst>
                  <a:gd name="adj1" fmla="val -32000"/>
                  <a:gd name="adj2" fmla="val 72536"/>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14:m>
                  <m:oMath xmlns:m="http://schemas.openxmlformats.org/officeDocument/2006/math">
                    <m:sSubSup>
                      <m:sSubSupPr>
                        <m:ctrlPr>
                          <a:rPr lang="en-US" altLang="zh-CN" i="1" dirty="0">
                            <a:solidFill>
                              <a:schemeClr val="tx1"/>
                            </a:solidFill>
                            <a:latin typeface="Cambria Math" panose="02040503050406030204" charset="0"/>
                            <a:ea typeface="仿宋" panose="02010609060101010101" pitchFamily="49" charset="-122"/>
                            <a:cs typeface="Cambria Math" panose="02040503050406030204" charset="0"/>
                          </a:rPr>
                        </m:ctrlPr>
                      </m:sSubSupPr>
                      <m:e>
                        <m:r>
                          <a:rPr lang="en-US" altLang="zh-CN" i="1" dirty="0">
                            <a:solidFill>
                              <a:schemeClr val="tx1"/>
                            </a:solidFill>
                            <a:latin typeface="Cambria Math" panose="02040503050406030204" charset="0"/>
                            <a:ea typeface="仿宋" panose="02010609060101010101" pitchFamily="49" charset="-122"/>
                            <a:cs typeface="Cambria Math" panose="02040503050406030204" charset="0"/>
                          </a:rPr>
                          <m:t>ℎ</m:t>
                        </m:r>
                      </m:e>
                      <m:sub>
                        <m:r>
                          <a:rPr lang="en-US" altLang="zh-CN" i="1" dirty="0">
                            <a:solidFill>
                              <a:schemeClr val="tx1"/>
                            </a:solidFill>
                            <a:latin typeface="Cambria Math" panose="02040503050406030204" charset="0"/>
                            <a:ea typeface="仿宋" panose="02010609060101010101" pitchFamily="49" charset="-122"/>
                            <a:cs typeface="Cambria Math" panose="02040503050406030204" charset="0"/>
                          </a:rPr>
                          <m:t>𝑗</m:t>
                        </m:r>
                      </m:sub>
                      <m:sup>
                        <m:r>
                          <a:rPr lang="en-US" altLang="zh-CN" i="1" dirty="0">
                            <a:solidFill>
                              <a:schemeClr val="tx1"/>
                            </a:solidFill>
                            <a:latin typeface="Cambria Math" panose="02040503050406030204" charset="0"/>
                            <a:ea typeface="仿宋" panose="02010609060101010101" pitchFamily="49" charset="-122"/>
                            <a:cs typeface="Cambria Math" panose="02040503050406030204" charset="0"/>
                          </a:rPr>
                          <m:t>𝐸</m:t>
                        </m:r>
                      </m:sup>
                    </m:sSubSup>
                  </m:oMath>
                </a14:m>
                <a:r>
                  <a:rPr lang="zh-CN" altLang="en-US" dirty="0">
                    <a:solidFill>
                      <a:schemeClr val="tx1"/>
                    </a:solidFill>
                    <a:latin typeface="Cambria Math" panose="02040503050406030204" charset="0"/>
                    <a:ea typeface="仿宋" panose="02010609060101010101" pitchFamily="49" charset="-122"/>
                    <a:cs typeface="Cambria Math" panose="02040503050406030204" charset="0"/>
                  </a:rPr>
                  <a:t>的</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转置</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endParaRPr lang="zh-CN" altLang="en-US" dirty="0">
                  <a:solidFill>
                    <a:schemeClr val="tx1"/>
                  </a:solidFill>
                  <a:latin typeface="仿宋" panose="02010609060101010101" pitchFamily="49" charset="-122"/>
                  <a:ea typeface="仿宋" panose="02010609060101010101" pitchFamily="49" charset="-122"/>
                </a:endParaRPr>
              </a:p>
            </p:txBody>
          </p:sp>
        </mc:Choice>
        <mc:Fallback>
          <p:sp>
            <p:nvSpPr>
              <p:cNvPr id="25" name="对话气泡: 圆角矩形 6"/>
              <p:cNvSpPr>
                <a:spLocks noRot="1" noChangeAspect="1" noMove="1" noResize="1" noEditPoints="1" noAdjustHandles="1" noChangeArrowheads="1" noChangeShapeType="1" noTextEdit="1"/>
              </p:cNvSpPr>
              <p:nvPr>
                <p:custDataLst>
                  <p:tags r:id="rId14"/>
                </p:custDataLst>
              </p:nvPr>
            </p:nvSpPr>
            <p:spPr>
              <a:xfrm>
                <a:off x="9468485" y="3783965"/>
                <a:ext cx="1206500" cy="650875"/>
              </a:xfrm>
              <a:prstGeom prst="wedgeRoundRectCallout">
                <a:avLst>
                  <a:gd name="adj1" fmla="val -32000"/>
                  <a:gd name="adj2" fmla="val 72536"/>
                  <a:gd name="adj3" fmla="val 16667"/>
                </a:avLst>
              </a:prstGeom>
              <a:blipFill rotWithShape="1">
                <a:blip r:embed="rId15"/>
                <a:stretch>
                  <a:fillRect b="-2243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6" name="对话气泡: 圆角矩形 6"/>
          <p:cNvSpPr/>
          <p:nvPr>
            <p:custDataLst>
              <p:tags r:id="rId16"/>
            </p:custDataLst>
          </p:nvPr>
        </p:nvSpPr>
        <p:spPr>
          <a:xfrm>
            <a:off x="8505825" y="4052570"/>
            <a:ext cx="852805" cy="296545"/>
          </a:xfrm>
          <a:prstGeom prst="wedgeRoundRectCallout">
            <a:avLst>
              <a:gd name="adj1" fmla="val 46053"/>
              <a:gd name="adj2" fmla="val 130728"/>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a:t>
            </a:r>
            <a:r>
              <a:rPr lang="en-US" altLang="zh-CN" baseline="-25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dirty="0">
              <a:solidFill>
                <a:schemeClr val="tx1"/>
              </a:solidFill>
              <a:latin typeface="仿宋" panose="02010609060101010101" pitchFamily="49" charset="-122"/>
              <a:ea typeface="仿宋" panose="02010609060101010101" pitchFamily="49" charset="-122"/>
            </a:endParaRPr>
          </a:p>
        </p:txBody>
      </p:sp>
      <p:sp>
        <p:nvSpPr>
          <p:cNvPr id="27" name="对话气泡: 圆角矩形 6"/>
          <p:cNvSpPr/>
          <p:nvPr>
            <p:custDataLst>
              <p:tags r:id="rId17"/>
            </p:custDataLst>
          </p:nvPr>
        </p:nvSpPr>
        <p:spPr>
          <a:xfrm>
            <a:off x="10784840" y="4138295"/>
            <a:ext cx="852805" cy="296545"/>
          </a:xfrm>
          <a:prstGeom prst="wedgeRoundRectCallout">
            <a:avLst>
              <a:gd name="adj1" fmla="val -131533"/>
              <a:gd name="adj2" fmla="val 122591"/>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a:t>
            </a:r>
            <a:r>
              <a:rPr lang="en-US" altLang="zh-CN" baseline="-25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endPar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 name="文本框 1"/>
          <p:cNvSpPr txBox="1"/>
          <p:nvPr/>
        </p:nvSpPr>
        <p:spPr>
          <a:xfrm>
            <a:off x="5332095" y="260350"/>
            <a:ext cx="3173730" cy="460375"/>
          </a:xfrm>
          <a:prstGeom prst="rect">
            <a:avLst/>
          </a:prstGeom>
          <a:noFill/>
          <a:effectLst/>
        </p:spPr>
        <p:txBody>
          <a:bodyPr wrap="square" rtlCol="0" anchor="t">
            <a:spAutoFit/>
          </a:bodyPr>
          <a:p>
            <a:pPr algn="ctr"/>
            <a:r>
              <a:rPr lang="zh-CN" altLang="en-US" sz="2400" b="1">
                <a:latin typeface="思源宋体 CN Heavy" panose="02020900000000000000" charset="-122"/>
                <a:ea typeface="思源宋体 CN Heavy" panose="02020900000000000000" charset="-122"/>
              </a:rPr>
              <a:t>知识感知表示模块</a:t>
            </a:r>
            <a:endParaRPr lang="zh-CN" altLang="en-US" sz="2400" b="1">
              <a:latin typeface="思源宋体 CN Heavy" panose="02020900000000000000" charset="-122"/>
              <a:ea typeface="思源宋体 CN Heavy" panose="02020900000000000000" charset="-122"/>
            </a:endParaRPr>
          </a:p>
        </p:txBody>
      </p:sp>
      <p:sp>
        <p:nvSpPr>
          <p:cNvPr id="3" name="对话气泡: 圆角矩形 6"/>
          <p:cNvSpPr/>
          <p:nvPr>
            <p:custDataLst>
              <p:tags r:id="rId18"/>
            </p:custDataLst>
          </p:nvPr>
        </p:nvSpPr>
        <p:spPr>
          <a:xfrm>
            <a:off x="10784840" y="4498975"/>
            <a:ext cx="852805" cy="296545"/>
          </a:xfrm>
          <a:prstGeom prst="wedgeRoundRectCallout">
            <a:avLst>
              <a:gd name="adj1" fmla="val -49180"/>
              <a:gd name="adj2" fmla="val 23019"/>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a:t>
            </a:r>
            <a:r>
              <a:rPr lang="en-US" altLang="zh-CN" baseline="-25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取</a:t>
            </a: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endPar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4" name="表格 3"/>
          <p:cNvGraphicFramePr/>
          <p:nvPr/>
        </p:nvGraphicFramePr>
        <p:xfrm>
          <a:off x="10594975" y="6610350"/>
          <a:ext cx="1984375" cy="1905000"/>
        </p:xfrm>
        <a:graphic>
          <a:graphicData uri="http://schemas.openxmlformats.org/drawingml/2006/table">
            <a:tbl>
              <a:tblPr firstRow="1" bandRow="1">
                <a:tableStyleId>{5940675A-B579-460E-94D1-54222C63F5DA}</a:tableStyleId>
              </a:tblPr>
              <a:tblGrid>
                <a:gridCol w="396875"/>
                <a:gridCol w="396875"/>
                <a:gridCol w="396875"/>
                <a:gridCol w="396875"/>
                <a:gridCol w="396875"/>
              </a:tblGrid>
              <a:tr h="381000">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r>
              <a:tr h="381000">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r>
              <a:tr h="381000">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r>
              <a:tr h="381000">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r>
              <a:tr h="381000">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1</a:t>
                      </a:r>
                      <a:endParaRPr lang="en-US" altLang="zh-CN"/>
                    </a:p>
                  </a:txBody>
                  <a:tcPr/>
                </a:tc>
                <a:tc>
                  <a:txBody>
                    <a:bodyPr/>
                    <a:p>
                      <a:pPr>
                        <a:buNone/>
                      </a:pPr>
                      <a:r>
                        <a:rPr lang="en-US" altLang="zh-CN"/>
                        <a:t>1</a:t>
                      </a:r>
                      <a:endParaRPr lang="en-US" altLang="zh-CN"/>
                    </a:p>
                  </a:txBody>
                  <a:tcPr/>
                </a:tc>
              </a:tr>
            </a:tbl>
          </a:graphicData>
        </a:graphic>
      </p:graphicFrame>
      <p:graphicFrame>
        <p:nvGraphicFramePr>
          <p:cNvPr id="5" name="表格 4"/>
          <p:cNvGraphicFramePr/>
          <p:nvPr/>
        </p:nvGraphicFramePr>
        <p:xfrm>
          <a:off x="8239760" y="7094220"/>
          <a:ext cx="1984375" cy="381000"/>
        </p:xfrm>
        <a:graphic>
          <a:graphicData uri="http://schemas.openxmlformats.org/drawingml/2006/table">
            <a:tbl>
              <a:tblPr firstRow="1" bandRow="1">
                <a:tableStyleId>{5940675A-B579-460E-94D1-54222C63F5DA}</a:tableStyleId>
              </a:tblPr>
              <a:tblGrid>
                <a:gridCol w="396875"/>
                <a:gridCol w="396875"/>
                <a:gridCol w="396875"/>
                <a:gridCol w="396875"/>
                <a:gridCol w="396875"/>
              </a:tblGrid>
              <a:tr h="381000">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r>
            </a:tbl>
          </a:graphicData>
        </a:graphic>
      </p:graphicFrame>
      <p:graphicFrame>
        <p:nvGraphicFramePr>
          <p:cNvPr id="6" name="表格 5"/>
          <p:cNvGraphicFramePr/>
          <p:nvPr/>
        </p:nvGraphicFramePr>
        <p:xfrm>
          <a:off x="5755640" y="7094220"/>
          <a:ext cx="1984375" cy="381000"/>
        </p:xfrm>
        <a:graphic>
          <a:graphicData uri="http://schemas.openxmlformats.org/drawingml/2006/table">
            <a:tbl>
              <a:tblPr firstRow="1" bandRow="1">
                <a:tableStyleId>{5940675A-B579-460E-94D1-54222C63F5DA}</a:tableStyleId>
              </a:tblPr>
              <a:tblGrid>
                <a:gridCol w="396875"/>
                <a:gridCol w="396875"/>
                <a:gridCol w="396875"/>
                <a:gridCol w="396875"/>
                <a:gridCol w="396875"/>
              </a:tblGrid>
              <a:tr h="381000">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r>
            </a:tbl>
          </a:graphicData>
        </a:graphic>
      </p:graphicFrame>
      <p:sp>
        <p:nvSpPr>
          <p:cNvPr id="7" name="文本框 6"/>
          <p:cNvSpPr txBox="1"/>
          <p:nvPr/>
        </p:nvSpPr>
        <p:spPr>
          <a:xfrm>
            <a:off x="7775575" y="7094220"/>
            <a:ext cx="730250" cy="368300"/>
          </a:xfrm>
          <a:prstGeom prst="rect">
            <a:avLst/>
          </a:prstGeom>
          <a:noFill/>
        </p:spPr>
        <p:txBody>
          <a:bodyPr wrap="square" rtlCol="0">
            <a:spAutoFit/>
          </a:bodyPr>
          <a:p>
            <a:r>
              <a:rPr lang="zh-CN" altLang="en-US"/>
              <a:t>＝</a:t>
            </a:r>
            <a:endParaRPr lang="zh-CN" altLang="en-US"/>
          </a:p>
        </p:txBody>
      </p:sp>
      <p:sp>
        <p:nvSpPr>
          <p:cNvPr id="8" name="文本框 7"/>
          <p:cNvSpPr txBox="1"/>
          <p:nvPr/>
        </p:nvSpPr>
        <p:spPr>
          <a:xfrm>
            <a:off x="10197465" y="7094220"/>
            <a:ext cx="412750" cy="368300"/>
          </a:xfrm>
          <a:prstGeom prst="rect">
            <a:avLst/>
          </a:prstGeom>
          <a:noFill/>
        </p:spPr>
        <p:txBody>
          <a:bodyPr wrap="square" rtlCol="0">
            <a:spAutoFit/>
          </a:bodyPr>
          <a:p>
            <a:r>
              <a:rPr lang="zh-CN" altLang="en-US"/>
              <a:t>×</a:t>
            </a:r>
            <a:endParaRPr lang="zh-CN" altLang="en-US"/>
          </a:p>
        </p:txBody>
      </p:sp>
    </p:spTree>
    <p:custDataLst>
      <p:tags r:id="rId1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randombar(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randombar(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randombar(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randombar(horizontal)">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randombar(horizontal)">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randombar(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randombar(horizont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1" grpId="0" bldLvl="0" animBg="1"/>
      <p:bldP spid="13" grpId="0" bldLvl="0" animBg="1"/>
      <p:bldP spid="14" grpId="0" bldLvl="0" animBg="1"/>
      <p:bldP spid="16" grpId="0" bldLvl="0" animBg="1"/>
      <p:bldP spid="25" grpId="0" bldLvl="0" animBg="1"/>
      <p:bldP spid="26" grpId="0" bldLvl="0" animBg="1"/>
      <p:bldP spid="27" grpId="0" bldLvl="0" animBg="1"/>
      <p:bldP spid="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75945" y="555625"/>
            <a:ext cx="5791200" cy="5746750"/>
          </a:xfrm>
          <a:prstGeom prst="rect">
            <a:avLst/>
          </a:prstGeom>
        </p:spPr>
      </p:pic>
      <p:sp>
        <p:nvSpPr>
          <p:cNvPr id="8" name="文本框 7"/>
          <p:cNvSpPr txBox="1"/>
          <p:nvPr>
            <p:custDataLst>
              <p:tags r:id="rId2"/>
            </p:custDataLst>
          </p:nvPr>
        </p:nvSpPr>
        <p:spPr>
          <a:xfrm>
            <a:off x="4182745" y="967740"/>
            <a:ext cx="2184400" cy="338455"/>
          </a:xfrm>
          <a:prstGeom prst="rect">
            <a:avLst/>
          </a:prstGeom>
          <a:solidFill>
            <a:srgbClr val="CBEAF6"/>
          </a:solidFill>
        </p:spPr>
        <p:txBody>
          <a:bodyPr wrap="square" rtlCol="0">
            <a:noAutofit/>
          </a:bodyPr>
          <a:p>
            <a:pPr algn="ctr"/>
            <a:r>
              <a:rPr lang="zh-CN" altLang="en-US" b="1" dirty="0">
                <a:solidFill>
                  <a:srgbClr val="FF0000"/>
                </a:solidFill>
                <a:latin typeface="仿宋" panose="02010609060101010101" pitchFamily="49" charset="-122"/>
                <a:ea typeface="仿宋" panose="02010609060101010101" pitchFamily="49" charset="-122"/>
              </a:rPr>
              <a:t>学生</a:t>
            </a:r>
            <a:r>
              <a:rPr lang="en-US" altLang="zh-CN" b="1" dirty="0">
                <a:solidFill>
                  <a:srgbClr val="FF0000"/>
                </a:solidFill>
                <a:latin typeface="仿宋" panose="02010609060101010101" pitchFamily="49" charset="-122"/>
                <a:ea typeface="仿宋" panose="02010609060101010101" pitchFamily="49" charset="-122"/>
              </a:rPr>
              <a:t>-</a:t>
            </a:r>
            <a:r>
              <a:rPr lang="zh-CN" altLang="en-US" b="1" dirty="0">
                <a:solidFill>
                  <a:srgbClr val="FF0000"/>
                </a:solidFill>
                <a:latin typeface="仿宋" panose="02010609060101010101" pitchFamily="49" charset="-122"/>
                <a:ea typeface="仿宋" panose="02010609060101010101" pitchFamily="49" charset="-122"/>
              </a:rPr>
              <a:t>习题交互模块</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5" name="对话气泡: 圆角矩形 6"/>
          <p:cNvSpPr/>
          <p:nvPr>
            <p:custDataLst>
              <p:tags r:id="rId3"/>
            </p:custDataLst>
          </p:nvPr>
        </p:nvSpPr>
        <p:spPr>
          <a:xfrm>
            <a:off x="478310" y="3007384"/>
            <a:ext cx="733790" cy="296386"/>
          </a:xfrm>
          <a:prstGeom prst="wedgeRoundRectCallout">
            <a:avLst>
              <a:gd name="adj1" fmla="val -9781"/>
              <a:gd name="adj2" fmla="val 106821"/>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9" name="对话气泡: 圆角矩形 6"/>
          <p:cNvSpPr/>
          <p:nvPr>
            <p:custDataLst>
              <p:tags r:id="rId4"/>
            </p:custDataLst>
          </p:nvPr>
        </p:nvSpPr>
        <p:spPr>
          <a:xfrm>
            <a:off x="1961670" y="3132479"/>
            <a:ext cx="733790" cy="296386"/>
          </a:xfrm>
          <a:prstGeom prst="wedgeRoundRectCallout">
            <a:avLst>
              <a:gd name="adj1" fmla="val 40669"/>
              <a:gd name="adj2" fmla="val 80254"/>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endParaRPr lang="zh-CN" altLang="en-US" i="1" dirty="0">
              <a:solidFill>
                <a:schemeClr val="tx1"/>
              </a:solidFill>
              <a:latin typeface="仿宋" panose="02010609060101010101" pitchFamily="49" charset="-122"/>
              <a:ea typeface="仿宋" panose="02010609060101010101" pitchFamily="49" charset="-122"/>
            </a:endParaRPr>
          </a:p>
        </p:txBody>
      </p:sp>
      <p:pic>
        <p:nvPicPr>
          <p:cNvPr id="10" name="图片 9"/>
          <p:cNvPicPr>
            <a:picLocks noChangeAspect="1"/>
          </p:cNvPicPr>
          <p:nvPr/>
        </p:nvPicPr>
        <p:blipFill>
          <a:blip r:embed="rId5"/>
          <a:srcRect l="8339" t="74598"/>
          <a:stretch>
            <a:fillRect/>
          </a:stretch>
        </p:blipFill>
        <p:spPr>
          <a:xfrm>
            <a:off x="6898005" y="1543050"/>
            <a:ext cx="5143500" cy="695325"/>
          </a:xfrm>
          <a:prstGeom prst="rect">
            <a:avLst/>
          </a:prstGeom>
        </p:spPr>
      </p:pic>
      <p:pic>
        <p:nvPicPr>
          <p:cNvPr id="11" name="图片 10"/>
          <p:cNvPicPr>
            <a:picLocks noChangeAspect="1"/>
          </p:cNvPicPr>
          <p:nvPr/>
        </p:nvPicPr>
        <p:blipFill>
          <a:blip r:embed="rId6"/>
          <a:stretch>
            <a:fillRect/>
          </a:stretch>
        </p:blipFill>
        <p:spPr>
          <a:xfrm>
            <a:off x="6508750" y="346075"/>
            <a:ext cx="5683250" cy="384810"/>
          </a:xfrm>
          <a:prstGeom prst="rect">
            <a:avLst/>
          </a:prstGeom>
        </p:spPr>
      </p:pic>
      <p:sp>
        <p:nvSpPr>
          <p:cNvPr id="17" name="文本框 16"/>
          <p:cNvSpPr txBox="1"/>
          <p:nvPr>
            <p:custDataLst>
              <p:tags r:id="rId7"/>
            </p:custDataLst>
          </p:nvPr>
        </p:nvSpPr>
        <p:spPr>
          <a:xfrm>
            <a:off x="6701155" y="1094740"/>
            <a:ext cx="2434590"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利用经典</a:t>
            </a:r>
            <a:r>
              <a:rPr lang="en-US" altLang="zh-CN" sz="2000" b="1" dirty="0">
                <a:solidFill>
                  <a:srgbClr val="FF0000"/>
                </a:solidFill>
                <a:latin typeface="仿宋" panose="02010609060101010101" pitchFamily="49" charset="-122"/>
                <a:ea typeface="仿宋" panose="02010609060101010101" pitchFamily="49" charset="-122"/>
              </a:rPr>
              <a:t>NCD</a:t>
            </a:r>
            <a:r>
              <a:rPr lang="zh-CN" altLang="en-US" sz="2000" b="1" dirty="0">
                <a:solidFill>
                  <a:srgbClr val="FF0000"/>
                </a:solidFill>
                <a:latin typeface="仿宋" panose="02010609060101010101" pitchFamily="49" charset="-122"/>
                <a:ea typeface="仿宋" panose="02010609060101010101" pitchFamily="49" charset="-122"/>
              </a:rPr>
              <a:t>模型</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25" name="文本框 24"/>
          <p:cNvSpPr txBox="1"/>
          <p:nvPr>
            <p:custDataLst>
              <p:tags r:id="rId8"/>
            </p:custDataLst>
          </p:nvPr>
        </p:nvSpPr>
        <p:spPr>
          <a:xfrm>
            <a:off x="6701155" y="2435860"/>
            <a:ext cx="2954655" cy="338455"/>
          </a:xfrm>
          <a:prstGeom prst="rect">
            <a:avLst/>
          </a:prstGeom>
          <a:solidFill>
            <a:srgbClr val="CBEAF6"/>
          </a:solidFill>
        </p:spPr>
        <p:txBody>
          <a:bodyPr wrap="square" rtlCol="0">
            <a:noAutofit/>
          </a:bodyPr>
          <a:p>
            <a:pPr algn="ctr"/>
            <a:r>
              <a:rPr lang="zh-CN" sz="2000" b="1" dirty="0">
                <a:solidFill>
                  <a:srgbClr val="FF0000"/>
                </a:solidFill>
                <a:latin typeface="仿宋" panose="02010609060101010101" pitchFamily="49" charset="-122"/>
                <a:ea typeface="仿宋" panose="02010609060101010101" pitchFamily="49" charset="-122"/>
              </a:rPr>
              <a:t>新的学生</a:t>
            </a:r>
            <a:r>
              <a:rPr lang="en-US" altLang="zh-CN" sz="2000" b="1" dirty="0">
                <a:solidFill>
                  <a:srgbClr val="FF0000"/>
                </a:solidFill>
                <a:latin typeface="仿宋" panose="02010609060101010101" pitchFamily="49" charset="-122"/>
                <a:ea typeface="仿宋" panose="02010609060101010101" pitchFamily="49" charset="-122"/>
              </a:rPr>
              <a:t>-</a:t>
            </a:r>
            <a:r>
              <a:rPr lang="zh-CN" altLang="en-US" sz="2000" b="1" dirty="0">
                <a:solidFill>
                  <a:srgbClr val="FF0000"/>
                </a:solidFill>
                <a:latin typeface="仿宋" panose="02010609060101010101" pitchFamily="49" charset="-122"/>
                <a:ea typeface="仿宋" panose="02010609060101010101" pitchFamily="49" charset="-122"/>
              </a:rPr>
              <a:t>习题交互函数</a:t>
            </a:r>
            <a:endParaRPr lang="zh-CN" altLang="en-US" sz="2000" b="1" dirty="0">
              <a:solidFill>
                <a:srgbClr val="FF0000"/>
              </a:solidFill>
              <a:latin typeface="仿宋" panose="02010609060101010101" pitchFamily="49" charset="-122"/>
              <a:ea typeface="仿宋" panose="02010609060101010101" pitchFamily="49" charset="-122"/>
            </a:endParaRPr>
          </a:p>
        </p:txBody>
      </p:sp>
      <p:pic>
        <p:nvPicPr>
          <p:cNvPr id="27" name="图片 26"/>
          <p:cNvPicPr>
            <a:picLocks noChangeAspect="1"/>
          </p:cNvPicPr>
          <p:nvPr/>
        </p:nvPicPr>
        <p:blipFill>
          <a:blip r:embed="rId9"/>
          <a:stretch>
            <a:fillRect/>
          </a:stretch>
        </p:blipFill>
        <p:spPr>
          <a:xfrm>
            <a:off x="6799580" y="4569460"/>
            <a:ext cx="4969510" cy="1659255"/>
          </a:xfrm>
          <a:prstGeom prst="rect">
            <a:avLst/>
          </a:prstGeom>
        </p:spPr>
      </p:pic>
      <mc:AlternateContent xmlns:mc="http://schemas.openxmlformats.org/markup-compatibility/2006">
        <mc:Choice xmlns:a14="http://schemas.microsoft.com/office/drawing/2010/main" Requires="a14">
          <p:sp>
            <p:nvSpPr>
              <p:cNvPr id="28" name="文本框 27"/>
              <p:cNvSpPr txBox="1"/>
              <p:nvPr/>
            </p:nvSpPr>
            <p:spPr>
              <a:xfrm>
                <a:off x="6699885" y="2865120"/>
                <a:ext cx="5403850" cy="1693545"/>
              </a:xfrm>
              <a:prstGeom prst="rect">
                <a:avLst/>
              </a:prstGeom>
              <a:solidFill>
                <a:schemeClr val="accent1">
                  <a:lumMod val="40000"/>
                  <a:lumOff val="60000"/>
                </a:schemeClr>
              </a:solidFill>
            </p:spPr>
            <p:txBody>
              <a:bodyPr wrap="square">
                <a:spAutoFit/>
              </a:bodyPr>
              <a:p>
                <a:pPr indent="457200" fontAlgn="auto"/>
                <a:r>
                  <a:rPr lang="zh-CN" altLang="en-US" sz="2000" b="1" i="0" dirty="0">
                    <a:solidFill>
                      <a:schemeClr val="accent1"/>
                    </a:solidFill>
                    <a:latin typeface="仿宋" panose="02010609060101010101" pitchFamily="49" charset="-122"/>
                    <a:ea typeface="仿宋" panose="02010609060101010101" pitchFamily="49" charset="-122"/>
                  </a:rPr>
                  <a:t>将学生的知识掌握向量</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𝜶</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𝐢</m:t>
                    </m:r>
                  </m:oMath>
                </a14:m>
                <a:r>
                  <a:rPr lang="zh-CN" altLang="en-US" sz="2000" b="1" i="0" dirty="0">
                    <a:solidFill>
                      <a:schemeClr val="accent1"/>
                    </a:solidFill>
                    <a:latin typeface="仿宋" panose="02010609060101010101" pitchFamily="49" charset="-122"/>
                    <a:ea typeface="仿宋" panose="02010609060101010101" pitchFamily="49" charset="-122"/>
                  </a:rPr>
                  <a:t>和知识概念表示</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𝒉</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𝑲</m:t>
                        </m:r>
                      </m:sup>
                    </m:sSubSup>
                  </m:oMath>
                </a14:m>
                <a:r>
                  <a:rPr lang="zh-CN" altLang="en-US" sz="2000" b="1" i="0" dirty="0">
                    <a:solidFill>
                      <a:schemeClr val="accent1"/>
                    </a:solidFill>
                    <a:latin typeface="仿宋" panose="02010609060101010101" pitchFamily="49" charset="-122"/>
                    <a:ea typeface="仿宋" panose="02010609060101010101" pitchFamily="49" charset="-122"/>
                  </a:rPr>
                  <a:t>进行拼接，然后通过神经网络层得到关于每个知识点</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𝐤</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𝐜</m:t>
                    </m:r>
                  </m:oMath>
                </a14:m>
                <a:r>
                  <a:rPr lang="zh-CN" altLang="en-US" sz="2000" b="1" i="0" dirty="0">
                    <a:solidFill>
                      <a:schemeClr val="accent1"/>
                    </a:solidFill>
                    <a:latin typeface="仿宋" panose="02010609060101010101" pitchFamily="49" charset="-122"/>
                    <a:ea typeface="仿宋" panose="02010609060101010101" pitchFamily="49" charset="-122"/>
                  </a:rPr>
                  <a:t>的高阶学生知识掌握向量</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𝜶</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𝒊𝒄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sup>
                    </m:sSubSup>
                  </m:oMath>
                </a14:m>
                <a:r>
                  <a:rPr lang="zh-CN" altLang="en-US" sz="2000" b="1" i="0" dirty="0">
                    <a:solidFill>
                      <a:schemeClr val="accent1"/>
                    </a:solidFill>
                    <a:latin typeface="仿宋" panose="02010609060101010101" pitchFamily="49" charset="-122"/>
                    <a:ea typeface="仿宋" panose="02010609060101010101" pitchFamily="49" charset="-122"/>
                  </a:rPr>
                  <a:t>。</a:t>
                </a:r>
                <a:endParaRPr lang="zh-CN" altLang="en-US" sz="2000" b="1" i="0" dirty="0">
                  <a:solidFill>
                    <a:schemeClr val="accent1"/>
                  </a:solidFill>
                  <a:latin typeface="仿宋" panose="02010609060101010101" pitchFamily="49" charset="-122"/>
                  <a:ea typeface="仿宋" panose="02010609060101010101" pitchFamily="49" charset="-122"/>
                </a:endParaRPr>
              </a:p>
              <a:p>
                <a:pPr indent="457200" fontAlgn="auto"/>
                <a:r>
                  <a:rPr lang="zh-CN" altLang="en-US" sz="2000" b="1" i="0" dirty="0">
                    <a:solidFill>
                      <a:schemeClr val="accent1"/>
                    </a:solidFill>
                    <a:latin typeface="仿宋" panose="02010609060101010101" pitchFamily="49" charset="-122"/>
                    <a:ea typeface="仿宋" panose="02010609060101010101" pitchFamily="49" charset="-122"/>
                  </a:rPr>
                  <a:t>同样地，对习题参数做类似运算，可得到关于</a:t>
                </a:r>
                <a:r>
                  <a:rPr lang="zh-CN" altLang="en-US" sz="2000" b="1" dirty="0">
                    <a:solidFill>
                      <a:schemeClr val="accent1"/>
                    </a:solidFill>
                    <a:latin typeface="仿宋" panose="02010609060101010101" pitchFamily="49" charset="-122"/>
                    <a:ea typeface="仿宋" panose="02010609060101010101" pitchFamily="49" charset="-122"/>
                    <a:sym typeface="+mn-ea"/>
                  </a:rPr>
                  <a:t>每个知识点</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𝐤</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𝐜</m:t>
                    </m:r>
                  </m:oMath>
                </a14:m>
                <a:r>
                  <a:rPr lang="zh-CN" altLang="en-US" sz="2000" b="1" dirty="0">
                    <a:solidFill>
                      <a:schemeClr val="accent1"/>
                    </a:solidFill>
                    <a:latin typeface="仿宋" panose="02010609060101010101" pitchFamily="49" charset="-122"/>
                    <a:ea typeface="仿宋" panose="02010609060101010101" pitchFamily="49" charset="-122"/>
                    <a:sym typeface="+mn-ea"/>
                  </a:rPr>
                  <a:t>的</a:t>
                </a:r>
                <a:r>
                  <a:rPr lang="zh-CN" altLang="en-US" sz="2000" b="1" i="0" dirty="0">
                    <a:solidFill>
                      <a:schemeClr val="accent1"/>
                    </a:solidFill>
                    <a:latin typeface="仿宋" panose="02010609060101010101" pitchFamily="49" charset="-122"/>
                    <a:ea typeface="仿宋" panose="02010609060101010101" pitchFamily="49" charset="-122"/>
                  </a:rPr>
                  <a:t>高阶知识点难度向量</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𝜷</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𝒌𝒄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sup>
                    </m:sSub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oMath>
                </a14:m>
                <a:endParaRPr lang="en-US" altLang="zh-CN" sz="2000" b="1" i="0" dirty="0">
                  <a:solidFill>
                    <a:schemeClr val="accent1"/>
                  </a:solidFill>
                  <a:latin typeface="仿宋" panose="02010609060101010101" pitchFamily="49" charset="-122"/>
                  <a:ea typeface="仿宋" panose="02010609060101010101" pitchFamily="49" charset="-122"/>
                </a:endParaRPr>
              </a:p>
            </p:txBody>
          </p:sp>
        </mc:Choice>
        <mc:Fallback>
          <p:sp>
            <p:nvSpPr>
              <p:cNvPr id="28" name="文本框 27"/>
              <p:cNvSpPr txBox="1">
                <a:spLocks noRot="1" noChangeAspect="1" noMove="1" noResize="1" noEditPoints="1" noAdjustHandles="1" noChangeArrowheads="1" noChangeShapeType="1" noTextEdit="1"/>
              </p:cNvSpPr>
              <p:nvPr/>
            </p:nvSpPr>
            <p:spPr>
              <a:xfrm>
                <a:off x="6699885" y="2865120"/>
                <a:ext cx="5403850" cy="1693545"/>
              </a:xfrm>
              <a:prstGeom prst="rect">
                <a:avLst/>
              </a:prstGeom>
              <a:blipFill rotWithShape="1">
                <a:blip r:embed="rId10"/>
                <a:stretch>
                  <a:fillRect/>
                </a:stretch>
              </a:blipFill>
            </p:spPr>
            <p:txBody>
              <a:bodyPr/>
              <a:lstStyle/>
              <a:p>
                <a:r>
                  <a:rPr lang="zh-CN" altLang="en-US">
                    <a:noFill/>
                  </a:rPr>
                  <a:t> </a:t>
                </a:r>
              </a:p>
            </p:txBody>
          </p:sp>
        </mc:Fallback>
      </mc:AlternateContent>
      <p:sp>
        <p:nvSpPr>
          <p:cNvPr id="29" name="对话气泡: 圆角矩形 10"/>
          <p:cNvSpPr/>
          <p:nvPr/>
        </p:nvSpPr>
        <p:spPr>
          <a:xfrm>
            <a:off x="5888990" y="5569585"/>
            <a:ext cx="1607820" cy="913130"/>
          </a:xfrm>
          <a:prstGeom prst="wedgeRoundRectCallout">
            <a:avLst>
              <a:gd name="adj1" fmla="val 59281"/>
              <a:gd name="adj2" fmla="val -8915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sz="2000" dirty="0">
                <a:latin typeface="Times New Roman" panose="02020603050405020304" pitchFamily="18" charset="0"/>
                <a:ea typeface="仿宋" panose="02010609060101010101" pitchFamily="49" charset="-122"/>
                <a:cs typeface="Times New Roman" panose="02020603050405020304" pitchFamily="18" charset="0"/>
              </a:rPr>
              <a:t>n</a:t>
            </a:r>
            <a:r>
              <a:rPr lang="en-US"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表示习题</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中包含的知识点数量</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0" name="对话气泡: 圆角矩形 10"/>
          <p:cNvSpPr/>
          <p:nvPr/>
        </p:nvSpPr>
        <p:spPr>
          <a:xfrm>
            <a:off x="4848860" y="4403090"/>
            <a:ext cx="1607820" cy="913130"/>
          </a:xfrm>
          <a:prstGeom prst="wedgeRoundRectCallout">
            <a:avLst>
              <a:gd name="adj1" fmla="val 76421"/>
              <a:gd name="adj2" fmla="val 1794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sz="2000" dirty="0">
                <a:latin typeface="Times New Roman" panose="02020603050405020304" pitchFamily="18" charset="0"/>
                <a:ea typeface="仿宋" panose="02010609060101010101" pitchFamily="49" charset="-122"/>
                <a:cs typeface="Times New Roman" panose="02020603050405020304" pitchFamily="18" charset="0"/>
              </a:rPr>
              <a:t>学生</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s</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i</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正确回答习题</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的预测概率</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对话气泡: 圆角矩形 10"/>
              <p:cNvSpPr/>
              <p:nvPr/>
            </p:nvSpPr>
            <p:spPr>
              <a:xfrm>
                <a:off x="8715375" y="6138545"/>
                <a:ext cx="3388360" cy="644525"/>
              </a:xfrm>
              <a:prstGeom prst="wedgeRoundRectCallout">
                <a:avLst>
                  <a:gd name="adj1" fmla="val 13742"/>
                  <a:gd name="adj2" fmla="val -464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marL="0" indent="0"/>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𝑠𝑒</m:t>
                        </m:r>
                      </m:sub>
                    </m:sSub>
                  </m:oMath>
                </a14:m>
                <a:r>
                  <a:rPr lang="en-US" altLang="zh-CN" sz="2000">
                    <a:latin typeface="-apple-system"/>
                    <a:ea typeface="-apple-system"/>
                    <a:sym typeface="+mn-ea"/>
                  </a:rPr>
                  <a:t>,</a:t>
                </a:r>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𝑠𝑘</m:t>
                        </m:r>
                      </m:sub>
                    </m:sSub>
                  </m:oMath>
                </a14:m>
                <a:r>
                  <a:rPr lang="en-US" altLang="zh-CN" sz="2000">
                    <a:latin typeface="-apple-system"/>
                    <a:ea typeface="-apple-system"/>
                    <a:sym typeface="+mn-ea"/>
                  </a:rPr>
                  <a:t>,</a:t>
                </a:r>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𝑒𝑘</m:t>
                        </m:r>
                      </m:sub>
                    </m:sSub>
                  </m:oMath>
                </a14:m>
                <a:r>
                  <a:rPr lang="zh-CN" altLang="en-US" sz="2000">
                    <a:latin typeface="-apple-system"/>
                    <a:ea typeface="-apple-system"/>
                    <a:sym typeface="+mn-ea"/>
                  </a:rPr>
                  <a:t>是表示不同全连接神经层的线性变换函数。</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mc:Choice>
        <mc:Fallback>
          <p:sp>
            <p:nvSpPr>
              <p:cNvPr id="33" name="对话气泡: 圆角矩形 10"/>
              <p:cNvSpPr>
                <a:spLocks noRot="1" noChangeAspect="1" noMove="1" noResize="1" noEditPoints="1" noAdjustHandles="1" noChangeArrowheads="1" noChangeShapeType="1" noTextEdit="1"/>
              </p:cNvSpPr>
              <p:nvPr/>
            </p:nvSpPr>
            <p:spPr>
              <a:xfrm>
                <a:off x="8715375" y="6138545"/>
                <a:ext cx="3388360" cy="644525"/>
              </a:xfrm>
              <a:prstGeom prst="wedgeRoundRectCallout">
                <a:avLst>
                  <a:gd name="adj1" fmla="val 13742"/>
                  <a:gd name="adj2" fmla="val -46453"/>
                  <a:gd name="adj3" fmla="val 16667"/>
                </a:avLst>
              </a:prstGeom>
              <a:blipFill rotWithShape="1">
                <a:blip r:embed="rId11"/>
                <a:stretch>
                  <a:fillRect l="-187" t="-13399" r="-187" b="-985"/>
                </a:stretch>
              </a:blipFill>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4" name="对话气泡: 圆角矩形 6"/>
          <p:cNvSpPr/>
          <p:nvPr/>
        </p:nvSpPr>
        <p:spPr>
          <a:xfrm>
            <a:off x="8628380" y="4479290"/>
            <a:ext cx="1160145" cy="296545"/>
          </a:xfrm>
          <a:prstGeom prst="wedgeRoundRectCallout">
            <a:avLst>
              <a:gd name="adj1" fmla="val 6704"/>
              <a:gd name="adj2" fmla="val 96680"/>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5" name="对话气泡: 圆角矩形 6"/>
          <p:cNvSpPr/>
          <p:nvPr/>
        </p:nvSpPr>
        <p:spPr>
          <a:xfrm>
            <a:off x="10151110" y="4479290"/>
            <a:ext cx="1160145" cy="296545"/>
          </a:xfrm>
          <a:prstGeom prst="wedgeRoundRectCallout">
            <a:avLst>
              <a:gd name="adj1" fmla="val -59906"/>
              <a:gd name="adj2" fmla="val 88758"/>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6" name="对话气泡: 圆角矩形 6"/>
          <p:cNvSpPr/>
          <p:nvPr/>
        </p:nvSpPr>
        <p:spPr>
          <a:xfrm>
            <a:off x="8298180" y="5245100"/>
            <a:ext cx="750570" cy="207010"/>
          </a:xfrm>
          <a:prstGeom prst="wedgeRoundRectCallout">
            <a:avLst>
              <a:gd name="adj1" fmla="val 24534"/>
              <a:gd name="adj2" fmla="val 100613"/>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7" name="对话气泡: 圆角矩形 6"/>
          <p:cNvSpPr/>
          <p:nvPr/>
        </p:nvSpPr>
        <p:spPr>
          <a:xfrm>
            <a:off x="7877810" y="6299835"/>
            <a:ext cx="750570" cy="207010"/>
          </a:xfrm>
          <a:prstGeom prst="wedgeRoundRectCallout">
            <a:avLst>
              <a:gd name="adj1" fmla="val 73096"/>
              <a:gd name="adj2" fmla="val -152147"/>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8" name="对话气泡: 圆角矩形 6"/>
          <p:cNvSpPr/>
          <p:nvPr>
            <p:custDataLst>
              <p:tags r:id="rId12"/>
            </p:custDataLst>
          </p:nvPr>
        </p:nvSpPr>
        <p:spPr>
          <a:xfrm>
            <a:off x="1661315" y="4106569"/>
            <a:ext cx="733790" cy="296386"/>
          </a:xfrm>
          <a:prstGeom prst="wedgeRoundRectCallout">
            <a:avLst>
              <a:gd name="adj1" fmla="val 26737"/>
              <a:gd name="adj2" fmla="val 112391"/>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 name="文本框 1"/>
          <p:cNvSpPr txBox="1"/>
          <p:nvPr/>
        </p:nvSpPr>
        <p:spPr>
          <a:xfrm>
            <a:off x="9135745" y="634365"/>
            <a:ext cx="2770505" cy="460375"/>
          </a:xfrm>
          <a:prstGeom prst="rect">
            <a:avLst/>
          </a:prstGeom>
          <a:noFill/>
        </p:spPr>
        <p:txBody>
          <a:bodyPr wrap="square" rtlCol="0" anchor="t">
            <a:spAutoFit/>
          </a:bodyPr>
          <a:p>
            <a:r>
              <a:rPr lang="zh-CN" altLang="en-US" sz="2400" b="1">
                <a:latin typeface="思源宋体 CN Heavy" panose="02020900000000000000" charset="-122"/>
                <a:ea typeface="思源宋体 CN Heavy" panose="02020900000000000000" charset="-122"/>
                <a:sym typeface="+mn-ea"/>
              </a:rPr>
              <a:t>学生</a:t>
            </a:r>
            <a:r>
              <a:rPr lang="en-US" altLang="zh-CN" sz="2400" b="1">
                <a:latin typeface="思源宋体 CN Heavy" panose="02020900000000000000" charset="-122"/>
                <a:ea typeface="思源宋体 CN Heavy" panose="02020900000000000000" charset="-122"/>
                <a:sym typeface="+mn-ea"/>
              </a:rPr>
              <a:t>-</a:t>
            </a:r>
            <a:r>
              <a:rPr lang="zh-CN" altLang="en-US" sz="2400" b="1">
                <a:latin typeface="思源宋体 CN Heavy" panose="02020900000000000000" charset="-122"/>
                <a:ea typeface="思源宋体 CN Heavy" panose="02020900000000000000" charset="-122"/>
                <a:sym typeface="+mn-ea"/>
              </a:rPr>
              <a:t>习题交互模块</a:t>
            </a:r>
            <a:endParaRPr lang="zh-CN" altLang="en-US" sz="2400" b="1">
              <a:latin typeface="思源宋体 CN Heavy" panose="02020900000000000000" charset="-122"/>
              <a:ea typeface="思源宋体 CN Heavy" panose="02020900000000000000" charset="-122"/>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3061970" y="4279265"/>
                <a:ext cx="665480" cy="35877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m:rPr>
                              <m:sty m:val="p"/>
                            </m:rPr>
                            <a:rPr lang="en-US" altLang="zh-CN">
                              <a:latin typeface="Cambria Math" panose="02040503050406030204" charset="0"/>
                              <a:cs typeface="Cambria Math" panose="02040503050406030204" charset="0"/>
                            </a:rPr>
                            <m:t>h</m:t>
                          </m:r>
                        </m:e>
                        <m:sub>
                          <m:r>
                            <a:rPr lang="en-US" altLang="zh-CN" i="1">
                              <a:latin typeface="Cambria Math" panose="02040503050406030204" charset="0"/>
                              <a:cs typeface="Cambria Math" panose="02040503050406030204" charset="0"/>
                            </a:rPr>
                            <m:t>𝑐</m:t>
                          </m:r>
                        </m:sub>
                        <m:sup>
                          <m:r>
                            <a:rPr lang="en-US" altLang="zh-CN" i="1">
                              <a:latin typeface="Cambria Math" panose="02040503050406030204" charset="0"/>
                              <a:cs typeface="Cambria Math" panose="02040503050406030204" charset="0"/>
                            </a:rPr>
                            <m:t>𝐾</m:t>
                          </m:r>
                        </m:sup>
                      </m:sSubSup>
                    </m:oMath>
                  </m:oMathPara>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3061970" y="4279265"/>
                <a:ext cx="665480" cy="358775"/>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3260725" y="5180330"/>
                <a:ext cx="665480" cy="35877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m:rPr>
                              <m:sty m:val="p"/>
                            </m:rPr>
                            <a:rPr lang="en-US" altLang="zh-CN">
                              <a:latin typeface="Cambria Math" panose="02040503050406030204" charset="0"/>
                              <a:cs typeface="Cambria Math" panose="02040503050406030204" charset="0"/>
                            </a:rPr>
                            <m:t>x</m:t>
                          </m:r>
                        </m:e>
                        <m:sub>
                          <m:r>
                            <a:rPr lang="en-US" altLang="zh-CN" i="1">
                              <a:latin typeface="Cambria Math" panose="02040503050406030204" charset="0"/>
                              <a:cs typeface="Cambria Math" panose="02040503050406030204" charset="0"/>
                            </a:rPr>
                            <m:t>𝑐</m:t>
                          </m:r>
                        </m:sub>
                        <m:sup>
                          <m:r>
                            <a:rPr lang="en-US" altLang="zh-CN" i="1">
                              <a:latin typeface="Cambria Math" panose="02040503050406030204" charset="0"/>
                              <a:cs typeface="Cambria Math" panose="02040503050406030204" charset="0"/>
                            </a:rPr>
                            <m:t>𝐾</m:t>
                          </m:r>
                        </m:sup>
                      </m:sSubSup>
                    </m:oMath>
                  </m:oMathPara>
                </a14:m>
                <a:endParaRPr lang="en-US" altLang="zh-CN"/>
              </a:p>
            </p:txBody>
          </p:sp>
        </mc:Choice>
        <mc:Fallback>
          <p:sp>
            <p:nvSpPr>
              <p:cNvPr id="32" name="文本框 31"/>
              <p:cNvSpPr txBox="1">
                <a:spLocks noRot="1" noChangeAspect="1" noMove="1" noResize="1" noEditPoints="1" noAdjustHandles="1" noChangeArrowheads="1" noChangeShapeType="1" noTextEdit="1"/>
              </p:cNvSpPr>
              <p:nvPr/>
            </p:nvSpPr>
            <p:spPr>
              <a:xfrm>
                <a:off x="3260725" y="5180330"/>
                <a:ext cx="665480" cy="358775"/>
              </a:xfrm>
              <a:prstGeom prst="rect">
                <a:avLst/>
              </a:prstGeom>
              <a:blipFill rotWithShape="1">
                <a:blip r:embed="rId14"/>
                <a:stretch>
                  <a:fillRect/>
                </a:stretch>
              </a:blipFill>
            </p:spPr>
            <p:txBody>
              <a:bodyPr/>
              <a:lstStyle/>
              <a:p>
                <a:r>
                  <a:rPr lang="zh-CN" altLang="en-US">
                    <a:noFill/>
                  </a:rPr>
                  <a:t> </a:t>
                </a:r>
              </a:p>
            </p:txBody>
          </p:sp>
        </mc:Fallback>
      </mc:AlternateContent>
      <p:sp>
        <p:nvSpPr>
          <p:cNvPr id="22" name="对话气泡: 圆角矩形 6"/>
          <p:cNvSpPr/>
          <p:nvPr>
            <p:custDataLst>
              <p:tags r:id="rId15"/>
            </p:custDataLst>
          </p:nvPr>
        </p:nvSpPr>
        <p:spPr>
          <a:xfrm>
            <a:off x="2862735" y="3874794"/>
            <a:ext cx="733790" cy="296386"/>
          </a:xfrm>
          <a:prstGeom prst="wedgeRoundRectCallout">
            <a:avLst>
              <a:gd name="adj1" fmla="val 17045"/>
              <a:gd name="adj2" fmla="val 120533"/>
              <a:gd name="adj3" fmla="val 16667"/>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13" name="对话气泡: 圆角矩形 6"/>
          <p:cNvSpPr/>
          <p:nvPr>
            <p:custDataLst>
              <p:tags r:id="rId16"/>
            </p:custDataLst>
          </p:nvPr>
        </p:nvSpPr>
        <p:spPr>
          <a:xfrm>
            <a:off x="9655965" y="5229249"/>
            <a:ext cx="733790" cy="296386"/>
          </a:xfrm>
          <a:prstGeom prst="wedgeRoundRectCallout">
            <a:avLst>
              <a:gd name="adj1" fmla="val -82472"/>
              <a:gd name="adj2" fmla="val 50902"/>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randombar(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randombar(horizontal)">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randombar(horizont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randombar(horizontal)">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randombar(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horizont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randombar(horizontal)">
                                      <p:cBhvr>
                                        <p:cTn id="4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3" grpId="0" bldLvl="0" animBg="1"/>
      <p:bldP spid="34" grpId="0" bldLvl="0" animBg="1"/>
      <p:bldP spid="35" grpId="0" bldLvl="0" animBg="1"/>
      <p:bldP spid="36" grpId="0" bldLvl="0" animBg="1"/>
      <p:bldP spid="37" grpId="0" bldLvl="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表格 22"/>
          <p:cNvGraphicFramePr/>
          <p:nvPr/>
        </p:nvGraphicFramePr>
        <p:xfrm>
          <a:off x="1729105" y="1290320"/>
          <a:ext cx="2381250" cy="2286000"/>
        </p:xfrm>
        <a:graphic>
          <a:graphicData uri="http://schemas.openxmlformats.org/drawingml/2006/table">
            <a:tbl>
              <a:tblPr firstRow="1" bandRow="1">
                <a:tableStyleId>{5940675A-B579-460E-94D1-54222C63F5DA}</a:tableStyleId>
              </a:tblPr>
              <a:tblGrid>
                <a:gridCol w="396875"/>
                <a:gridCol w="396875"/>
                <a:gridCol w="396875"/>
                <a:gridCol w="396875"/>
                <a:gridCol w="396875"/>
                <a:gridCol w="396875"/>
              </a:tblGrid>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r>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r>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r>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0</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0</a:t>
                      </a:r>
                      <a:endParaRPr lang="en-US" altLang="zh-CN"/>
                    </a:p>
                  </a:txBody>
                  <a:tcPr/>
                </a:tc>
              </a:tr>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r>
              <a:tr h="381000">
                <a:tc>
                  <a:txBody>
                    <a:bodyPr/>
                    <a:p>
                      <a:pPr>
                        <a:buNone/>
                      </a:pPr>
                      <a:endParaRPr lang="zh-CN" altLang="en-US">
                        <a:solidFill>
                          <a:schemeClr val="tx1">
                            <a:lumMod val="50000"/>
                            <a:lumOff val="50000"/>
                          </a:schemeClr>
                        </a:solidFill>
                      </a:endParaRPr>
                    </a:p>
                  </a:txBody>
                  <a:tcPr>
                    <a:solidFill>
                      <a:schemeClr val="bg2">
                        <a:lumMod val="90000"/>
                      </a:schemeClr>
                    </a:solidFill>
                  </a:tcPr>
                </a:tc>
                <a:tc>
                  <a:txBody>
                    <a:bodyPr/>
                    <a:p>
                      <a:pPr>
                        <a:buNone/>
                      </a:pPr>
                      <a:r>
                        <a:rPr lang="en-US" altLang="zh-CN"/>
                        <a:t>1</a:t>
                      </a:r>
                      <a:endParaRPr lang="en-US" altLang="zh-CN"/>
                    </a:p>
                  </a:txBody>
                  <a:tcPr/>
                </a:tc>
                <a:tc>
                  <a:txBody>
                    <a:bodyPr/>
                    <a:p>
                      <a:pPr>
                        <a:buNone/>
                      </a:pPr>
                      <a:r>
                        <a:rPr lang="en-US" altLang="zh-CN"/>
                        <a:t>0</a:t>
                      </a:r>
                      <a:endParaRPr lang="en-US" altLang="zh-CN"/>
                    </a:p>
                  </a:txBody>
                  <a:tcPr/>
                </a:tc>
                <a:tc>
                  <a:txBody>
                    <a:bodyPr/>
                    <a:p>
                      <a:pPr>
                        <a:buNone/>
                      </a:pPr>
                      <a:r>
                        <a:rPr lang="en-US" altLang="zh-CN"/>
                        <a:t>1</a:t>
                      </a:r>
                      <a:endParaRPr lang="en-US" altLang="zh-CN"/>
                    </a:p>
                  </a:txBody>
                  <a:tcPr/>
                </a:tc>
                <a:tc>
                  <a:txBody>
                    <a:bodyPr/>
                    <a:p>
                      <a:pPr>
                        <a:buNone/>
                      </a:pPr>
                      <a:r>
                        <a:rPr lang="en-US" altLang="zh-CN"/>
                        <a:t>1</a:t>
                      </a:r>
                      <a:endParaRPr lang="en-US" altLang="zh-CN"/>
                    </a:p>
                  </a:txBody>
                  <a:tcPr/>
                </a:tc>
                <a:tc>
                  <a:txBody>
                    <a:bodyPr/>
                    <a:p>
                      <a:pPr>
                        <a:buNone/>
                      </a:pPr>
                      <a:r>
                        <a:rPr lang="en-US" altLang="zh-CN"/>
                        <a:t>1</a:t>
                      </a:r>
                      <a:endParaRPr lang="en-US" altLang="zh-CN"/>
                    </a:p>
                  </a:txBody>
                  <a:tcPr/>
                </a:tc>
              </a:tr>
            </a:tbl>
          </a:graphicData>
        </a:graphic>
      </p:graphicFrame>
      <p:sp>
        <p:nvSpPr>
          <p:cNvPr id="24" name="文本框 23"/>
          <p:cNvSpPr txBox="1"/>
          <p:nvPr/>
        </p:nvSpPr>
        <p:spPr>
          <a:xfrm>
            <a:off x="2338705" y="310515"/>
            <a:ext cx="1162050" cy="368300"/>
          </a:xfrm>
          <a:prstGeom prst="rect">
            <a:avLst/>
          </a:prstGeom>
          <a:noFill/>
        </p:spPr>
        <p:txBody>
          <a:bodyPr wrap="square" rtlCol="0">
            <a:spAutoFit/>
          </a:bodyPr>
          <a:p>
            <a:r>
              <a:rPr lang="en-US" altLang="zh-CN"/>
              <a:t>Q-Matrix</a:t>
            </a:r>
            <a:endParaRPr lang="en-US" altLang="zh-CN"/>
          </a:p>
        </p:txBody>
      </p:sp>
      <p:sp>
        <p:nvSpPr>
          <p:cNvPr id="26" name="文本框 25"/>
          <p:cNvSpPr txBox="1"/>
          <p:nvPr/>
        </p:nvSpPr>
        <p:spPr>
          <a:xfrm>
            <a:off x="1168400" y="922020"/>
            <a:ext cx="640080" cy="368300"/>
          </a:xfrm>
          <a:prstGeom prst="rect">
            <a:avLst/>
          </a:prstGeom>
          <a:noFill/>
        </p:spPr>
        <p:txBody>
          <a:bodyPr wrap="square" rtlCol="0">
            <a:spAutoFit/>
          </a:bodyPr>
          <a:p>
            <a:pPr algn="l">
              <a:buClrTx/>
              <a:buSzTx/>
              <a:buFontTx/>
            </a:pPr>
            <a:r>
              <a:rPr lang="en-US" altLang="zh-CN"/>
              <a:t> </a:t>
            </a:r>
            <a:r>
              <a:rPr lang="en-US" altLang="zh-CN" b="1"/>
              <a:t>c =</a:t>
            </a:r>
            <a:endParaRPr lang="en-US" altLang="zh-CN" b="1"/>
          </a:p>
        </p:txBody>
      </p:sp>
      <p:sp>
        <p:nvSpPr>
          <p:cNvPr id="39" name="文本框 38"/>
          <p:cNvSpPr txBox="1"/>
          <p:nvPr/>
        </p:nvSpPr>
        <p:spPr>
          <a:xfrm>
            <a:off x="724535" y="2227580"/>
            <a:ext cx="444500" cy="368300"/>
          </a:xfrm>
          <a:prstGeom prst="rect">
            <a:avLst/>
          </a:prstGeom>
          <a:noFill/>
        </p:spPr>
        <p:txBody>
          <a:bodyPr wrap="square" rtlCol="0">
            <a:spAutoFit/>
          </a:bodyPr>
          <a:p>
            <a:r>
              <a:rPr lang="en-US" altLang="zh-CN" b="1"/>
              <a:t>j =</a:t>
            </a:r>
            <a:endParaRPr lang="en-US" altLang="zh-CN" b="1"/>
          </a:p>
        </p:txBody>
      </p:sp>
      <p:graphicFrame>
        <p:nvGraphicFramePr>
          <p:cNvPr id="40" name="表格 39"/>
          <p:cNvGraphicFramePr/>
          <p:nvPr/>
        </p:nvGraphicFramePr>
        <p:xfrm>
          <a:off x="1729105" y="1290320"/>
          <a:ext cx="396875" cy="2286000"/>
        </p:xfrm>
        <a:graphic>
          <a:graphicData uri="http://schemas.openxmlformats.org/drawingml/2006/table">
            <a:tbl>
              <a:tblPr firstRow="1" bandRow="1">
                <a:tableStyleId>{5940675A-B579-460E-94D1-54222C63F5DA}</a:tableStyleId>
              </a:tblPr>
              <a:tblGrid>
                <a:gridCol w="396875"/>
              </a:tblGrid>
              <a:tr h="381000">
                <a:tc>
                  <a:txBody>
                    <a:bodyPr/>
                    <a:p>
                      <a:pPr algn="l">
                        <a:buClrTx/>
                        <a:buSzTx/>
                        <a:buFontTx/>
                        <a:buNone/>
                      </a:pPr>
                      <a:r>
                        <a:rPr lang="en-US" altLang="zh-CN"/>
                        <a:t>1</a:t>
                      </a:r>
                      <a:endParaRPr lang="en-US" altLang="zh-CN"/>
                    </a:p>
                  </a:txBody>
                  <a:tcPr>
                    <a:solidFill>
                      <a:schemeClr val="bg1"/>
                    </a:solidFill>
                  </a:tcPr>
                </a:tc>
              </a:tr>
              <a:tr h="381000">
                <a:tc>
                  <a:txBody>
                    <a:bodyPr/>
                    <a:p>
                      <a:pPr algn="l">
                        <a:buClrTx/>
                        <a:buSzTx/>
                        <a:buFontTx/>
                        <a:buNone/>
                      </a:pPr>
                      <a:r>
                        <a:rPr lang="en-US" altLang="zh-CN"/>
                        <a:t>0</a:t>
                      </a:r>
                      <a:endParaRPr lang="en-US" altLang="zh-CN"/>
                    </a:p>
                  </a:txBody>
                  <a:tcPr>
                    <a:solidFill>
                      <a:schemeClr val="bg1"/>
                    </a:solidFill>
                  </a:tcPr>
                </a:tc>
              </a:tr>
              <a:tr h="381000">
                <a:tc>
                  <a:txBody>
                    <a:bodyPr/>
                    <a:p>
                      <a:pPr algn="l">
                        <a:buClrTx/>
                        <a:buSzTx/>
                        <a:buFontTx/>
                        <a:buNone/>
                      </a:pPr>
                      <a:r>
                        <a:rPr lang="en-US" altLang="zh-CN"/>
                        <a:t>1</a:t>
                      </a:r>
                      <a:endParaRPr lang="en-US" altLang="zh-CN"/>
                    </a:p>
                  </a:txBody>
                  <a:tcPr>
                    <a:solidFill>
                      <a:schemeClr val="bg1"/>
                    </a:solidFill>
                  </a:tcPr>
                </a:tc>
              </a:tr>
              <a:tr h="381000">
                <a:tc>
                  <a:txBody>
                    <a:bodyPr/>
                    <a:p>
                      <a:pPr algn="l">
                        <a:buClrTx/>
                        <a:buSzTx/>
                        <a:buFontTx/>
                        <a:buNone/>
                      </a:pPr>
                      <a:r>
                        <a:rPr lang="en-US" altLang="zh-CN"/>
                        <a:t>0</a:t>
                      </a:r>
                      <a:endParaRPr lang="en-US" altLang="zh-CN"/>
                    </a:p>
                  </a:txBody>
                  <a:tcPr>
                    <a:solidFill>
                      <a:schemeClr val="bg1"/>
                    </a:solidFill>
                  </a:tcPr>
                </a:tc>
              </a:tr>
              <a:tr h="381000">
                <a:tc>
                  <a:txBody>
                    <a:bodyPr/>
                    <a:p>
                      <a:pPr algn="l">
                        <a:buClrTx/>
                        <a:buSzTx/>
                        <a:buFontTx/>
                        <a:buNone/>
                      </a:pPr>
                      <a:r>
                        <a:rPr lang="en-US" altLang="zh-CN"/>
                        <a:t>0</a:t>
                      </a:r>
                      <a:endParaRPr lang="en-US" altLang="zh-CN"/>
                    </a:p>
                  </a:txBody>
                  <a:tcPr>
                    <a:solidFill>
                      <a:schemeClr val="bg1"/>
                    </a:solidFill>
                  </a:tcPr>
                </a:tc>
              </a:tr>
              <a:tr h="381000">
                <a:tc>
                  <a:txBody>
                    <a:bodyPr/>
                    <a:p>
                      <a:pPr algn="l">
                        <a:buClrTx/>
                        <a:buSzTx/>
                        <a:buFontTx/>
                        <a:buNone/>
                      </a:pPr>
                      <a:r>
                        <a:rPr lang="en-US" altLang="zh-CN"/>
                        <a:t>0</a:t>
                      </a:r>
                      <a:endParaRPr lang="en-US" altLang="zh-CN"/>
                    </a:p>
                  </a:txBody>
                  <a:tcPr>
                    <a:solidFill>
                      <a:schemeClr val="bg1"/>
                    </a:solidFill>
                  </a:tcPr>
                </a:tc>
              </a:tr>
            </a:tbl>
          </a:graphicData>
        </a:graphic>
      </p:graphicFrame>
      <p:graphicFrame>
        <p:nvGraphicFramePr>
          <p:cNvPr id="41" name="表格 40"/>
          <p:cNvGraphicFramePr/>
          <p:nvPr>
            <p:custDataLst>
              <p:tags r:id="rId1"/>
            </p:custDataLst>
          </p:nvPr>
        </p:nvGraphicFramePr>
        <p:xfrm>
          <a:off x="1169035" y="1297940"/>
          <a:ext cx="419100" cy="2278380"/>
        </p:xfrm>
        <a:graphic>
          <a:graphicData uri="http://schemas.openxmlformats.org/drawingml/2006/table">
            <a:tbl>
              <a:tblPr firstRow="1" bandRow="1">
                <a:tableStyleId>{5940675A-B579-460E-94D1-54222C63F5DA}</a:tableStyleId>
              </a:tblPr>
              <a:tblGrid>
                <a:gridCol w="419100"/>
              </a:tblGrid>
              <a:tr h="379730">
                <a:tc>
                  <a:txBody>
                    <a:bodyPr/>
                    <a:p>
                      <a:pPr>
                        <a:buNone/>
                      </a:pPr>
                      <a:r>
                        <a:rPr lang="en-US" altLang="zh-CN" b="1"/>
                        <a:t>1</a:t>
                      </a:r>
                      <a:endParaRPr lang="en-US" altLang="zh-CN" b="1"/>
                    </a:p>
                  </a:txBody>
                  <a:tcPr>
                    <a:lnL>
                      <a:noFill/>
                    </a:lnL>
                    <a:lnR>
                      <a:noFill/>
                    </a:lnR>
                    <a:lnT>
                      <a:noFill/>
                    </a:lnT>
                    <a:lnB>
                      <a:noFill/>
                    </a:lnB>
                    <a:lnTlToBr>
                      <a:noFill/>
                    </a:lnTlToBr>
                    <a:lnBlToTr>
                      <a:noFill/>
                    </a:lnBlToTr>
                  </a:tcPr>
                </a:tc>
              </a:tr>
              <a:tr h="379730">
                <a:tc>
                  <a:txBody>
                    <a:bodyPr/>
                    <a:p>
                      <a:pPr algn="l">
                        <a:buClrTx/>
                        <a:buSzTx/>
                        <a:buFontTx/>
                        <a:buNone/>
                      </a:pPr>
                      <a:r>
                        <a:rPr lang="en-US" altLang="zh-CN" b="1"/>
                        <a:t>2</a:t>
                      </a:r>
                      <a:endParaRPr lang="en-US" altLang="zh-CN" b="1"/>
                    </a:p>
                  </a:txBody>
                  <a:tcPr>
                    <a:lnL>
                      <a:noFill/>
                    </a:lnL>
                    <a:lnR>
                      <a:noFill/>
                    </a:lnR>
                    <a:lnT>
                      <a:noFill/>
                    </a:lnT>
                    <a:lnB>
                      <a:noFill/>
                    </a:lnB>
                    <a:lnTlToBr>
                      <a:noFill/>
                    </a:lnTlToBr>
                    <a:lnBlToTr>
                      <a:noFill/>
                    </a:lnBlToTr>
                  </a:tcPr>
                </a:tc>
              </a:tr>
              <a:tr h="379730">
                <a:tc>
                  <a:txBody>
                    <a:bodyPr/>
                    <a:p>
                      <a:pPr algn="l">
                        <a:buClrTx/>
                        <a:buSzTx/>
                        <a:buFontTx/>
                        <a:buNone/>
                      </a:pPr>
                      <a:r>
                        <a:rPr lang="en-US" altLang="zh-CN" b="1"/>
                        <a:t>3</a:t>
                      </a:r>
                      <a:endParaRPr lang="en-US" altLang="zh-CN" b="1"/>
                    </a:p>
                  </a:txBody>
                  <a:tcPr>
                    <a:lnL>
                      <a:noFill/>
                    </a:lnL>
                    <a:lnR>
                      <a:noFill/>
                    </a:lnR>
                    <a:lnT>
                      <a:noFill/>
                    </a:lnT>
                    <a:lnB>
                      <a:noFill/>
                    </a:lnB>
                    <a:lnTlToBr>
                      <a:noFill/>
                    </a:lnTlToBr>
                    <a:lnBlToTr>
                      <a:noFill/>
                    </a:lnBlToTr>
                  </a:tcPr>
                </a:tc>
              </a:tr>
              <a:tr h="379730">
                <a:tc>
                  <a:txBody>
                    <a:bodyPr/>
                    <a:p>
                      <a:pPr algn="l">
                        <a:buClrTx/>
                        <a:buSzTx/>
                        <a:buFontTx/>
                        <a:buNone/>
                      </a:pPr>
                      <a:r>
                        <a:rPr lang="en-US" altLang="zh-CN" b="1"/>
                        <a:t>4</a:t>
                      </a:r>
                      <a:endParaRPr lang="en-US" altLang="zh-CN" b="1"/>
                    </a:p>
                  </a:txBody>
                  <a:tcPr>
                    <a:lnL>
                      <a:noFill/>
                    </a:lnL>
                    <a:lnR>
                      <a:noFill/>
                    </a:lnR>
                    <a:lnT>
                      <a:noFill/>
                    </a:lnT>
                    <a:lnB>
                      <a:noFill/>
                    </a:lnB>
                    <a:lnTlToBr>
                      <a:noFill/>
                    </a:lnTlToBr>
                    <a:lnBlToTr>
                      <a:noFill/>
                    </a:lnBlToTr>
                  </a:tcPr>
                </a:tc>
              </a:tr>
              <a:tr h="379730">
                <a:tc>
                  <a:txBody>
                    <a:bodyPr/>
                    <a:p>
                      <a:pPr algn="l">
                        <a:buClrTx/>
                        <a:buSzTx/>
                        <a:buFontTx/>
                        <a:buNone/>
                      </a:pPr>
                      <a:r>
                        <a:rPr lang="en-US" altLang="zh-CN" b="1"/>
                        <a:t>5</a:t>
                      </a:r>
                      <a:endParaRPr lang="en-US" altLang="zh-CN" b="1"/>
                    </a:p>
                  </a:txBody>
                  <a:tcPr>
                    <a:lnL>
                      <a:noFill/>
                    </a:lnL>
                    <a:lnR>
                      <a:noFill/>
                    </a:lnR>
                    <a:lnT>
                      <a:noFill/>
                    </a:lnT>
                    <a:lnB>
                      <a:noFill/>
                    </a:lnB>
                    <a:lnTlToBr>
                      <a:noFill/>
                    </a:lnTlToBr>
                    <a:lnBlToTr>
                      <a:noFill/>
                    </a:lnBlToTr>
                  </a:tcPr>
                </a:tc>
              </a:tr>
              <a:tr h="379730">
                <a:tc>
                  <a:txBody>
                    <a:bodyPr/>
                    <a:p>
                      <a:pPr algn="l">
                        <a:buClrTx/>
                        <a:buSzTx/>
                        <a:buFontTx/>
                        <a:buNone/>
                      </a:pPr>
                      <a:r>
                        <a:rPr lang="en-US" altLang="zh-CN" b="1"/>
                        <a:t>6</a:t>
                      </a:r>
                      <a:endParaRPr lang="en-US" altLang="zh-CN" b="1"/>
                    </a:p>
                  </a:txBody>
                  <a:tcPr>
                    <a:lnL>
                      <a:noFill/>
                    </a:lnL>
                    <a:lnR>
                      <a:noFill/>
                    </a:lnR>
                    <a:lnT>
                      <a:noFill/>
                    </a:lnT>
                    <a:lnB>
                      <a:noFill/>
                    </a:lnB>
                    <a:lnTlToBr>
                      <a:noFill/>
                    </a:lnTlToBr>
                    <a:lnBlToTr>
                      <a:noFill/>
                    </a:lnBlToTr>
                  </a:tcPr>
                </a:tc>
              </a:tr>
            </a:tbl>
          </a:graphicData>
        </a:graphic>
      </p:graphicFrame>
      <p:graphicFrame>
        <p:nvGraphicFramePr>
          <p:cNvPr id="43" name="表格 42"/>
          <p:cNvGraphicFramePr/>
          <p:nvPr>
            <p:custDataLst>
              <p:tags r:id="rId2"/>
            </p:custDataLst>
          </p:nvPr>
        </p:nvGraphicFramePr>
        <p:xfrm>
          <a:off x="1729105" y="922020"/>
          <a:ext cx="2388870" cy="381000"/>
        </p:xfrm>
        <a:graphic>
          <a:graphicData uri="http://schemas.openxmlformats.org/drawingml/2006/table">
            <a:tbl>
              <a:tblPr firstRow="1" bandRow="1">
                <a:tableStyleId>{5C22544A-7EE6-4342-B048-85BDC9FD1C3A}</a:tableStyleId>
              </a:tblPr>
              <a:tblGrid>
                <a:gridCol w="398145"/>
                <a:gridCol w="398145"/>
                <a:gridCol w="398145"/>
                <a:gridCol w="398145"/>
                <a:gridCol w="398145"/>
                <a:gridCol w="398145"/>
              </a:tblGrid>
              <a:tr h="381000">
                <a:tc>
                  <a:txBody>
                    <a:bodyPr/>
                    <a:p>
                      <a:pPr>
                        <a:buNone/>
                      </a:pPr>
                      <a:r>
                        <a:rPr lang="en-US" altLang="zh-CN">
                          <a:solidFill>
                            <a:schemeClr val="tx1"/>
                          </a:solidFill>
                        </a:rPr>
                        <a:t>1</a:t>
                      </a:r>
                      <a:endParaRPr lang="en-US" altLang="zh-CN">
                        <a:solidFill>
                          <a:schemeClr val="tx1"/>
                        </a:solidFill>
                      </a:endParaRPr>
                    </a:p>
                  </a:txBody>
                  <a:tcPr>
                    <a:lnL>
                      <a:noFill/>
                    </a:lnL>
                    <a:lnR>
                      <a:noFill/>
                    </a:lnR>
                    <a:lnT>
                      <a:noFill/>
                    </a:lnT>
                    <a:lnB>
                      <a:noFill/>
                    </a:lnB>
                    <a:lnTlToBr>
                      <a:noFill/>
                    </a:lnTlToBr>
                    <a:lnBlToTr>
                      <a:noFill/>
                    </a:lnBlToTr>
                    <a:noFill/>
                  </a:tcPr>
                </a:tc>
                <a:tc>
                  <a:txBody>
                    <a:bodyPr/>
                    <a:p>
                      <a:pPr>
                        <a:buNone/>
                      </a:pPr>
                      <a:r>
                        <a:rPr lang="en-US" altLang="zh-CN">
                          <a:solidFill>
                            <a:schemeClr val="tx1"/>
                          </a:solidFill>
                        </a:rPr>
                        <a:t>2</a:t>
                      </a:r>
                      <a:endParaRPr lang="en-US" altLang="zh-CN">
                        <a:solidFill>
                          <a:schemeClr val="tx1"/>
                        </a:solidFill>
                      </a:endParaRPr>
                    </a:p>
                  </a:txBody>
                  <a:tcPr>
                    <a:lnL>
                      <a:noFill/>
                    </a:lnL>
                    <a:lnR>
                      <a:noFill/>
                    </a:lnR>
                    <a:lnT>
                      <a:noFill/>
                    </a:lnT>
                    <a:lnB>
                      <a:noFill/>
                    </a:lnB>
                    <a:lnTlToBr>
                      <a:noFill/>
                    </a:lnTlToBr>
                    <a:lnBlToTr>
                      <a:noFill/>
                    </a:lnBlToTr>
                    <a:noFill/>
                  </a:tcPr>
                </a:tc>
                <a:tc>
                  <a:txBody>
                    <a:bodyPr/>
                    <a:p>
                      <a:pPr>
                        <a:buNone/>
                      </a:pPr>
                      <a:r>
                        <a:rPr lang="en-US" altLang="zh-CN">
                          <a:solidFill>
                            <a:schemeClr val="tx1"/>
                          </a:solidFill>
                        </a:rPr>
                        <a:t>3</a:t>
                      </a:r>
                      <a:endParaRPr lang="en-US" altLang="zh-CN">
                        <a:solidFill>
                          <a:schemeClr val="tx1"/>
                        </a:solidFill>
                      </a:endParaRPr>
                    </a:p>
                  </a:txBody>
                  <a:tcPr>
                    <a:lnL>
                      <a:noFill/>
                    </a:lnL>
                    <a:lnR>
                      <a:noFill/>
                    </a:lnR>
                    <a:lnT>
                      <a:noFill/>
                    </a:lnT>
                    <a:lnB>
                      <a:noFill/>
                    </a:lnB>
                    <a:lnTlToBr>
                      <a:noFill/>
                    </a:lnTlToBr>
                    <a:lnBlToTr>
                      <a:noFill/>
                    </a:lnBlToTr>
                    <a:noFill/>
                  </a:tcPr>
                </a:tc>
                <a:tc>
                  <a:txBody>
                    <a:bodyPr/>
                    <a:p>
                      <a:pPr>
                        <a:buNone/>
                      </a:pPr>
                      <a:r>
                        <a:rPr lang="en-US" altLang="zh-CN">
                          <a:solidFill>
                            <a:schemeClr val="tx1"/>
                          </a:solidFill>
                        </a:rPr>
                        <a:t>4</a:t>
                      </a:r>
                      <a:endParaRPr lang="en-US" altLang="zh-CN">
                        <a:solidFill>
                          <a:schemeClr val="tx1"/>
                        </a:solidFill>
                      </a:endParaRPr>
                    </a:p>
                  </a:txBody>
                  <a:tcPr>
                    <a:lnL>
                      <a:noFill/>
                    </a:lnL>
                    <a:lnR>
                      <a:noFill/>
                    </a:lnR>
                    <a:lnT>
                      <a:noFill/>
                    </a:lnT>
                    <a:lnB>
                      <a:noFill/>
                    </a:lnB>
                    <a:lnTlToBr>
                      <a:noFill/>
                    </a:lnTlToBr>
                    <a:lnBlToTr>
                      <a:noFill/>
                    </a:lnBlToTr>
                    <a:noFill/>
                  </a:tcPr>
                </a:tc>
                <a:tc>
                  <a:txBody>
                    <a:bodyPr/>
                    <a:p>
                      <a:pPr>
                        <a:buNone/>
                      </a:pPr>
                      <a:r>
                        <a:rPr lang="en-US" altLang="zh-CN">
                          <a:solidFill>
                            <a:schemeClr val="tx1"/>
                          </a:solidFill>
                        </a:rPr>
                        <a:t>5</a:t>
                      </a:r>
                      <a:endParaRPr lang="en-US" altLang="zh-CN">
                        <a:solidFill>
                          <a:schemeClr val="tx1"/>
                        </a:solidFill>
                      </a:endParaRPr>
                    </a:p>
                  </a:txBody>
                  <a:tcPr>
                    <a:lnL>
                      <a:noFill/>
                    </a:lnL>
                    <a:lnR>
                      <a:noFill/>
                    </a:lnR>
                    <a:lnT>
                      <a:noFill/>
                    </a:lnT>
                    <a:lnB>
                      <a:noFill/>
                    </a:lnB>
                    <a:lnTlToBr>
                      <a:noFill/>
                    </a:lnTlToBr>
                    <a:lnBlToTr>
                      <a:noFill/>
                    </a:lnBlToTr>
                    <a:noFill/>
                  </a:tcPr>
                </a:tc>
                <a:tc>
                  <a:txBody>
                    <a:bodyPr/>
                    <a:p>
                      <a:pPr>
                        <a:buNone/>
                      </a:pPr>
                      <a:r>
                        <a:rPr lang="en-US" altLang="zh-CN">
                          <a:solidFill>
                            <a:schemeClr val="tx1"/>
                          </a:solidFill>
                        </a:rPr>
                        <a:t>6</a:t>
                      </a:r>
                      <a:endParaRPr lang="en-US" altLang="zh-CN">
                        <a:solidFill>
                          <a:schemeClr val="tx1"/>
                        </a:solidFill>
                      </a:endParaRPr>
                    </a:p>
                  </a:txBody>
                  <a:tcPr>
                    <a:lnL>
                      <a:noFill/>
                    </a:lnL>
                    <a:lnR>
                      <a:noFill/>
                    </a:lnR>
                    <a:lnT>
                      <a:noFill/>
                    </a:lnT>
                    <a:lnB>
                      <a:noFill/>
                    </a:lnB>
                    <a:lnTlToBr>
                      <a:noFill/>
                    </a:lnTlToBr>
                    <a:lnBlToTr>
                      <a:noFill/>
                    </a:lnBlToTr>
                    <a:noFill/>
                  </a:tcPr>
                </a:tc>
              </a:tr>
            </a:tbl>
          </a:graphicData>
        </a:graphic>
      </p:graphicFrame>
      <p:pic>
        <p:nvPicPr>
          <p:cNvPr id="10" name="图片 9"/>
          <p:cNvPicPr>
            <a:picLocks noChangeAspect="1"/>
          </p:cNvPicPr>
          <p:nvPr/>
        </p:nvPicPr>
        <p:blipFill>
          <a:blip r:embed="rId3"/>
          <a:srcRect l="8339" t="74598"/>
          <a:stretch>
            <a:fillRect/>
          </a:stretch>
        </p:blipFill>
        <p:spPr>
          <a:xfrm>
            <a:off x="6898005" y="1543050"/>
            <a:ext cx="5143500" cy="695325"/>
          </a:xfrm>
          <a:prstGeom prst="rect">
            <a:avLst/>
          </a:prstGeom>
        </p:spPr>
      </p:pic>
      <p:pic>
        <p:nvPicPr>
          <p:cNvPr id="11" name="图片 10"/>
          <p:cNvPicPr>
            <a:picLocks noChangeAspect="1"/>
          </p:cNvPicPr>
          <p:nvPr/>
        </p:nvPicPr>
        <p:blipFill>
          <a:blip r:embed="rId4"/>
          <a:stretch>
            <a:fillRect/>
          </a:stretch>
        </p:blipFill>
        <p:spPr>
          <a:xfrm>
            <a:off x="6508750" y="346075"/>
            <a:ext cx="5683250" cy="384810"/>
          </a:xfrm>
          <a:prstGeom prst="rect">
            <a:avLst/>
          </a:prstGeom>
        </p:spPr>
      </p:pic>
      <p:sp>
        <p:nvSpPr>
          <p:cNvPr id="17" name="文本框 16"/>
          <p:cNvSpPr txBox="1"/>
          <p:nvPr>
            <p:custDataLst>
              <p:tags r:id="rId5"/>
            </p:custDataLst>
          </p:nvPr>
        </p:nvSpPr>
        <p:spPr>
          <a:xfrm>
            <a:off x="6701155" y="1094740"/>
            <a:ext cx="2434590" cy="338455"/>
          </a:xfrm>
          <a:prstGeom prst="rect">
            <a:avLst/>
          </a:prstGeom>
          <a:solidFill>
            <a:srgbClr val="CBEAF6"/>
          </a:solidFill>
        </p:spPr>
        <p:txBody>
          <a:bodyPr wrap="square" rtlCol="0">
            <a:noAutofit/>
          </a:bodyPr>
          <a:p>
            <a:pPr algn="ctr"/>
            <a:r>
              <a:rPr lang="zh-CN" altLang="en-US" sz="2000" b="1" dirty="0">
                <a:solidFill>
                  <a:srgbClr val="FF0000"/>
                </a:solidFill>
                <a:latin typeface="仿宋" panose="02010609060101010101" pitchFamily="49" charset="-122"/>
                <a:ea typeface="仿宋" panose="02010609060101010101" pitchFamily="49" charset="-122"/>
              </a:rPr>
              <a:t>利用经典</a:t>
            </a:r>
            <a:r>
              <a:rPr lang="en-US" altLang="zh-CN" sz="2000" b="1" dirty="0">
                <a:solidFill>
                  <a:srgbClr val="FF0000"/>
                </a:solidFill>
                <a:latin typeface="仿宋" panose="02010609060101010101" pitchFamily="49" charset="-122"/>
                <a:ea typeface="仿宋" panose="02010609060101010101" pitchFamily="49" charset="-122"/>
              </a:rPr>
              <a:t>NCD</a:t>
            </a:r>
            <a:r>
              <a:rPr lang="zh-CN" altLang="en-US" sz="2000" b="1" dirty="0">
                <a:solidFill>
                  <a:srgbClr val="FF0000"/>
                </a:solidFill>
                <a:latin typeface="仿宋" panose="02010609060101010101" pitchFamily="49" charset="-122"/>
                <a:ea typeface="仿宋" panose="02010609060101010101" pitchFamily="49" charset="-122"/>
              </a:rPr>
              <a:t>模型</a:t>
            </a:r>
            <a:endParaRPr lang="zh-CN" altLang="en-US" sz="2000" b="1" dirty="0">
              <a:solidFill>
                <a:srgbClr val="FF0000"/>
              </a:solidFill>
              <a:latin typeface="仿宋" panose="02010609060101010101" pitchFamily="49" charset="-122"/>
              <a:ea typeface="仿宋" panose="02010609060101010101" pitchFamily="49" charset="-122"/>
            </a:endParaRPr>
          </a:p>
        </p:txBody>
      </p:sp>
      <p:sp>
        <p:nvSpPr>
          <p:cNvPr id="25" name="文本框 24"/>
          <p:cNvSpPr txBox="1"/>
          <p:nvPr>
            <p:custDataLst>
              <p:tags r:id="rId6"/>
            </p:custDataLst>
          </p:nvPr>
        </p:nvSpPr>
        <p:spPr>
          <a:xfrm>
            <a:off x="6701155" y="2435860"/>
            <a:ext cx="2954655" cy="338455"/>
          </a:xfrm>
          <a:prstGeom prst="rect">
            <a:avLst/>
          </a:prstGeom>
          <a:solidFill>
            <a:srgbClr val="CBEAF6"/>
          </a:solidFill>
        </p:spPr>
        <p:txBody>
          <a:bodyPr wrap="square" rtlCol="0">
            <a:noAutofit/>
          </a:bodyPr>
          <a:p>
            <a:pPr algn="ctr"/>
            <a:r>
              <a:rPr lang="zh-CN" sz="2000" b="1" dirty="0">
                <a:solidFill>
                  <a:srgbClr val="FF0000"/>
                </a:solidFill>
                <a:latin typeface="仿宋" panose="02010609060101010101" pitchFamily="49" charset="-122"/>
                <a:ea typeface="仿宋" panose="02010609060101010101" pitchFamily="49" charset="-122"/>
              </a:rPr>
              <a:t>新的学生</a:t>
            </a:r>
            <a:r>
              <a:rPr lang="en-US" altLang="zh-CN" sz="2000" b="1" dirty="0">
                <a:solidFill>
                  <a:srgbClr val="FF0000"/>
                </a:solidFill>
                <a:latin typeface="仿宋" panose="02010609060101010101" pitchFamily="49" charset="-122"/>
                <a:ea typeface="仿宋" panose="02010609060101010101" pitchFamily="49" charset="-122"/>
              </a:rPr>
              <a:t>-</a:t>
            </a:r>
            <a:r>
              <a:rPr lang="zh-CN" altLang="en-US" sz="2000" b="1" dirty="0">
                <a:solidFill>
                  <a:srgbClr val="FF0000"/>
                </a:solidFill>
                <a:latin typeface="仿宋" panose="02010609060101010101" pitchFamily="49" charset="-122"/>
                <a:ea typeface="仿宋" panose="02010609060101010101" pitchFamily="49" charset="-122"/>
              </a:rPr>
              <a:t>习题交互函数</a:t>
            </a:r>
            <a:endParaRPr lang="zh-CN" altLang="en-US" sz="2000" b="1" dirty="0">
              <a:solidFill>
                <a:srgbClr val="FF0000"/>
              </a:solidFill>
              <a:latin typeface="仿宋" panose="02010609060101010101" pitchFamily="49" charset="-122"/>
              <a:ea typeface="仿宋" panose="02010609060101010101" pitchFamily="49" charset="-122"/>
            </a:endParaRPr>
          </a:p>
        </p:txBody>
      </p:sp>
      <p:pic>
        <p:nvPicPr>
          <p:cNvPr id="27" name="图片 26"/>
          <p:cNvPicPr>
            <a:picLocks noChangeAspect="1"/>
          </p:cNvPicPr>
          <p:nvPr/>
        </p:nvPicPr>
        <p:blipFill>
          <a:blip r:embed="rId7"/>
          <a:stretch>
            <a:fillRect/>
          </a:stretch>
        </p:blipFill>
        <p:spPr>
          <a:xfrm>
            <a:off x="6799580" y="4569460"/>
            <a:ext cx="4969510" cy="1659255"/>
          </a:xfrm>
          <a:prstGeom prst="rect">
            <a:avLst/>
          </a:prstGeom>
        </p:spPr>
      </p:pic>
      <mc:AlternateContent xmlns:mc="http://schemas.openxmlformats.org/markup-compatibility/2006">
        <mc:Choice xmlns:a14="http://schemas.microsoft.com/office/drawing/2010/main" Requires="a14">
          <p:sp>
            <p:nvSpPr>
              <p:cNvPr id="28" name="文本框 27"/>
              <p:cNvSpPr txBox="1"/>
              <p:nvPr/>
            </p:nvSpPr>
            <p:spPr>
              <a:xfrm>
                <a:off x="6699885" y="2865120"/>
                <a:ext cx="5403850" cy="1693545"/>
              </a:xfrm>
              <a:prstGeom prst="rect">
                <a:avLst/>
              </a:prstGeom>
              <a:solidFill>
                <a:schemeClr val="accent1">
                  <a:lumMod val="40000"/>
                  <a:lumOff val="60000"/>
                </a:schemeClr>
              </a:solidFill>
            </p:spPr>
            <p:txBody>
              <a:bodyPr wrap="square">
                <a:spAutoFit/>
              </a:bodyPr>
              <a:p>
                <a:pPr indent="457200" fontAlgn="auto"/>
                <a:r>
                  <a:rPr lang="zh-CN" altLang="en-US" sz="2000" b="1" i="0" dirty="0">
                    <a:solidFill>
                      <a:schemeClr val="accent1"/>
                    </a:solidFill>
                    <a:latin typeface="仿宋" panose="02010609060101010101" pitchFamily="49" charset="-122"/>
                    <a:ea typeface="仿宋" panose="02010609060101010101" pitchFamily="49" charset="-122"/>
                  </a:rPr>
                  <a:t>将学生的知识掌握向量</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𝜶</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𝐢</m:t>
                    </m:r>
                  </m:oMath>
                </a14:m>
                <a:r>
                  <a:rPr lang="zh-CN" altLang="en-US" sz="2000" b="1" i="0" dirty="0">
                    <a:solidFill>
                      <a:schemeClr val="accent1"/>
                    </a:solidFill>
                    <a:latin typeface="仿宋" panose="02010609060101010101" pitchFamily="49" charset="-122"/>
                    <a:ea typeface="仿宋" panose="02010609060101010101" pitchFamily="49" charset="-122"/>
                  </a:rPr>
                  <a:t>和知识概念表示</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𝒉</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𝑲</m:t>
                        </m:r>
                      </m:sup>
                    </m:sSubSup>
                  </m:oMath>
                </a14:m>
                <a:r>
                  <a:rPr lang="zh-CN" altLang="en-US" sz="2000" b="1" i="0" dirty="0">
                    <a:solidFill>
                      <a:schemeClr val="accent1"/>
                    </a:solidFill>
                    <a:latin typeface="仿宋" panose="02010609060101010101" pitchFamily="49" charset="-122"/>
                    <a:ea typeface="仿宋" panose="02010609060101010101" pitchFamily="49" charset="-122"/>
                  </a:rPr>
                  <a:t>进行拼接，然后通过神经网络层得到关于每个知识点</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𝐤</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𝐜</m:t>
                    </m:r>
                  </m:oMath>
                </a14:m>
                <a:r>
                  <a:rPr lang="zh-CN" altLang="en-US" sz="2000" b="1" i="0" dirty="0">
                    <a:solidFill>
                      <a:schemeClr val="accent1"/>
                    </a:solidFill>
                    <a:latin typeface="仿宋" panose="02010609060101010101" pitchFamily="49" charset="-122"/>
                    <a:ea typeface="仿宋" panose="02010609060101010101" pitchFamily="49" charset="-122"/>
                  </a:rPr>
                  <a:t>的高阶学生知识掌握向量</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𝜶</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𝒊𝒄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sup>
                    </m:sSubSup>
                  </m:oMath>
                </a14:m>
                <a:r>
                  <a:rPr lang="zh-CN" altLang="en-US" sz="2000" b="1" i="0" dirty="0">
                    <a:solidFill>
                      <a:schemeClr val="accent1"/>
                    </a:solidFill>
                    <a:latin typeface="仿宋" panose="02010609060101010101" pitchFamily="49" charset="-122"/>
                    <a:ea typeface="仿宋" panose="02010609060101010101" pitchFamily="49" charset="-122"/>
                  </a:rPr>
                  <a:t>。</a:t>
                </a:r>
                <a:endParaRPr lang="zh-CN" altLang="en-US" sz="2000" b="1" i="0" dirty="0">
                  <a:solidFill>
                    <a:schemeClr val="accent1"/>
                  </a:solidFill>
                  <a:latin typeface="仿宋" panose="02010609060101010101" pitchFamily="49" charset="-122"/>
                  <a:ea typeface="仿宋" panose="02010609060101010101" pitchFamily="49" charset="-122"/>
                </a:endParaRPr>
              </a:p>
              <a:p>
                <a:pPr indent="457200" fontAlgn="auto"/>
                <a:r>
                  <a:rPr lang="zh-CN" altLang="en-US" sz="2000" b="1" i="0" dirty="0">
                    <a:solidFill>
                      <a:schemeClr val="accent1"/>
                    </a:solidFill>
                    <a:latin typeface="仿宋" panose="02010609060101010101" pitchFamily="49" charset="-122"/>
                    <a:ea typeface="仿宋" panose="02010609060101010101" pitchFamily="49" charset="-122"/>
                  </a:rPr>
                  <a:t>同样地，对习题参数做类似运算，可得到关于</a:t>
                </a:r>
                <a:r>
                  <a:rPr lang="zh-CN" altLang="en-US" sz="2000" b="1" dirty="0">
                    <a:solidFill>
                      <a:schemeClr val="accent1"/>
                    </a:solidFill>
                    <a:latin typeface="仿宋" panose="02010609060101010101" pitchFamily="49" charset="-122"/>
                    <a:ea typeface="仿宋" panose="02010609060101010101" pitchFamily="49" charset="-122"/>
                    <a:sym typeface="+mn-ea"/>
                  </a:rPr>
                  <a:t>每个知识点</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𝐤</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𝐜</m:t>
                    </m:r>
                  </m:oMath>
                </a14:m>
                <a:r>
                  <a:rPr lang="zh-CN" altLang="en-US" sz="2000" b="1" dirty="0">
                    <a:solidFill>
                      <a:schemeClr val="accent1"/>
                    </a:solidFill>
                    <a:latin typeface="仿宋" panose="02010609060101010101" pitchFamily="49" charset="-122"/>
                    <a:ea typeface="仿宋" panose="02010609060101010101" pitchFamily="49" charset="-122"/>
                    <a:sym typeface="+mn-ea"/>
                  </a:rPr>
                  <a:t>的</a:t>
                </a:r>
                <a:r>
                  <a:rPr lang="zh-CN" altLang="en-US" sz="2000" b="1" i="0" dirty="0">
                    <a:solidFill>
                      <a:schemeClr val="accent1"/>
                    </a:solidFill>
                    <a:latin typeface="仿宋" panose="02010609060101010101" pitchFamily="49" charset="-122"/>
                    <a:ea typeface="仿宋" panose="02010609060101010101" pitchFamily="49" charset="-122"/>
                  </a:rPr>
                  <a:t>高阶知识点难度向量</a:t>
                </a:r>
                <a14:m>
                  <m:oMath xmlns:m="http://schemas.openxmlformats.org/officeDocument/2006/math">
                    <m:sSubSup>
                      <m:sSubSup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ctrlPr>
                      </m:sSubSup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𝜷</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𝒌𝒄</m:t>
                        </m:r>
                      </m:sub>
                      <m: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sup>
                    </m:sSubSup>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rPr>
                      <m:t>。</m:t>
                    </m:r>
                  </m:oMath>
                </a14:m>
                <a:endParaRPr lang="en-US" altLang="zh-CN" sz="2000" b="1" i="0" dirty="0">
                  <a:solidFill>
                    <a:schemeClr val="accent1"/>
                  </a:solidFill>
                  <a:latin typeface="仿宋" panose="02010609060101010101" pitchFamily="49" charset="-122"/>
                  <a:ea typeface="仿宋" panose="02010609060101010101" pitchFamily="49" charset="-122"/>
                </a:endParaRPr>
              </a:p>
            </p:txBody>
          </p:sp>
        </mc:Choice>
        <mc:Fallback>
          <p:sp>
            <p:nvSpPr>
              <p:cNvPr id="28" name="文本框 27"/>
              <p:cNvSpPr txBox="1">
                <a:spLocks noRot="1" noChangeAspect="1" noMove="1" noResize="1" noEditPoints="1" noAdjustHandles="1" noChangeArrowheads="1" noChangeShapeType="1" noTextEdit="1"/>
              </p:cNvSpPr>
              <p:nvPr/>
            </p:nvSpPr>
            <p:spPr>
              <a:xfrm>
                <a:off x="6699885" y="2865120"/>
                <a:ext cx="5403850" cy="1693545"/>
              </a:xfrm>
              <a:prstGeom prst="rect">
                <a:avLst/>
              </a:prstGeom>
              <a:blipFill rotWithShape="1">
                <a:blip r:embed="rId8"/>
                <a:stretch>
                  <a:fillRect/>
                </a:stretch>
              </a:blipFill>
            </p:spPr>
            <p:txBody>
              <a:bodyPr/>
              <a:lstStyle/>
              <a:p>
                <a:r>
                  <a:rPr lang="zh-CN" altLang="en-US">
                    <a:noFill/>
                  </a:rPr>
                  <a:t> </a:t>
                </a:r>
              </a:p>
            </p:txBody>
          </p:sp>
        </mc:Fallback>
      </mc:AlternateContent>
      <p:sp>
        <p:nvSpPr>
          <p:cNvPr id="29" name="对话气泡: 圆角矩形 10"/>
          <p:cNvSpPr/>
          <p:nvPr/>
        </p:nvSpPr>
        <p:spPr>
          <a:xfrm>
            <a:off x="5888990" y="5569585"/>
            <a:ext cx="1607820" cy="913130"/>
          </a:xfrm>
          <a:prstGeom prst="wedgeRoundRectCallout">
            <a:avLst>
              <a:gd name="adj1" fmla="val 59281"/>
              <a:gd name="adj2" fmla="val -8915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sz="2000" dirty="0">
                <a:latin typeface="Times New Roman" panose="02020603050405020304" pitchFamily="18" charset="0"/>
                <a:ea typeface="仿宋" panose="02010609060101010101" pitchFamily="49" charset="-122"/>
                <a:cs typeface="Times New Roman" panose="02020603050405020304" pitchFamily="18" charset="0"/>
              </a:rPr>
              <a:t>n</a:t>
            </a:r>
            <a:r>
              <a:rPr lang="en-US"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表示习题</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中包含的知识点数量</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0" name="对话气泡: 圆角矩形 10"/>
          <p:cNvSpPr/>
          <p:nvPr/>
        </p:nvSpPr>
        <p:spPr>
          <a:xfrm>
            <a:off x="4848860" y="4403090"/>
            <a:ext cx="1607820" cy="913130"/>
          </a:xfrm>
          <a:prstGeom prst="wedgeRoundRectCallout">
            <a:avLst>
              <a:gd name="adj1" fmla="val 76421"/>
              <a:gd name="adj2" fmla="val 1794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sz="2000" dirty="0">
                <a:latin typeface="Times New Roman" panose="02020603050405020304" pitchFamily="18" charset="0"/>
                <a:ea typeface="仿宋" panose="02010609060101010101" pitchFamily="49" charset="-122"/>
                <a:cs typeface="Times New Roman" panose="02020603050405020304" pitchFamily="18" charset="0"/>
              </a:rPr>
              <a:t>学生</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s</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i</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正确回答习题</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rPr>
              <a:t>e</a:t>
            </a:r>
            <a:r>
              <a:rPr lang="en-US" altLang="zh-CN" sz="2000" baseline="-25000" dirty="0">
                <a:latin typeface="Times New Roman" panose="02020603050405020304" pitchFamily="18" charset="0"/>
                <a:ea typeface="仿宋" panose="02010609060101010101" pitchFamily="49" charset="-122"/>
                <a:cs typeface="Times New Roman" panose="02020603050405020304" pitchFamily="18" charset="0"/>
              </a:rPr>
              <a:t>j</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rPr>
              <a:t>的预测概率</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对话气泡: 圆角矩形 10"/>
              <p:cNvSpPr/>
              <p:nvPr/>
            </p:nvSpPr>
            <p:spPr>
              <a:xfrm>
                <a:off x="8715375" y="6138545"/>
                <a:ext cx="3388360" cy="644525"/>
              </a:xfrm>
              <a:prstGeom prst="wedgeRoundRectCallout">
                <a:avLst>
                  <a:gd name="adj1" fmla="val 13742"/>
                  <a:gd name="adj2" fmla="val -464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marL="0" indent="0"/>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𝑠𝑒</m:t>
                        </m:r>
                      </m:sub>
                    </m:sSub>
                  </m:oMath>
                </a14:m>
                <a:r>
                  <a:rPr lang="en-US" altLang="zh-CN" sz="2000">
                    <a:latin typeface="-apple-system"/>
                    <a:ea typeface="-apple-system"/>
                    <a:sym typeface="+mn-ea"/>
                  </a:rPr>
                  <a:t>,</a:t>
                </a:r>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𝑠𝑘</m:t>
                        </m:r>
                      </m:sub>
                    </m:sSub>
                  </m:oMath>
                </a14:m>
                <a:r>
                  <a:rPr lang="en-US" altLang="zh-CN" sz="2000">
                    <a:latin typeface="-apple-system"/>
                    <a:ea typeface="-apple-system"/>
                    <a:sym typeface="+mn-ea"/>
                  </a:rPr>
                  <a:t>,</a:t>
                </a:r>
                <a14:m>
                  <m:oMath xmlns:m="http://schemas.openxmlformats.org/officeDocument/2006/math">
                    <m:sSub>
                      <m:sSubPr>
                        <m:ctrlPr>
                          <a:rPr lang="en-US" altLang="zh-CN" sz="2000" i="1">
                            <a:latin typeface="Cambria Math" panose="02040503050406030204" charset="0"/>
                            <a:ea typeface="-apple-system"/>
                            <a:cs typeface="Cambria Math" panose="02040503050406030204" charset="0"/>
                            <a:sym typeface="+mn-ea"/>
                          </a:rPr>
                        </m:ctrlPr>
                      </m:sSubPr>
                      <m:e>
                        <m:r>
                          <a:rPr lang="en-US" altLang="zh-CN" sz="2000" i="1">
                            <a:latin typeface="Cambria Math" panose="02040503050406030204" charset="0"/>
                            <a:ea typeface="-apple-system"/>
                            <a:cs typeface="Cambria Math" panose="02040503050406030204" charset="0"/>
                            <a:sym typeface="+mn-ea"/>
                          </a:rPr>
                          <m:t>𝑓</m:t>
                        </m:r>
                      </m:e>
                      <m:sub>
                        <m:r>
                          <a:rPr lang="en-US" altLang="zh-CN" sz="2000" i="1">
                            <a:latin typeface="Cambria Math" panose="02040503050406030204" charset="0"/>
                            <a:ea typeface="-apple-system"/>
                            <a:cs typeface="Cambria Math" panose="02040503050406030204" charset="0"/>
                            <a:sym typeface="+mn-ea"/>
                          </a:rPr>
                          <m:t>𝑒𝑘</m:t>
                        </m:r>
                      </m:sub>
                    </m:sSub>
                  </m:oMath>
                </a14:m>
                <a:r>
                  <a:rPr lang="zh-CN" altLang="en-US" sz="2000">
                    <a:latin typeface="-apple-system"/>
                    <a:ea typeface="-apple-system"/>
                    <a:sym typeface="+mn-ea"/>
                  </a:rPr>
                  <a:t>是表示不同全连接神经层的线性变换函数。</a:t>
                </a:r>
                <a:endParaRPr lang="zh-CN" altLang="en-US" sz="2000" dirty="0">
                  <a:latin typeface="Times New Roman" panose="02020603050405020304" pitchFamily="18" charset="0"/>
                  <a:ea typeface="仿宋" panose="02010609060101010101" pitchFamily="49" charset="-122"/>
                  <a:cs typeface="Times New Roman" panose="02020603050405020304" pitchFamily="18" charset="0"/>
                </a:endParaRPr>
              </a:p>
            </p:txBody>
          </p:sp>
        </mc:Choice>
        <mc:Fallback>
          <p:sp>
            <p:nvSpPr>
              <p:cNvPr id="33" name="对话气泡: 圆角矩形 10"/>
              <p:cNvSpPr>
                <a:spLocks noRot="1" noChangeAspect="1" noMove="1" noResize="1" noEditPoints="1" noAdjustHandles="1" noChangeArrowheads="1" noChangeShapeType="1" noTextEdit="1"/>
              </p:cNvSpPr>
              <p:nvPr/>
            </p:nvSpPr>
            <p:spPr>
              <a:xfrm>
                <a:off x="8715375" y="6138545"/>
                <a:ext cx="3388360" cy="644525"/>
              </a:xfrm>
              <a:prstGeom prst="wedgeRoundRectCallout">
                <a:avLst>
                  <a:gd name="adj1" fmla="val 13742"/>
                  <a:gd name="adj2" fmla="val -46453"/>
                  <a:gd name="adj3" fmla="val 16667"/>
                </a:avLst>
              </a:prstGeom>
              <a:blipFill rotWithShape="1">
                <a:blip r:embed="rId9"/>
                <a:stretch>
                  <a:fillRect l="-187" t="-13399" r="-187" b="-985"/>
                </a:stretch>
              </a:blipFill>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4" name="对话气泡: 圆角矩形 6"/>
          <p:cNvSpPr/>
          <p:nvPr/>
        </p:nvSpPr>
        <p:spPr>
          <a:xfrm>
            <a:off x="8628380" y="4479290"/>
            <a:ext cx="1160145" cy="296545"/>
          </a:xfrm>
          <a:prstGeom prst="wedgeRoundRectCallout">
            <a:avLst>
              <a:gd name="adj1" fmla="val 6704"/>
              <a:gd name="adj2" fmla="val 96680"/>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5" name="对话气泡: 圆角矩形 6"/>
          <p:cNvSpPr/>
          <p:nvPr/>
        </p:nvSpPr>
        <p:spPr>
          <a:xfrm>
            <a:off x="10151110" y="4479290"/>
            <a:ext cx="1160145" cy="296545"/>
          </a:xfrm>
          <a:prstGeom prst="wedgeRoundRectCallout">
            <a:avLst>
              <a:gd name="adj1" fmla="val -59906"/>
              <a:gd name="adj2" fmla="val 88758"/>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6" name="对话气泡: 圆角矩形 6"/>
          <p:cNvSpPr/>
          <p:nvPr/>
        </p:nvSpPr>
        <p:spPr>
          <a:xfrm>
            <a:off x="8298180" y="5245100"/>
            <a:ext cx="750570" cy="207010"/>
          </a:xfrm>
          <a:prstGeom prst="wedgeRoundRectCallout">
            <a:avLst>
              <a:gd name="adj1" fmla="val 24534"/>
              <a:gd name="adj2" fmla="val 100613"/>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37" name="对话气泡: 圆角矩形 6"/>
          <p:cNvSpPr/>
          <p:nvPr/>
        </p:nvSpPr>
        <p:spPr>
          <a:xfrm>
            <a:off x="7877810" y="6299835"/>
            <a:ext cx="750570" cy="207010"/>
          </a:xfrm>
          <a:prstGeom prst="wedgeRoundRectCallout">
            <a:avLst>
              <a:gd name="adj1" fmla="val 73096"/>
              <a:gd name="adj2" fmla="val -152147"/>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1×C</a:t>
            </a:r>
            <a:endParaRPr lang="zh-CN" altLang="en-US" i="1" dirty="0">
              <a:solidFill>
                <a:schemeClr val="tx1"/>
              </a:solidFill>
              <a:latin typeface="仿宋" panose="02010609060101010101" pitchFamily="49" charset="-122"/>
              <a:ea typeface="仿宋" panose="02010609060101010101" pitchFamily="49" charset="-122"/>
            </a:endParaRPr>
          </a:p>
        </p:txBody>
      </p:sp>
      <p:sp>
        <p:nvSpPr>
          <p:cNvPr id="2" name="文本框 1"/>
          <p:cNvSpPr txBox="1"/>
          <p:nvPr/>
        </p:nvSpPr>
        <p:spPr>
          <a:xfrm>
            <a:off x="9135745" y="634365"/>
            <a:ext cx="2770505" cy="460375"/>
          </a:xfrm>
          <a:prstGeom prst="rect">
            <a:avLst/>
          </a:prstGeom>
          <a:noFill/>
        </p:spPr>
        <p:txBody>
          <a:bodyPr wrap="square" rtlCol="0" anchor="t">
            <a:spAutoFit/>
          </a:bodyPr>
          <a:p>
            <a:r>
              <a:rPr lang="zh-CN" altLang="en-US" sz="2400" b="1">
                <a:latin typeface="思源宋体 CN Heavy" panose="02020900000000000000" charset="-122"/>
                <a:ea typeface="思源宋体 CN Heavy" panose="02020900000000000000" charset="-122"/>
                <a:sym typeface="+mn-ea"/>
              </a:rPr>
              <a:t>学生</a:t>
            </a:r>
            <a:r>
              <a:rPr lang="en-US" altLang="zh-CN" sz="2400" b="1">
                <a:latin typeface="思源宋体 CN Heavy" panose="02020900000000000000" charset="-122"/>
                <a:ea typeface="思源宋体 CN Heavy" panose="02020900000000000000" charset="-122"/>
                <a:sym typeface="+mn-ea"/>
              </a:rPr>
              <a:t>-</a:t>
            </a:r>
            <a:r>
              <a:rPr lang="zh-CN" altLang="en-US" sz="2400" b="1">
                <a:latin typeface="思源宋体 CN Heavy" panose="02020900000000000000" charset="-122"/>
                <a:ea typeface="思源宋体 CN Heavy" panose="02020900000000000000" charset="-122"/>
                <a:sym typeface="+mn-ea"/>
              </a:rPr>
              <a:t>习题交互模块</a:t>
            </a:r>
            <a:endParaRPr lang="zh-CN" altLang="en-US" sz="2400" b="1">
              <a:latin typeface="思源宋体 CN Heavy" panose="02020900000000000000" charset="-122"/>
              <a:ea typeface="思源宋体 CN Heavy" panose="02020900000000000000" charset="-122"/>
              <a:sym typeface="+mn-ea"/>
            </a:endParaRPr>
          </a:p>
        </p:txBody>
      </p:sp>
      <p:sp>
        <p:nvSpPr>
          <p:cNvPr id="13" name="对话气泡: 圆角矩形 6"/>
          <p:cNvSpPr/>
          <p:nvPr>
            <p:custDataLst>
              <p:tags r:id="rId10"/>
            </p:custDataLst>
          </p:nvPr>
        </p:nvSpPr>
        <p:spPr>
          <a:xfrm>
            <a:off x="9655965" y="5229249"/>
            <a:ext cx="733790" cy="296386"/>
          </a:xfrm>
          <a:prstGeom prst="wedgeRoundRectCallout">
            <a:avLst>
              <a:gd name="adj1" fmla="val -82472"/>
              <a:gd name="adj2" fmla="val 50902"/>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en-US" altLang="zh-CN"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a:t>
            </a:r>
            <a:endParaRPr lang="zh-CN" altLang="en-US" i="1" dirty="0">
              <a:solidFill>
                <a:schemeClr val="tx1"/>
              </a:solidFill>
              <a:latin typeface="仿宋" panose="02010609060101010101" pitchFamily="49" charset="-122"/>
              <a:ea typeface="仿宋" panose="02010609060101010101" pitchFamily="49" charset="-122"/>
            </a:endParaRPr>
          </a:p>
        </p:txBody>
      </p:sp>
      <p:grpSp>
        <p:nvGrpSpPr>
          <p:cNvPr id="4" name="组合 3"/>
          <p:cNvGrpSpPr/>
          <p:nvPr/>
        </p:nvGrpSpPr>
        <p:grpSpPr>
          <a:xfrm>
            <a:off x="771654" y="4403090"/>
            <a:ext cx="4736155" cy="2253489"/>
            <a:chOff x="8029" y="11081"/>
            <a:chExt cx="13222" cy="6433"/>
          </a:xfrm>
        </p:grpSpPr>
        <p:sp>
          <p:nvSpPr>
            <p:cNvPr id="47" name="矩形 46"/>
            <p:cNvSpPr/>
            <p:nvPr/>
          </p:nvSpPr>
          <p:spPr>
            <a:xfrm>
              <a:off x="9600" y="11081"/>
              <a:ext cx="475" cy="4412"/>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8029" y="15664"/>
                  <a:ext cx="4787" cy="1842"/>
                </a:xfrm>
                <a:prstGeom prst="rect">
                  <a:avLst/>
                </a:prstGeom>
                <a:noFill/>
              </p:spPr>
              <p:txBody>
                <a:bodyPr wrap="square" rtlCol="0">
                  <a:spAutoFit/>
                </a:bodyPr>
                <a:p>
                  <a:r>
                    <a:rPr lang="zh-CN" altLang="en-US"/>
                    <a:t>学生</a:t>
                  </a:r>
                  <a:r>
                    <a:rPr lang="en-US" altLang="zh-CN"/>
                    <a:t>1</a:t>
                  </a:r>
                  <a:r>
                    <a:rPr lang="zh-CN" altLang="en-US"/>
                    <a:t>的知识</a:t>
                  </a:r>
                  <a:endParaRPr lang="zh-CN" altLang="en-US"/>
                </a:p>
                <a:p>
                  <a:r>
                    <a:rPr lang="zh-CN" altLang="en-US"/>
                    <a:t>掌握程度</a:t>
                  </a:r>
                  <a14:m>
                    <m:oMath xmlns:m="http://schemas.openxmlformats.org/officeDocument/2006/math">
                      <m:r>
                        <a:rPr lang="en-US" altLang="zh-CN" b="1" i="0" dirty="0">
                          <a:solidFill>
                            <a:schemeClr val="accent1"/>
                          </a:solidFill>
                          <a:latin typeface="Cambria Math" panose="02040503050406030204" charset="0"/>
                          <a:ea typeface="仿宋" panose="02010609060101010101" pitchFamily="49" charset="-122"/>
                          <a:cs typeface="Cambria Math" panose="02040503050406030204" charset="0"/>
                        </a:rPr>
                        <m:t>𝜶</m:t>
                      </m:r>
                      <m:r>
                        <a:rPr lang="en-US" altLang="zh-CN" b="1" i="0" baseline="-25000" dirty="0">
                          <a:solidFill>
                            <a:schemeClr val="accent1"/>
                          </a:solidFill>
                          <a:latin typeface="Cambria Math" panose="02040503050406030204" charset="0"/>
                          <a:ea typeface="仿宋" panose="02010609060101010101" pitchFamily="49" charset="-122"/>
                          <a:cs typeface="Cambria Math" panose="02040503050406030204" charset="0"/>
                        </a:rPr>
                        <m:t>𝟏</m:t>
                      </m:r>
                    </m:oMath>
                  </a14:m>
                  <a:endParaRPr lang="zh-CN" altLang="en-US"/>
                </a:p>
              </p:txBody>
            </p:sp>
          </mc:Choice>
          <mc:Fallback>
            <p:sp>
              <p:nvSpPr>
                <p:cNvPr id="48" name="文本框 47"/>
                <p:cNvSpPr txBox="1">
                  <a:spLocks noRot="1" noChangeAspect="1" noMove="1" noResize="1" noEditPoints="1" noAdjustHandles="1" noChangeArrowheads="1" noChangeShapeType="1" noTextEdit="1"/>
                </p:cNvSpPr>
                <p:nvPr/>
              </p:nvSpPr>
              <p:spPr>
                <a:xfrm>
                  <a:off x="8029" y="15664"/>
                  <a:ext cx="4787" cy="1842"/>
                </a:xfrm>
                <a:prstGeom prst="rect">
                  <a:avLst/>
                </a:prstGeom>
                <a:blipFill rotWithShape="1">
                  <a:blip r:embed="rId11"/>
                </a:blipFill>
              </p:spPr>
              <p:txBody>
                <a:bodyPr/>
                <a:lstStyle/>
                <a:p>
                  <a:r>
                    <a:rPr lang="zh-CN" altLang="en-US">
                      <a:noFill/>
                    </a:rPr>
                    <a:t> </a:t>
                  </a:r>
                </a:p>
              </p:txBody>
            </p:sp>
          </mc:Fallback>
        </mc:AlternateContent>
        <p:sp>
          <p:nvSpPr>
            <p:cNvPr id="49" name="矩形 48"/>
            <p:cNvSpPr/>
            <p:nvPr/>
          </p:nvSpPr>
          <p:spPr>
            <a:xfrm>
              <a:off x="18750" y="14138"/>
              <a:ext cx="475" cy="1438"/>
            </a:xfrm>
            <a:prstGeom prst="rect">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50" name="文本框 49"/>
                <p:cNvSpPr txBox="1"/>
                <p:nvPr/>
              </p:nvSpPr>
              <p:spPr>
                <a:xfrm>
                  <a:off x="17370" y="15713"/>
                  <a:ext cx="3881" cy="1372"/>
                </a:xfrm>
                <a:prstGeom prst="rect">
                  <a:avLst/>
                </a:prstGeom>
                <a:noFill/>
              </p:spPr>
              <p:txBody>
                <a:bodyPr wrap="square" rtlCol="0">
                  <a:noAutofit/>
                </a:bodyPr>
                <a:p>
                  <a:r>
                    <a:rPr lang="zh-CN"/>
                    <a:t>习题难度</a:t>
                  </a:r>
                  <a14:m>
                    <m:oMath xmlns:m="http://schemas.openxmlformats.org/officeDocument/2006/math">
                      <m:r>
                        <a:rPr lang="en-US" altLang="zh-CN" b="1" i="0" dirty="0">
                          <a:solidFill>
                            <a:srgbClr val="FF0000"/>
                          </a:solidFill>
                          <a:latin typeface="Cambria Math" panose="02040503050406030204" charset="0"/>
                          <a:ea typeface="仿宋" panose="02010609060101010101" pitchFamily="49" charset="-122"/>
                          <a:cs typeface="Cambria Math" panose="02040503050406030204" charset="0"/>
                        </a:rPr>
                        <m:t>𝛃</m:t>
                      </m:r>
                      <m:r>
                        <a:rPr lang="en-US" altLang="zh-CN" b="1" i="0" baseline="-25000" dirty="0">
                          <a:solidFill>
                            <a:srgbClr val="FF0000"/>
                          </a:solidFill>
                          <a:latin typeface="Cambria Math" panose="02040503050406030204" charset="0"/>
                          <a:ea typeface="仿宋" panose="02010609060101010101" pitchFamily="49" charset="-122"/>
                          <a:cs typeface="Cambria Math" panose="02040503050406030204" charset="0"/>
                        </a:rPr>
                        <m:t>𝐣</m:t>
                      </m:r>
                    </m:oMath>
                  </a14:m>
                  <a:endParaRPr lang="zh-CN" altLang="en-US">
                    <a:solidFill>
                      <a:srgbClr val="FF0000"/>
                    </a:solidFill>
                  </a:endParaRPr>
                </a:p>
                <a:p>
                  <a:endParaRPr lang="zh-CN" altLang="en-US">
                    <a:solidFill>
                      <a:srgbClr val="FF0000"/>
                    </a:solidFill>
                  </a:endParaRPr>
                </a:p>
              </p:txBody>
            </p:sp>
          </mc:Choice>
          <mc:Fallback>
            <p:sp>
              <p:nvSpPr>
                <p:cNvPr id="50" name="文本框 49"/>
                <p:cNvSpPr txBox="1">
                  <a:spLocks noRot="1" noChangeAspect="1" noMove="1" noResize="1" noEditPoints="1" noAdjustHandles="1" noChangeArrowheads="1" noChangeShapeType="1" noTextEdit="1"/>
                </p:cNvSpPr>
                <p:nvPr/>
              </p:nvSpPr>
              <p:spPr>
                <a:xfrm>
                  <a:off x="17370" y="15713"/>
                  <a:ext cx="3881" cy="1372"/>
                </a:xfrm>
                <a:prstGeom prst="rect">
                  <a:avLst/>
                </a:prstGeom>
                <a:blipFill rotWithShape="1">
                  <a:blip r:embed="rId12"/>
                </a:blipFill>
              </p:spPr>
              <p:txBody>
                <a:bodyPr/>
                <a:lstStyle/>
                <a:p>
                  <a:r>
                    <a:rPr lang="zh-CN" altLang="en-US">
                      <a:noFill/>
                    </a:rPr>
                    <a:t> </a:t>
                  </a:r>
                </a:p>
              </p:txBody>
            </p:sp>
          </mc:Fallback>
        </mc:AlternateContent>
        <p:sp>
          <p:nvSpPr>
            <p:cNvPr id="51" name="矩形 50"/>
            <p:cNvSpPr/>
            <p:nvPr/>
          </p:nvSpPr>
          <p:spPr>
            <a:xfrm>
              <a:off x="13912" y="12477"/>
              <a:ext cx="475" cy="309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12584" y="15672"/>
                  <a:ext cx="4787" cy="1842"/>
                </a:xfrm>
                <a:prstGeom prst="rect">
                  <a:avLst/>
                </a:prstGeom>
                <a:noFill/>
              </p:spPr>
              <p:txBody>
                <a:bodyPr wrap="square" rtlCol="0">
                  <a:spAutoFit/>
                </a:bodyPr>
                <a:p>
                  <a:r>
                    <a:rPr lang="zh-CN" altLang="en-US"/>
                    <a:t>学生</a:t>
                  </a:r>
                  <a:r>
                    <a:rPr lang="en-US" altLang="zh-CN"/>
                    <a:t>2</a:t>
                  </a:r>
                  <a:r>
                    <a:rPr lang="zh-CN" altLang="en-US"/>
                    <a:t>的知识</a:t>
                  </a:r>
                  <a:endParaRPr lang="zh-CN" altLang="en-US"/>
                </a:p>
                <a:p>
                  <a:r>
                    <a:rPr lang="zh-CN" altLang="en-US"/>
                    <a:t>掌握程度</a:t>
                  </a:r>
                  <a14:m>
                    <m:oMath xmlns:m="http://schemas.openxmlformats.org/officeDocument/2006/math">
                      <m:r>
                        <a:rPr lang="en-US" altLang="zh-CN" b="1" i="0" dirty="0">
                          <a:solidFill>
                            <a:schemeClr val="accent1"/>
                          </a:solidFill>
                          <a:latin typeface="Cambria Math" panose="02040503050406030204" charset="0"/>
                          <a:ea typeface="仿宋" panose="02010609060101010101" pitchFamily="49" charset="-122"/>
                          <a:cs typeface="Cambria Math" panose="02040503050406030204" charset="0"/>
                        </a:rPr>
                        <m:t>𝜶</m:t>
                      </m:r>
                      <m:r>
                        <a:rPr lang="en-US" altLang="zh-CN" b="1" i="0" baseline="-25000" dirty="0">
                          <a:solidFill>
                            <a:schemeClr val="accent1"/>
                          </a:solidFill>
                          <a:latin typeface="Cambria Math" panose="02040503050406030204" charset="0"/>
                          <a:ea typeface="仿宋" panose="02010609060101010101" pitchFamily="49" charset="-122"/>
                          <a:cs typeface="Cambria Math" panose="02040503050406030204" charset="0"/>
                        </a:rPr>
                        <m:t>𝟐</m:t>
                      </m:r>
                    </m:oMath>
                  </a14:m>
                  <a:endParaRPr lang="zh-CN" altLang="en-US"/>
                </a:p>
              </p:txBody>
            </p:sp>
          </mc:Choice>
          <mc:Fallback>
            <p:sp>
              <p:nvSpPr>
                <p:cNvPr id="52" name="文本框 51"/>
                <p:cNvSpPr txBox="1">
                  <a:spLocks noRot="1" noChangeAspect="1" noMove="1" noResize="1" noEditPoints="1" noAdjustHandles="1" noChangeArrowheads="1" noChangeShapeType="1" noTextEdit="1"/>
                </p:cNvSpPr>
                <p:nvPr/>
              </p:nvSpPr>
              <p:spPr>
                <a:xfrm>
                  <a:off x="12584" y="15672"/>
                  <a:ext cx="4787" cy="1842"/>
                </a:xfrm>
                <a:prstGeom prst="rect">
                  <a:avLst/>
                </a:prstGeom>
                <a:blipFill rotWithShape="1">
                  <a:blip r:embed="rId13"/>
                </a:blipFill>
              </p:spPr>
              <p:txBody>
                <a:bodyPr/>
                <a:lstStyle/>
                <a:p>
                  <a:r>
                    <a:rPr lang="zh-CN" altLang="en-US">
                      <a:noFill/>
                    </a:rPr>
                    <a:t> </a:t>
                  </a:r>
                </a:p>
              </p:txBody>
            </p:sp>
          </mc:Fallback>
        </mc:AlternateContent>
        <p:sp>
          <p:nvSpPr>
            <p:cNvPr id="53" name="右大括号 52"/>
            <p:cNvSpPr/>
            <p:nvPr/>
          </p:nvSpPr>
          <p:spPr>
            <a:xfrm>
              <a:off x="10179" y="11104"/>
              <a:ext cx="763" cy="3038"/>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右大括号 53"/>
            <p:cNvSpPr/>
            <p:nvPr/>
          </p:nvSpPr>
          <p:spPr>
            <a:xfrm>
              <a:off x="14524" y="12493"/>
              <a:ext cx="763" cy="1646"/>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5" name="直接连接符 54"/>
            <p:cNvCxnSpPr/>
            <p:nvPr/>
          </p:nvCxnSpPr>
          <p:spPr>
            <a:xfrm>
              <a:off x="10147" y="14156"/>
              <a:ext cx="8987" cy="12"/>
            </a:xfrm>
            <a:prstGeom prst="line">
              <a:avLst/>
            </a:prstGeom>
            <a:ln>
              <a:solidFill>
                <a:schemeClr val="accent6"/>
              </a:solidFill>
              <a:prstDash val="sysDash"/>
            </a:ln>
          </p:spPr>
          <p:style>
            <a:lnRef idx="2">
              <a:schemeClr val="accent1"/>
            </a:lnRef>
            <a:fillRef idx="0">
              <a:srgbClr val="FFFFFF"/>
            </a:fillRef>
            <a:effectRef idx="0">
              <a:srgbClr val="FFFFFF"/>
            </a:effectRef>
            <a:fontRef idx="minor">
              <a:schemeClr val="tx1"/>
            </a:fontRef>
          </p:style>
        </p:cxnSp>
      </p:grpSp>
    </p:spTree>
    <p:custDataLst>
      <p:tags r:id="rId1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randombar(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randombar(horizontal)">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randombar(horizont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randombar(horizontal)">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randombar(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horizont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randombar(horizontal)">
                                      <p:cBhvr>
                                        <p:cTn id="4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3" grpId="0" bldLvl="0" animBg="1"/>
      <p:bldP spid="34" grpId="0" bldLvl="0" animBg="1"/>
      <p:bldP spid="35" grpId="0" bldLvl="0" animBg="1"/>
      <p:bldP spid="36" grpId="0" bldLvl="0" animBg="1"/>
      <p:bldP spid="37" grpId="0" bldLvl="0" animBg="1"/>
      <p:bldP spid="1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73075" y="382905"/>
            <a:ext cx="5429250" cy="2258695"/>
          </a:xfrm>
          <a:prstGeom prst="rect">
            <a:avLst/>
          </a:prstGeom>
        </p:spPr>
      </p:pic>
      <p:sp>
        <p:nvSpPr>
          <p:cNvPr id="4" name="文本框 3"/>
          <p:cNvSpPr txBox="1"/>
          <p:nvPr/>
        </p:nvSpPr>
        <p:spPr>
          <a:xfrm>
            <a:off x="2426970" y="267970"/>
            <a:ext cx="3173730" cy="460375"/>
          </a:xfrm>
          <a:prstGeom prst="rect">
            <a:avLst/>
          </a:prstGeom>
          <a:noFill/>
          <a:effectLst/>
        </p:spPr>
        <p:txBody>
          <a:bodyPr wrap="square" rtlCol="0" anchor="t">
            <a:spAutoFit/>
          </a:bodyPr>
          <a:p>
            <a:pPr algn="ctr"/>
            <a:r>
              <a:rPr lang="zh-CN" altLang="en-US" sz="2400" b="1">
                <a:latin typeface="思源宋体 CN Heavy" panose="02020900000000000000" charset="-122"/>
                <a:ea typeface="思源宋体 CN Heavy" panose="02020900000000000000" charset="-122"/>
              </a:rPr>
              <a:t>模型优化</a:t>
            </a:r>
            <a:endParaRPr lang="zh-CN" altLang="en-US" sz="2400" b="1">
              <a:latin typeface="思源宋体 CN Heavy" panose="02020900000000000000" charset="-122"/>
              <a:ea typeface="思源宋体 CN Heavy" panose="02020900000000000000" charset="-122"/>
            </a:endParaRPr>
          </a:p>
        </p:txBody>
      </p:sp>
      <mc:AlternateContent xmlns:mc="http://schemas.openxmlformats.org/markup-compatibility/2006">
        <mc:Choice xmlns:a14="http://schemas.microsoft.com/office/drawing/2010/main" Requires="a14">
          <p:sp>
            <p:nvSpPr>
              <p:cNvPr id="6" name="文本框 5"/>
              <p:cNvSpPr txBox="1"/>
              <p:nvPr/>
            </p:nvSpPr>
            <p:spPr>
              <a:xfrm>
                <a:off x="6096000" y="603250"/>
                <a:ext cx="5403850" cy="1407160"/>
              </a:xfrm>
              <a:prstGeom prst="rect">
                <a:avLst/>
              </a:prstGeom>
              <a:solidFill>
                <a:schemeClr val="accent1">
                  <a:lumMod val="40000"/>
                  <a:lumOff val="60000"/>
                </a:schemeClr>
              </a:solidFill>
            </p:spPr>
            <p:txBody>
              <a:bodyPr wrap="square">
                <a:spAutoFit/>
              </a:bodyPr>
              <a:p>
                <a:pPr indent="457200" fontAlgn="auto"/>
                <a:r>
                  <a:rPr lang="zh-CN" altLang="en-US" sz="2000" b="1" dirty="0">
                    <a:solidFill>
                      <a:schemeClr val="accent1"/>
                    </a:solidFill>
                    <a:latin typeface="仿宋" panose="02010609060101010101" pitchFamily="49" charset="-122"/>
                    <a:ea typeface="仿宋" panose="02010609060101010101" pitchFamily="49" charset="-122"/>
                    <a:sym typeface="+mn-ea"/>
                  </a:rPr>
                  <a:t>通过学生的练习成绩预测任务，可以得到每个学生最终的知识掌握向量</a:t>
                </a:r>
                <a14:m>
                  <m:oMath xmlns:m="http://schemas.openxmlformats.org/officeDocument/2006/math">
                    <m:r>
                      <a:rPr lang="en-US" altLang="zh-CN" sz="2000" b="1" i="0" dirty="0">
                        <a:solidFill>
                          <a:schemeClr val="accent1"/>
                        </a:solidFill>
                        <a:latin typeface="Cambria Math" panose="02040503050406030204" charset="0"/>
                        <a:ea typeface="仿宋" panose="02010609060101010101" pitchFamily="49" charset="-122"/>
                        <a:cs typeface="Cambria Math" panose="02040503050406030204" charset="0"/>
                      </a:rPr>
                      <m:t>𝜶</m:t>
                    </m:r>
                    <m:r>
                      <a:rPr lang="en-US" altLang="zh-CN" sz="2000" b="1" i="0" baseline="-25000" dirty="0">
                        <a:solidFill>
                          <a:schemeClr val="accent1"/>
                        </a:solidFill>
                        <a:latin typeface="Cambria Math" panose="02040503050406030204" charset="0"/>
                        <a:ea typeface="仿宋" panose="02010609060101010101" pitchFamily="49" charset="-122"/>
                        <a:cs typeface="Cambria Math" panose="02040503050406030204" charset="0"/>
                      </a:rPr>
                      <m:t>𝐢</m:t>
                    </m:r>
                  </m:oMath>
                </a14:m>
                <a:r>
                  <a:rPr lang="zh-CN" altLang="en-US" sz="2000" b="1" dirty="0">
                    <a:solidFill>
                      <a:schemeClr val="accent1"/>
                    </a:solidFill>
                    <a:latin typeface="仿宋" panose="02010609060101010101" pitchFamily="49" charset="-122"/>
                    <a:ea typeface="仿宋" panose="02010609060101010101" pitchFamily="49" charset="-122"/>
                    <a:sym typeface="+mn-ea"/>
                  </a:rPr>
                  <a:t>。 损失函数定义为学生-习题交互模块的输出</a:t>
                </a:r>
                <a14:m>
                  <m:oMath xmlns:m="http://schemas.openxmlformats.org/officeDocument/2006/math">
                    <m:sSub>
                      <m:sSub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t>𝒚</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t>𝒊𝒋</m:t>
                        </m:r>
                      </m:sub>
                    </m:sSub>
                  </m:oMath>
                </a14:m>
                <a:r>
                  <a:rPr lang="zh-CN" altLang="en-US" sz="2000" b="1" dirty="0">
                    <a:solidFill>
                      <a:schemeClr val="accent1"/>
                    </a:solidFill>
                    <a:latin typeface="仿宋" panose="02010609060101010101" pitchFamily="49" charset="-122"/>
                    <a:ea typeface="仿宋" panose="02010609060101010101" pitchFamily="49" charset="-122"/>
                    <a:sym typeface="+mn-ea"/>
                  </a:rPr>
                  <a:t>与真实习题作答结果</a:t>
                </a:r>
                <a14:m>
                  <m:oMath xmlns:m="http://schemas.openxmlformats.org/officeDocument/2006/math">
                    <m:sSub>
                      <m:sSubPr>
                        <m:ctrlP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t>𝒓</m:t>
                        </m:r>
                      </m:e>
                      <m:sub>
                        <m:r>
                          <a:rPr lang="en-US" altLang="zh-CN" sz="2000" b="1" i="1" dirty="0">
                            <a:solidFill>
                              <a:schemeClr val="accent1"/>
                            </a:solidFill>
                            <a:latin typeface="Cambria Math" panose="02040503050406030204" charset="0"/>
                            <a:ea typeface="仿宋" panose="02010609060101010101" pitchFamily="49" charset="-122"/>
                            <a:cs typeface="Cambria Math" panose="02040503050406030204" charset="0"/>
                            <a:sym typeface="+mn-ea"/>
                          </a:rPr>
                          <m:t>𝒊𝒋</m:t>
                        </m:r>
                      </m:sub>
                    </m:sSub>
                  </m:oMath>
                </a14:m>
                <a:r>
                  <a:rPr lang="zh-CN" altLang="en-US" sz="2000" b="1" dirty="0">
                    <a:solidFill>
                      <a:schemeClr val="accent1"/>
                    </a:solidFill>
                    <a:latin typeface="仿宋" panose="02010609060101010101" pitchFamily="49" charset="-122"/>
                    <a:ea typeface="仿宋" panose="02010609060101010101" pitchFamily="49" charset="-122"/>
                    <a:sym typeface="+mn-ea"/>
                  </a:rPr>
                  <a:t>之间的交叉熵。</a:t>
                </a:r>
                <a:endParaRPr lang="en-US" altLang="zh-CN" sz="2000" b="1" i="0" dirty="0">
                  <a:solidFill>
                    <a:schemeClr val="accent1"/>
                  </a:solidFill>
                  <a:latin typeface="仿宋" panose="02010609060101010101" pitchFamily="49" charset="-122"/>
                  <a:ea typeface="仿宋" panose="02010609060101010101" pitchFamily="49"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6096000" y="603250"/>
                <a:ext cx="5403850" cy="140716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10235" y="3175635"/>
                <a:ext cx="4064000" cy="405130"/>
              </a:xfrm>
              <a:prstGeom prst="rect">
                <a:avLst/>
              </a:prstGeom>
              <a:noFill/>
            </p:spPr>
            <p:txBody>
              <a:bodyPr wrap="square" rtlCol="0">
                <a:spAutoFit/>
              </a:bodyPr>
              <a:p>
                <a:r>
                  <a:rPr lang="zh-CN" altLang="en-US"/>
                  <a:t>如果真实作答结果正确：</a:t>
                </a:r>
                <a14:m>
                  <m:oMath xmlns:m="http://schemas.openxmlformats.org/officeDocument/2006/math">
                    <m:sSub>
                      <m:sSubPr>
                        <m:ctrlP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𝑟</m:t>
                        </m:r>
                      </m:e>
                      <m:sub>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𝑖𝑗</m:t>
                        </m:r>
                      </m:sub>
                    </m:sSub>
                  </m:oMath>
                </a14:m>
                <a:r>
                  <a:rPr lang="en-US" altLang="zh-CN"/>
                  <a:t>=1</a:t>
                </a:r>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610235" y="3175635"/>
                <a:ext cx="4064000" cy="40513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008380" y="3609340"/>
                <a:ext cx="4064000" cy="77406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𝑙𝑜𝑠𝑠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𝑅</m:t>
                          </m:r>
                        </m:sub>
                        <m:sup/>
                        <m:e>
                          <m:r>
                            <a:rPr lang="en-US" altLang="zh-CN" i="1">
                              <a:latin typeface="Cambria Math" panose="02040503050406030204" charset="0"/>
                              <a:cs typeface="Cambria Math" panose="02040503050406030204" charset="0"/>
                            </a:rPr>
                            <m:t>𝑙𝑜𝑔</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𝑖𝑗</m:t>
                              </m:r>
                            </m:sub>
                          </m:sSub>
                        </m:e>
                      </m:nary>
                    </m:oMath>
                  </m:oMathPara>
                </a14:m>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1008380" y="3609340"/>
                <a:ext cx="4064000" cy="774065"/>
              </a:xfrm>
              <a:prstGeom prst="rect">
                <a:avLst/>
              </a:prstGeom>
              <a:blipFill rotWithShape="1">
                <a:blip r:embed="rId4"/>
                <a:stretch>
                  <a:fillRect/>
                </a:stretch>
              </a:blipFill>
            </p:spPr>
            <p:txBody>
              <a:bodyPr/>
              <a:lstStyle/>
              <a:p>
                <a:r>
                  <a:rPr lang="zh-CN" altLang="en-US">
                    <a:noFill/>
                  </a:rPr>
                  <a:t> </a:t>
                </a:r>
              </a:p>
            </p:txBody>
          </p:sp>
        </mc:Fallback>
      </mc:AlternateContent>
      <p:cxnSp>
        <p:nvCxnSpPr>
          <p:cNvPr id="12" name="直接连接符 11"/>
          <p:cNvCxnSpPr/>
          <p:nvPr/>
        </p:nvCxnSpPr>
        <p:spPr>
          <a:xfrm>
            <a:off x="237490" y="2880995"/>
            <a:ext cx="1167638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4" name="文本框 13"/>
              <p:cNvSpPr txBox="1"/>
              <p:nvPr/>
            </p:nvSpPr>
            <p:spPr>
              <a:xfrm>
                <a:off x="610235" y="4345940"/>
                <a:ext cx="4991100" cy="400685"/>
              </a:xfrm>
              <a:prstGeom prst="rect">
                <a:avLst/>
              </a:prstGeom>
              <a:noFill/>
            </p:spPr>
            <p:txBody>
              <a:bodyPr wrap="square" rtlCol="0">
                <a:spAutoFit/>
              </a:bodyPr>
              <a:p>
                <a:r>
                  <a:rPr lang="zh-CN" altLang="en-US"/>
                  <a:t>预测做对的概率</a:t>
                </a:r>
                <a14:m>
                  <m:oMath xmlns:m="http://schemas.openxmlformats.org/officeDocument/2006/math">
                    <m:sSub>
                      <m:sSubPr>
                        <m:ctrlP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𝑦</m:t>
                        </m:r>
                      </m:e>
                      <m:sub>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𝑖𝑗</m:t>
                        </m:r>
                      </m:sub>
                    </m:sSub>
                  </m:oMath>
                </a14:m>
                <a:r>
                  <a:rPr lang="zh-CN" altLang="en-US"/>
                  <a:t>越大，损失函数</a:t>
                </a:r>
                <a:r>
                  <a:rPr lang="en-US" altLang="zh-CN"/>
                  <a:t>loss</a:t>
                </a:r>
                <a:r>
                  <a:rPr lang="zh-CN" altLang="en-US"/>
                  <a:t>值越小</a:t>
                </a:r>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610235" y="4345940"/>
                <a:ext cx="4991100" cy="400685"/>
              </a:xfrm>
              <a:prstGeom prst="rect">
                <a:avLst/>
              </a:prstGeom>
              <a:blipFill rotWithShape="1">
                <a:blip r:embed="rId5"/>
                <a:stretch>
                  <a:fillRect/>
                </a:stretch>
              </a:blipFill>
            </p:spPr>
            <p:txBody>
              <a:bodyPr/>
              <a:lstStyle/>
              <a:p>
                <a:r>
                  <a:rPr lang="zh-CN" altLang="en-US">
                    <a:noFill/>
                  </a:rPr>
                  <a:t> </a:t>
                </a:r>
              </a:p>
            </p:txBody>
          </p:sp>
        </mc:Fallback>
      </mc:AlternateContent>
      <p:pic>
        <p:nvPicPr>
          <p:cNvPr id="19" name="图片 18"/>
          <p:cNvPicPr/>
          <p:nvPr/>
        </p:nvPicPr>
        <p:blipFill>
          <a:blip r:embed="rId6"/>
          <a:stretch>
            <a:fillRect/>
          </a:stretch>
        </p:blipFill>
        <p:spPr>
          <a:xfrm>
            <a:off x="5953125" y="3325813"/>
            <a:ext cx="4286250" cy="2657475"/>
          </a:xfrm>
          <a:prstGeom prst="rect">
            <a:avLst/>
          </a:prstGeom>
        </p:spPr>
      </p:pic>
      <mc:AlternateContent xmlns:mc="http://schemas.openxmlformats.org/markup-compatibility/2006">
        <mc:Choice xmlns:a14="http://schemas.microsoft.com/office/drawing/2010/main" Requires="a14">
          <p:sp>
            <p:nvSpPr>
              <p:cNvPr id="20" name="文本框 19"/>
              <p:cNvSpPr txBox="1"/>
              <p:nvPr/>
            </p:nvSpPr>
            <p:spPr>
              <a:xfrm>
                <a:off x="610235" y="5111750"/>
                <a:ext cx="4064000" cy="400685"/>
              </a:xfrm>
              <a:prstGeom prst="rect">
                <a:avLst/>
              </a:prstGeom>
              <a:noFill/>
            </p:spPr>
            <p:txBody>
              <a:bodyPr wrap="square" rtlCol="0">
                <a:spAutoFit/>
              </a:bodyPr>
              <a:p>
                <a:r>
                  <a:rPr lang="zh-CN" altLang="en-US"/>
                  <a:t>如果真实作答结果错误：</a:t>
                </a:r>
                <a14:m>
                  <m:oMath xmlns:m="http://schemas.openxmlformats.org/officeDocument/2006/math">
                    <m:sSub>
                      <m:sSubPr>
                        <m:ctrlP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𝑟</m:t>
                        </m:r>
                      </m:e>
                      <m:sub>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𝑖𝑗</m:t>
                        </m:r>
                      </m:sub>
                    </m:sSub>
                  </m:oMath>
                </a14:m>
                <a:r>
                  <a:rPr lang="en-US" altLang="zh-CN"/>
                  <a:t>=0</a:t>
                </a:r>
                <a:endParaRPr lang="zh-CN" altLang="en-US"/>
              </a:p>
            </p:txBody>
          </p:sp>
        </mc:Choice>
        <mc:Fallback>
          <p:sp>
            <p:nvSpPr>
              <p:cNvPr id="20" name="文本框 19"/>
              <p:cNvSpPr txBox="1">
                <a:spLocks noRot="1" noChangeAspect="1" noMove="1" noResize="1" noEditPoints="1" noAdjustHandles="1" noChangeArrowheads="1" noChangeShapeType="1" noTextEdit="1"/>
              </p:cNvSpPr>
              <p:nvPr/>
            </p:nvSpPr>
            <p:spPr>
              <a:xfrm>
                <a:off x="610235" y="5111750"/>
                <a:ext cx="4064000" cy="40068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099185" y="5512435"/>
                <a:ext cx="4064000" cy="77406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𝑙𝑜𝑠𝑠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𝑅</m:t>
                          </m:r>
                        </m:sub>
                        <m:sup/>
                        <m:e>
                          <m:r>
                            <a:rPr lang="en-US" altLang="zh-CN" i="1">
                              <a:latin typeface="Cambria Math" panose="02040503050406030204" charset="0"/>
                              <a:cs typeface="Cambria Math" panose="02040503050406030204" charset="0"/>
                            </a:rPr>
                            <m:t>𝑙𝑜𝑔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𝑦</m:t>
                              </m:r>
                            </m:e>
                            <m:sub>
                              <m:r>
                                <a:rPr lang="en-US" altLang="zh-CN" i="1">
                                  <a:latin typeface="Cambria Math" panose="02040503050406030204" charset="0"/>
                                  <a:cs typeface="Cambria Math" panose="02040503050406030204" charset="0"/>
                                </a:rPr>
                                <m:t>𝑖𝑗</m:t>
                              </m:r>
                            </m:sub>
                          </m:sSub>
                          <m:r>
                            <a:rPr lang="en-US" altLang="zh-CN" i="1">
                              <a:latin typeface="Cambria Math" panose="02040503050406030204" charset="0"/>
                              <a:cs typeface="Cambria Math" panose="02040503050406030204" charset="0"/>
                            </a:rPr>
                            <m:t>)</m:t>
                          </m:r>
                        </m:e>
                      </m:nary>
                    </m:oMath>
                  </m:oMathPara>
                </a14:m>
                <a:endParaRPr lang="zh-CN" altLang="en-US"/>
              </a:p>
            </p:txBody>
          </p:sp>
        </mc:Choice>
        <mc:Fallback>
          <p:sp>
            <p:nvSpPr>
              <p:cNvPr id="21" name="文本框 20"/>
              <p:cNvSpPr txBox="1">
                <a:spLocks noRot="1" noChangeAspect="1" noMove="1" noResize="1" noEditPoints="1" noAdjustHandles="1" noChangeArrowheads="1" noChangeShapeType="1" noTextEdit="1"/>
              </p:cNvSpPr>
              <p:nvPr/>
            </p:nvSpPr>
            <p:spPr>
              <a:xfrm>
                <a:off x="1099185" y="5512435"/>
                <a:ext cx="4064000" cy="774065"/>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610235" y="6216650"/>
                <a:ext cx="4991100" cy="400685"/>
              </a:xfrm>
              <a:prstGeom prst="rect">
                <a:avLst/>
              </a:prstGeom>
              <a:noFill/>
            </p:spPr>
            <p:txBody>
              <a:bodyPr wrap="square" rtlCol="0">
                <a:spAutoFit/>
              </a:bodyPr>
              <a:p>
                <a:r>
                  <a:rPr lang="zh-CN" altLang="en-US"/>
                  <a:t>预测做对的概率</a:t>
                </a:r>
                <a14:m>
                  <m:oMath xmlns:m="http://schemas.openxmlformats.org/officeDocument/2006/math">
                    <m:sSub>
                      <m:sSubPr>
                        <m:ctrlP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ctrlPr>
                      </m:sSubPr>
                      <m:e>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𝑦</m:t>
                        </m:r>
                      </m:e>
                      <m:sub>
                        <m:r>
                          <a:rPr lang="en-US" altLang="zh-CN" i="1" dirty="0">
                            <a:solidFill>
                              <a:schemeClr val="tx1"/>
                            </a:solidFill>
                            <a:latin typeface="Cambria Math" panose="02040503050406030204" charset="0"/>
                            <a:ea typeface="仿宋" panose="02010609060101010101" pitchFamily="49" charset="-122"/>
                            <a:cs typeface="Cambria Math" panose="02040503050406030204" charset="0"/>
                            <a:sym typeface="+mn-ea"/>
                          </a:rPr>
                          <m:t>𝑖𝑗</m:t>
                        </m:r>
                      </m:sub>
                    </m:sSub>
                  </m:oMath>
                </a14:m>
                <a:r>
                  <a:rPr lang="zh-CN" altLang="en-US"/>
                  <a:t>越小，损失函数</a:t>
                </a:r>
                <a:r>
                  <a:rPr lang="en-US" altLang="zh-CN"/>
                  <a:t>loss</a:t>
                </a:r>
                <a:r>
                  <a:rPr lang="zh-CN" altLang="en-US"/>
                  <a:t>值越小</a:t>
                </a:r>
                <a:endParaRPr lang="zh-CN" altLang="en-US"/>
              </a:p>
            </p:txBody>
          </p:sp>
        </mc:Choice>
        <mc:Fallback>
          <p:sp>
            <p:nvSpPr>
              <p:cNvPr id="22" name="文本框 21"/>
              <p:cNvSpPr txBox="1">
                <a:spLocks noRot="1" noChangeAspect="1" noMove="1" noResize="1" noEditPoints="1" noAdjustHandles="1" noChangeArrowheads="1" noChangeShapeType="1" noTextEdit="1"/>
              </p:cNvSpPr>
              <p:nvPr/>
            </p:nvSpPr>
            <p:spPr>
              <a:xfrm>
                <a:off x="610235" y="6216650"/>
                <a:ext cx="4991100" cy="400685"/>
              </a:xfrm>
              <a:prstGeom prst="rect">
                <a:avLst/>
              </a:prstGeom>
              <a:blipFill rotWithShape="1">
                <a:blip r:embed="rId9"/>
                <a:stretch>
                  <a:fillRect/>
                </a:stretch>
              </a:blipFill>
            </p:spPr>
            <p:txBody>
              <a:bodyPr/>
              <a:lstStyle/>
              <a:p>
                <a:r>
                  <a:rPr lang="zh-CN" altLang="en-US">
                    <a:noFill/>
                  </a:rPr>
                  <a:t> </a:t>
                </a:r>
              </a:p>
            </p:txBody>
          </p:sp>
        </mc:Fallback>
      </mc:AlternateContent>
    </p:spTree>
    <p:custDataLst>
      <p:tags r:id="rId10"/>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64.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65.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68.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TABLE_ENDDRAG_ORIGIN_RECT" val="265*96"/>
  <p:tag name="TABLE_ENDDRAG_RECT" val="320*373*265*97"/>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76.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77.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0.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1.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2.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83.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84.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5.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6.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87.xml><?xml version="1.0" encoding="utf-8"?>
<p:tagLst xmlns:p="http://schemas.openxmlformats.org/presentationml/2006/main">
  <p:tag name="TABLE_ENDDRAG_ORIGIN_RECT" val="265*96"/>
  <p:tag name="TABLE_ENDDRAG_RECT" val="320*373*265*97"/>
</p:tagLst>
</file>

<file path=ppt/tags/tag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90.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1.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2.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3.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4.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5.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96.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97.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98.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99.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0.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1.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2.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4.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105.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6.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07.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108.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109.xml><?xml version="1.0" encoding="utf-8"?>
<p:tagLst xmlns:p="http://schemas.openxmlformats.org/presentationml/2006/main">
  <p:tag name="KSO_WM_DIAGRAM_VIRTUALLY_FRAME" val="{&quot;height&quot;:79.14811023622046,&quot;left&quot;:40.71220472440946,&quot;top&quot;:280.70188976377955,&quot;width&quot;:353.03779527559055}"/>
</p:tagLst>
</file>

<file path=ppt/tags/tag110.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111.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1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3.xml><?xml version="1.0" encoding="utf-8"?>
<p:tagLst xmlns:p="http://schemas.openxmlformats.org/presentationml/2006/main">
  <p:tag name="TABLE_ENDDRAG_ORIGIN_RECT" val="33*179"/>
  <p:tag name="TABLE_ENDDRAG_RECT" val="114*293*33*179"/>
</p:tagLst>
</file>

<file path=ppt/tags/tag114.xml><?xml version="1.0" encoding="utf-8"?>
<p:tagLst xmlns:p="http://schemas.openxmlformats.org/presentationml/2006/main">
  <p:tag name="TABLE_ENDDRAG_ORIGIN_RECT" val="188*30"/>
  <p:tag name="TABLE_ENDDRAG_RECT" val="144*255*188*30"/>
</p:tagLst>
</file>

<file path=ppt/tags/tag115.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116.xml><?xml version="1.0" encoding="utf-8"?>
<p:tagLst xmlns:p="http://schemas.openxmlformats.org/presentationml/2006/main">
  <p:tag name="KSO_WM_DIAGRAM_VIRTUALLY_FRAME" val="{&quot;height&quot;:190.12125984251966,&quot;left&quot;:90.7988188976378,&quot;top&quot;:19.02566929133858,&quot;width&quot;:534.6511811023622}"/>
</p:tagLst>
</file>

<file path=ppt/tags/tag117.xml><?xml version="1.0" encoding="utf-8"?>
<p:tagLst xmlns:p="http://schemas.openxmlformats.org/presentationml/2006/main">
  <p:tag name="KSO_WM_DIAGRAM_VIRTUALLY_FRAME" val="{&quot;height&quot;:91.64811023622046,&quot;left&quot;:40.712204724409446,&quot;top&quot;:268.20188976377955,&quot;width&quot;:353.03779527559055}"/>
</p:tagLst>
</file>

<file path=ppt/tags/tag11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5229</Words>
  <Application>WPS 演示</Application>
  <PresentationFormat>宽屏</PresentationFormat>
  <Paragraphs>437</Paragraphs>
  <Slides>12</Slides>
  <Notes>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30" baseType="lpstr">
      <vt:lpstr>Arial</vt:lpstr>
      <vt:lpstr>宋体</vt:lpstr>
      <vt:lpstr>Wingdings</vt:lpstr>
      <vt:lpstr>Wingdings</vt:lpstr>
      <vt:lpstr>仿宋</vt:lpstr>
      <vt:lpstr>思源宋体 CN Heavy</vt:lpstr>
      <vt:lpstr>-apple-system</vt:lpstr>
      <vt:lpstr>Times New Roman</vt:lpstr>
      <vt:lpstr>Cambria Math</vt:lpstr>
      <vt:lpstr>Castellar</vt:lpstr>
      <vt:lpstr>华文中宋</vt:lpstr>
      <vt:lpstr>Segoe Print</vt:lpstr>
      <vt:lpstr>BatangChe</vt:lpstr>
      <vt:lpstr>微软雅黑</vt:lpstr>
      <vt:lpstr>Arial Unicode MS</vt:lpstr>
      <vt:lpstr>Calibri</vt:lpstr>
      <vt:lpstr>WPS</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LEGION</dc:creator>
  <cp:lastModifiedBy>汐.</cp:lastModifiedBy>
  <cp:revision>164</cp:revision>
  <dcterms:created xsi:type="dcterms:W3CDTF">2019-06-19T02:08:00Z</dcterms:created>
  <dcterms:modified xsi:type="dcterms:W3CDTF">2024-11-21T16:03:00Z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C72871F8638A4A4E9AB7B12515816077_11</vt:lpwstr>
  </property>
</Properties>
</file>