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21"/>
  </p:notesMasterIdLst>
  <p:sldIdLst>
    <p:sldId id="257" r:id="rId2"/>
    <p:sldId id="259" r:id="rId3"/>
    <p:sldId id="279" r:id="rId4"/>
    <p:sldId id="260" r:id="rId5"/>
    <p:sldId id="277" r:id="rId6"/>
    <p:sldId id="261" r:id="rId7"/>
    <p:sldId id="262" r:id="rId8"/>
    <p:sldId id="263" r:id="rId9"/>
    <p:sldId id="264" r:id="rId10"/>
    <p:sldId id="265" r:id="rId11"/>
    <p:sldId id="266" r:id="rId12"/>
    <p:sldId id="268" r:id="rId13"/>
    <p:sldId id="276" r:id="rId14"/>
    <p:sldId id="267" r:id="rId15"/>
    <p:sldId id="269" r:id="rId16"/>
    <p:sldId id="271" r:id="rId17"/>
    <p:sldId id="272" r:id="rId18"/>
    <p:sldId id="273" r:id="rId19"/>
    <p:sldId id="275" r:id="rId2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98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335" autoAdjust="0"/>
  </p:normalViewPr>
  <p:slideViewPr>
    <p:cSldViewPr snapToGrid="0">
      <p:cViewPr varScale="1">
        <p:scale>
          <a:sx n="101" d="100"/>
          <a:sy n="101" d="100"/>
        </p:scale>
        <p:origin x="19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C430D9-AA99-4EB9-A18D-38D3BBA4E736}" type="datetimeFigureOut">
              <a:rPr lang="zh-CN" altLang="en-US" smtClean="0"/>
              <a:t>2021/6/27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7495B-DC36-4EDF-8FEA-CBBC34B99736}" type="slidenum">
              <a:rPr lang="zh-CN" altLang="en-US" smtClean="0"/>
              <a:t>‹#›</a:t>
            </a:fld>
            <a:endParaRPr lang="zh-CN" altLang="en-US"/>
          </a:p>
        </p:txBody>
      </p:sp>
    </p:spTree>
    <p:extLst>
      <p:ext uri="{BB962C8B-B14F-4D97-AF65-F5344CB8AC3E}">
        <p14:creationId xmlns:p14="http://schemas.microsoft.com/office/powerpoint/2010/main" val="1158618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8B22650A-3B22-4C48-85CF-E0840227AD0A}"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3397697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57495B-DC36-4EDF-8FEA-CBBC34B99736}" type="slidenum">
              <a:rPr lang="zh-CN" altLang="en-US" smtClean="0"/>
              <a:t>2</a:t>
            </a:fld>
            <a:endParaRPr lang="zh-CN" altLang="en-US"/>
          </a:p>
        </p:txBody>
      </p:sp>
    </p:spTree>
    <p:extLst>
      <p:ext uri="{BB962C8B-B14F-4D97-AF65-F5344CB8AC3E}">
        <p14:creationId xmlns:p14="http://schemas.microsoft.com/office/powerpoint/2010/main" val="902644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认知诊断：认知诊断模型旨在描述学习者知识水平、试题特性和学习者的试题作答结果之间的潜在关系。在预测学生作答表现的同时可以诊断出学生对知识点的掌握程度</a:t>
            </a:r>
          </a:p>
          <a:p>
            <a:endParaRPr lang="zh-CN" altLang="en-US" dirty="0"/>
          </a:p>
        </p:txBody>
      </p:sp>
      <p:sp>
        <p:nvSpPr>
          <p:cNvPr id="4" name="灯片编号占位符 3"/>
          <p:cNvSpPr>
            <a:spLocks noGrp="1"/>
          </p:cNvSpPr>
          <p:nvPr>
            <p:ph type="sldNum" sz="quarter" idx="10"/>
          </p:nvPr>
        </p:nvSpPr>
        <p:spPr/>
        <p:txBody>
          <a:bodyPr/>
          <a:lstStyle/>
          <a:p>
            <a:fld id="{6E57495B-DC36-4EDF-8FEA-CBBC34B99736}" type="slidenum">
              <a:rPr lang="zh-CN" altLang="en-US" smtClean="0"/>
              <a:t>3</a:t>
            </a:fld>
            <a:endParaRPr lang="zh-CN" altLang="en-US"/>
          </a:p>
        </p:txBody>
      </p:sp>
    </p:spTree>
    <p:extLst>
      <p:ext uri="{BB962C8B-B14F-4D97-AF65-F5344CB8AC3E}">
        <p14:creationId xmlns:p14="http://schemas.microsoft.com/office/powerpoint/2010/main" val="2424013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在文献中，大量的努力致力于认知诊断。最典型的模型是来自教育心理学的 </a:t>
            </a:r>
            <a:r>
              <a:rPr lang="en-US" altLang="zh-CN" dirty="0"/>
              <a:t>IRT </a:t>
            </a:r>
            <a:r>
              <a:rPr lang="zh-CN" altLang="en-US" dirty="0"/>
              <a:t>和 </a:t>
            </a:r>
            <a:r>
              <a:rPr lang="en-US" altLang="zh-CN" dirty="0"/>
              <a:t>DINA</a:t>
            </a:r>
            <a:r>
              <a:rPr lang="zh-CN" altLang="en-US" dirty="0"/>
              <a:t>。在 </a:t>
            </a:r>
            <a:r>
              <a:rPr lang="en-US" altLang="zh-CN" dirty="0"/>
              <a:t>IRT </a:t>
            </a:r>
            <a:r>
              <a:rPr lang="zh-CN" altLang="en-US" dirty="0"/>
              <a:t>或多维 </a:t>
            </a:r>
            <a:r>
              <a:rPr lang="en-US" altLang="zh-CN" dirty="0"/>
              <a:t>IRT </a:t>
            </a:r>
            <a:r>
              <a:rPr lang="zh-CN" altLang="en-US" dirty="0"/>
              <a:t>中，学生和练习用标量或潜在向量表示，它们的交互用逻辑类函数建模。在 </a:t>
            </a:r>
            <a:r>
              <a:rPr lang="en-US" altLang="zh-CN" dirty="0"/>
              <a:t>DINA </a:t>
            </a:r>
            <a:r>
              <a:rPr lang="zh-CN" altLang="en-US" dirty="0"/>
              <a:t>中，学生和练习用二进制向量表示。练习向量来自</a:t>
            </a:r>
            <a:r>
              <a:rPr lang="en-US" altLang="zh-CN" dirty="0"/>
              <a:t>Q-matrix</a:t>
            </a:r>
            <a:r>
              <a:rPr lang="zh-CN" altLang="en-US" dirty="0"/>
              <a:t>，它表示每个练习所包含的技能。学生和练习向量之间的交互函数是基于联合假设设计的，即学生需要掌握练习所需的所有技能才能正确回答。矩阵分解是来自推荐系统的一种方法，它用潜在向量表示学生和练习，交互函数是内生的。</a:t>
            </a:r>
          </a:p>
          <a:p>
            <a:endParaRPr lang="zh-CN" altLang="en-US" dirty="0"/>
          </a:p>
          <a:p>
            <a:r>
              <a:rPr lang="zh-CN" altLang="en-US" dirty="0"/>
              <a:t>这些传统模型的交互功能存在一些问题。首先，这些交互功能都是人工设计的，劳动强度大。其次，设计的函数大多是线性的，这可能不足以模拟学生和练习之间的复杂关系。此外，交互函数背后的一些简单假设也限制了模型的应用范围。</a:t>
            </a:r>
          </a:p>
          <a:p>
            <a:endParaRPr lang="zh-CN" altLang="en-US" dirty="0"/>
          </a:p>
          <a:p>
            <a:r>
              <a:rPr lang="zh-CN" altLang="en-US" dirty="0"/>
              <a:t>因此，迫切需要找到一种自动学习复杂交互的方法以进行认知诊断。</a:t>
            </a:r>
          </a:p>
          <a:p>
            <a:endParaRPr lang="zh-CN" altLang="en-US" dirty="0"/>
          </a:p>
          <a:p>
            <a:r>
              <a:rPr lang="zh-CN" altLang="en-US" dirty="0"/>
              <a:t>神经网络发展多年，在很多领域都表现出很强的逼近能力，为什么不从数据中学习与神经网络的交互函数呢？</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4</a:t>
            </a:fld>
            <a:endParaRPr lang="zh-CN" altLang="en-US"/>
          </a:p>
        </p:txBody>
      </p:sp>
    </p:spTree>
    <p:extLst>
      <p:ext uri="{BB962C8B-B14F-4D97-AF65-F5344CB8AC3E}">
        <p14:creationId xmlns:p14="http://schemas.microsoft.com/office/powerpoint/2010/main" val="1313944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在文献中，大量的研究致力于认知诊断。最典型的模式是教育心理学的</a:t>
            </a:r>
            <a:r>
              <a:rPr lang="en-US" altLang="zh-CN" dirty="0"/>
              <a:t>IRT</a:t>
            </a:r>
            <a:r>
              <a:rPr lang="zh-CN" altLang="en-US" dirty="0"/>
              <a:t>和</a:t>
            </a:r>
            <a:r>
              <a:rPr lang="en-US" altLang="zh-CN" dirty="0"/>
              <a:t>DINA</a:t>
            </a:r>
            <a:r>
              <a:rPr lang="zh-CN" altLang="en-US" dirty="0"/>
              <a:t>。在</a:t>
            </a:r>
            <a:r>
              <a:rPr lang="en-US" altLang="zh-CN" dirty="0"/>
              <a:t>IRT</a:t>
            </a:r>
            <a:r>
              <a:rPr lang="zh-CN" altLang="en-US" dirty="0"/>
              <a:t>或多维</a:t>
            </a:r>
            <a:r>
              <a:rPr lang="en-US" altLang="zh-CN" dirty="0"/>
              <a:t>IRT</a:t>
            </a:r>
            <a:r>
              <a:rPr lang="zh-CN" altLang="en-US" dirty="0"/>
              <a:t>中，学生和练习用标度或潜在向量表示，它们之间的交互作用用类</a:t>
            </a:r>
            <a:r>
              <a:rPr lang="en-US" altLang="zh-CN" dirty="0"/>
              <a:t>logistic</a:t>
            </a:r>
            <a:r>
              <a:rPr lang="zh-CN" altLang="en-US" dirty="0"/>
              <a:t>函数建模。在</a:t>
            </a:r>
            <a:r>
              <a:rPr lang="en-US" altLang="zh-CN" dirty="0"/>
              <a:t>DINA</a:t>
            </a:r>
            <a:r>
              <a:rPr lang="zh-CN" altLang="en-US" dirty="0"/>
              <a:t>中，学生和练习用二进制向量表示。练习向量来自</a:t>
            </a:r>
            <a:r>
              <a:rPr lang="en-US" altLang="zh-CN" dirty="0"/>
              <a:t>Q</a:t>
            </a:r>
            <a:r>
              <a:rPr lang="zh-CN" altLang="en-US" dirty="0"/>
              <a:t>矩阵，它表示每个练习所包含的技能。学生与练习向量之间的交互函数是基于合取假设设计的，即学生需要掌握练习所需的全部技能才能正确回答。矩阵分解是推荐系统中的一种方法，它用潜在向量表示学生和练习，交互作用函数是内生的。</a:t>
            </a:r>
          </a:p>
          <a:p>
            <a:r>
              <a:rPr lang="zh-CN" altLang="en-US" dirty="0"/>
              <a:t>这些传统模型在交互功能上存在一些问题。首先，这些交互功能是手工设计的，这是劳动密集型的。其次，设计的函数大多是线性的，这可能不足以有效地模拟学生和练习之间的复杂关系。此外，交互作用函数背后的一些简单假设也限制了模型的应用范围。</a:t>
            </a:r>
          </a:p>
          <a:p>
            <a:r>
              <a:rPr lang="zh-CN" altLang="en-US" dirty="0"/>
              <a:t>因此，迫切需要一种自动学习复杂交互作用的方法来进行认知诊断。</a:t>
            </a:r>
          </a:p>
          <a:p>
            <a:r>
              <a:rPr lang="zh-CN" altLang="en-US" dirty="0"/>
              <a:t>神经网络经过多年的发展，在许多领域显示出很强的逼近能力，为什么不从数据中学习与神经网络的相互作用函数呢？</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5</a:t>
            </a:fld>
            <a:endParaRPr lang="zh-CN" altLang="en-US"/>
          </a:p>
        </p:txBody>
      </p:sp>
    </p:spTree>
    <p:extLst>
      <p:ext uri="{BB962C8B-B14F-4D97-AF65-F5344CB8AC3E}">
        <p14:creationId xmlns:p14="http://schemas.microsoft.com/office/powerpoint/2010/main" val="2651696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然而，采用神经网络进行认知诊断并非易事。 神经网络的黑盒性质使得难以得到可解释的诊断结果，这对于认知诊断极其重要。 此外，练习文本中含有丰富的信息，有助于诊断。 对于传统方法，由于其手动设计的非神经功能的限制，很难利用练习文本。 然而，凭借神经网络的强大能力，值得寻找方法来探索练习文本中的丰富信息。</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6</a:t>
            </a:fld>
            <a:endParaRPr lang="zh-CN" altLang="en-US"/>
          </a:p>
        </p:txBody>
      </p:sp>
    </p:spTree>
    <p:extLst>
      <p:ext uri="{BB962C8B-B14F-4D97-AF65-F5344CB8AC3E}">
        <p14:creationId xmlns:p14="http://schemas.microsoft.com/office/powerpoint/2010/main" val="455675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为此，我们提出了一个通用框架 </a:t>
            </a:r>
            <a:r>
              <a:rPr lang="en-US" altLang="zh-CN" dirty="0" err="1"/>
              <a:t>NeuralCD</a:t>
            </a:r>
            <a:r>
              <a:rPr lang="en-US" altLang="zh-CN" dirty="0"/>
              <a:t> </a:t>
            </a:r>
            <a:r>
              <a:rPr lang="zh-CN" altLang="en-US" dirty="0"/>
              <a:t>来实现我们的目标。 我们将学生和练习投影到不同的因素中。 对于学生，它是知识熟练程度向量 </a:t>
            </a:r>
            <a:r>
              <a:rPr lang="en-US" altLang="zh-CN" dirty="0"/>
              <a:t>F^s</a:t>
            </a:r>
            <a:r>
              <a:rPr lang="zh-CN" altLang="en-US" dirty="0"/>
              <a:t>。 对于练习，主要因素是知识相关向量，我们将其表示为 </a:t>
            </a:r>
            <a:r>
              <a:rPr lang="en-US" altLang="zh-CN" dirty="0"/>
              <a:t>F^{</a:t>
            </a:r>
            <a:r>
              <a:rPr lang="en-US" altLang="zh-CN" dirty="0" err="1"/>
              <a:t>kn</a:t>
            </a:r>
            <a:r>
              <a:rPr lang="en-US" altLang="zh-CN" dirty="0"/>
              <a:t>}</a:t>
            </a:r>
            <a:r>
              <a:rPr lang="zh-CN" altLang="en-US" dirty="0"/>
              <a:t>。 同时还可以集成其他一些可选的练习，如难度和辨别力。交互功能是多层次学习的。</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7</a:t>
            </a:fld>
            <a:endParaRPr lang="zh-CN" altLang="en-US"/>
          </a:p>
        </p:txBody>
      </p:sp>
    </p:spTree>
    <p:extLst>
      <p:ext uri="{BB962C8B-B14F-4D97-AF65-F5344CB8AC3E}">
        <p14:creationId xmlns:p14="http://schemas.microsoft.com/office/powerpoint/2010/main" val="4286019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为了从框架中获得可解释的结果，我们做了两个特殊的设计。 首先，我们强制输入层中存在术语𝑭</a:t>
                </a:r>
                <a:r>
                  <a:rPr lang="en-US" altLang="zh-CN" dirty="0"/>
                  <a:t>^</a:t>
                </a:r>
                <a:r>
                  <a:rPr lang="zh-CN" altLang="en-US" dirty="0"/>
                  <a:t>𝒔∘𝑭</a:t>
                </a:r>
                <a:r>
                  <a:rPr lang="en-US" altLang="zh-CN" dirty="0"/>
                  <a:t>^</a:t>
                </a:r>
                <a:r>
                  <a:rPr lang="zh-CN" altLang="en-US" dirty="0"/>
                  <a:t>𝒌𝒏，以便将知识熟练度向量的每个条目附加到特定的知识概念。 其次，我们在交互层上应用单调性假设。 假设的定义是：在学生知识熟练程度的任何维度上，正确响应练习的概率是单调增加的。 例如，假设练习 </a:t>
                </a:r>
                <a:r>
                  <a:rPr lang="en-US" altLang="zh-CN" dirty="0"/>
                  <a:t>e </a:t>
                </a:r>
                <a:r>
                  <a:rPr lang="zh-CN" altLang="en-US" dirty="0"/>
                  <a:t>包含知识 </a:t>
                </a:r>
                <a:r>
                  <a:rPr lang="en-US" altLang="zh-CN" dirty="0"/>
                  <a:t>k</a:t>
                </a:r>
                <a:r>
                  <a:rPr lang="zh-CN" altLang="en-US" dirty="0"/>
                  <a:t>，并且学生正确回答了它。 当模型预测他回答错误时，即输出低概率，那么优化算法应该增加他的知识熟练度而不是降低。 单调性假设几乎适用于所有情况，因此对框架的通用性影响不大。</a:t>
                </a:r>
              </a:p>
            </p:txBody>
          </p:sp>
        </mc:Choice>
        <mc:Fallback xmlns="">
          <p:sp>
            <p:nvSpPr>
              <p:cNvPr id="3" name="备注占位符 2"/>
              <p:cNvSpPr>
                <a:spLocks noGrp="1"/>
              </p:cNvSpPr>
              <p:nvPr>
                <p:ph type="body" idx="1"/>
              </p:nvPr>
            </p:nvSpPr>
            <p:spPr/>
            <p:txBody>
              <a:bodyPr/>
              <a:lstStyle/>
              <a:p>
                <a:r>
                  <a:rPr lang="en-US" altLang="zh-CN" dirty="0" smtClean="0"/>
                  <a:t>To get explainable results</a:t>
                </a:r>
                <a:r>
                  <a:rPr lang="en-US" altLang="zh-CN" baseline="0" dirty="0" smtClean="0"/>
                  <a:t> from the framework, we make two </a:t>
                </a:r>
                <a:r>
                  <a:rPr lang="en-US" altLang="zh-CN" baseline="0" dirty="0" smtClean="0"/>
                  <a:t>special </a:t>
                </a:r>
                <a:r>
                  <a:rPr lang="en-US" altLang="zh-CN" baseline="0" dirty="0" smtClean="0"/>
                  <a:t>designs. First, we force there exists </a:t>
                </a:r>
                <a:r>
                  <a:rPr lang="en-US" altLang="zh-CN" baseline="0" dirty="0" smtClean="0"/>
                  <a:t>the </a:t>
                </a:r>
                <a:r>
                  <a:rPr lang="en-US" altLang="zh-CN" baseline="0" dirty="0" smtClean="0"/>
                  <a:t>term </a:t>
                </a:r>
                <a:r>
                  <a:rPr lang="en-US" altLang="zh-CN" sz="1200" b="1" i="0">
                    <a:solidFill>
                      <a:schemeClr val="tx1"/>
                    </a:solidFill>
                    <a:latin typeface="Cambria Math" panose="02040503050406030204" pitchFamily="18" charset="0"/>
                  </a:rPr>
                  <a:t>𝑭</a:t>
                </a:r>
                <a:r>
                  <a:rPr lang="en-US" altLang="zh-CN" sz="1200" b="1" i="0" smtClean="0">
                    <a:solidFill>
                      <a:schemeClr val="tx1"/>
                    </a:solidFill>
                    <a:latin typeface="Cambria Math" panose="02040503050406030204" pitchFamily="18" charset="0"/>
                  </a:rPr>
                  <a:t>^</a:t>
                </a:r>
                <a:r>
                  <a:rPr lang="en-US" altLang="zh-CN" sz="1200" b="1" i="0">
                    <a:solidFill>
                      <a:schemeClr val="tx1"/>
                    </a:solidFill>
                    <a:latin typeface="Cambria Math" panose="02040503050406030204" pitchFamily="18" charset="0"/>
                  </a:rPr>
                  <a:t>𝒔</a:t>
                </a:r>
                <a:r>
                  <a:rPr lang="en-US" altLang="zh-CN" sz="1200" b="1" i="0">
                    <a:solidFill>
                      <a:schemeClr val="tx1"/>
                    </a:solidFill>
                    <a:latin typeface="Cambria Math" panose="02040503050406030204" pitchFamily="18" charset="0"/>
                    <a:ea typeface="Cambria Math" panose="02040503050406030204" pitchFamily="18" charset="0"/>
                  </a:rPr>
                  <a:t>∘𝑭^𝒌𝒏</a:t>
                </a:r>
                <a:r>
                  <a:rPr lang="en-US" altLang="zh-CN" baseline="0" dirty="0" smtClean="0"/>
                  <a:t> in </a:t>
                </a:r>
                <a:r>
                  <a:rPr lang="en-US" altLang="zh-CN" baseline="0" dirty="0" smtClean="0"/>
                  <a:t>the input layer, in order to attach each entry of knowledge proficiency vector to a specific knowledge concept. Second, we apply monotonicity assumption on the interaction layers. The definition of the assumption is that: The probability of correct response to the exercise is monotonically increasing at any dimension of the student’s knowledge proficiency. For example, suppose exercise e contains knowledge k, and the student answered it correctly. When the model predicts him to answer it </a:t>
                </a:r>
                <a:r>
                  <a:rPr lang="en-US" altLang="zh-CN" baseline="0" dirty="0" smtClean="0"/>
                  <a:t>incorrect, </a:t>
                </a:r>
                <a:r>
                  <a:rPr lang="en-US" altLang="zh-CN" baseline="0" dirty="0" smtClean="0"/>
                  <a:t>in other words, output a low probability, then the optimization algorithm should increase his knowledge proficiency instead of decreasing. The monotonicity assumption is widely applicable in almost all circumstances, thus it has little influence on the generality of the framework.</a:t>
                </a:r>
                <a:endParaRPr lang="zh-CN" altLang="en-US" dirty="0"/>
              </a:p>
            </p:txBody>
          </p:sp>
        </mc:Fallback>
      </mc:AlternateContent>
      <p:sp>
        <p:nvSpPr>
          <p:cNvPr id="4" name="灯片编号占位符 3"/>
          <p:cNvSpPr>
            <a:spLocks noGrp="1"/>
          </p:cNvSpPr>
          <p:nvPr>
            <p:ph type="sldNum" sz="quarter" idx="10"/>
          </p:nvPr>
        </p:nvSpPr>
        <p:spPr/>
        <p:txBody>
          <a:bodyPr/>
          <a:lstStyle/>
          <a:p>
            <a:fld id="{6E57495B-DC36-4EDF-8FEA-CBBC34B99736}" type="slidenum">
              <a:rPr lang="zh-CN" altLang="en-US" smtClean="0"/>
              <a:t>8</a:t>
            </a:fld>
            <a:endParaRPr lang="zh-CN" altLang="en-US"/>
          </a:p>
        </p:txBody>
      </p:sp>
    </p:spTree>
    <p:extLst>
      <p:ext uri="{BB962C8B-B14F-4D97-AF65-F5344CB8AC3E}">
        <p14:creationId xmlns:p14="http://schemas.microsoft.com/office/powerpoint/2010/main" val="4199408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下面介绍两种基于</a:t>
            </a:r>
            <a:r>
              <a:rPr lang="en-US" altLang="zh-CN" dirty="0" err="1"/>
              <a:t>NeuraCD</a:t>
            </a:r>
            <a:r>
              <a:rPr lang="zh-CN" altLang="en-US" dirty="0"/>
              <a:t>框架的实现。 第一个是使用 </a:t>
            </a:r>
            <a:r>
              <a:rPr lang="en-US" altLang="zh-CN" dirty="0"/>
              <a:t>Q </a:t>
            </a:r>
            <a:r>
              <a:rPr lang="zh-CN" altLang="en-US" dirty="0"/>
              <a:t>矩阵的基本实现，称为 </a:t>
            </a:r>
            <a:r>
              <a:rPr lang="en-US" altLang="zh-CN" dirty="0" err="1"/>
              <a:t>NeuralCDM</a:t>
            </a:r>
            <a:r>
              <a:rPr lang="zh-CN" altLang="en-US" dirty="0"/>
              <a:t>。 输入层由知识相关向量、知识熟练程度向量、知识难度向量和练习判别向量组成。 这部分对应于前面提到的术语。 知识相关向量</a:t>
            </a:r>
            <a:r>
              <a:rPr lang="en-US" altLang="zh-CN" dirty="0"/>
              <a:t>Q sub e </a:t>
            </a:r>
            <a:r>
              <a:rPr lang="zh-CN" altLang="en-US" dirty="0"/>
              <a:t>直接来自</a:t>
            </a:r>
            <a:r>
              <a:rPr lang="en-US" altLang="zh-CN" dirty="0"/>
              <a:t>Q-matrix</a:t>
            </a:r>
            <a:r>
              <a:rPr lang="zh-CN" altLang="en-US" dirty="0"/>
              <a:t>。</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9</a:t>
            </a:fld>
            <a:endParaRPr lang="zh-CN" altLang="en-US"/>
          </a:p>
        </p:txBody>
      </p:sp>
    </p:spTree>
    <p:extLst>
      <p:ext uri="{BB962C8B-B14F-4D97-AF65-F5344CB8AC3E}">
        <p14:creationId xmlns:p14="http://schemas.microsoft.com/office/powerpoint/2010/main" val="2083707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交互层采用全连接层实现。 为了实现单调性假设，我们将所有层的权重限制为正。</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10</a:t>
            </a:fld>
            <a:endParaRPr lang="zh-CN" altLang="en-US"/>
          </a:p>
        </p:txBody>
      </p:sp>
    </p:spTree>
    <p:extLst>
      <p:ext uri="{BB962C8B-B14F-4D97-AF65-F5344CB8AC3E}">
        <p14:creationId xmlns:p14="http://schemas.microsoft.com/office/powerpoint/2010/main" val="1492906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最后，输出层输出学生正确回答练习的概率。然后利用交叉熵损失进行训练。</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11</a:t>
            </a:fld>
            <a:endParaRPr lang="zh-CN" altLang="en-US"/>
          </a:p>
        </p:txBody>
      </p:sp>
    </p:spTree>
    <p:extLst>
      <p:ext uri="{BB962C8B-B14F-4D97-AF65-F5344CB8AC3E}">
        <p14:creationId xmlns:p14="http://schemas.microsoft.com/office/powerpoint/2010/main" val="4105891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最后，我们还证明了该框架不仅是可扩展的，而且是通用的。</a:t>
            </a:r>
            <a:r>
              <a:rPr lang="en-US" altLang="zh-CN" baseline="0" dirty="0" err="1"/>
              <a:t>NeuralCD</a:t>
            </a:r>
            <a:r>
              <a:rPr lang="zh-CN" altLang="en-US" baseline="0" dirty="0"/>
              <a:t>框架可以专门用于一些传统模型</a:t>
            </a:r>
            <a:r>
              <a:rPr lang="en-US" altLang="zh-CN" baseline="0" dirty="0"/>
              <a:t>, such as MF, IRT and MIRT. </a:t>
            </a:r>
            <a:endParaRPr lang="zh-CN" altLang="en-US" dirty="0"/>
          </a:p>
        </p:txBody>
      </p:sp>
      <p:sp>
        <p:nvSpPr>
          <p:cNvPr id="4" name="灯片编号占位符 3"/>
          <p:cNvSpPr>
            <a:spLocks noGrp="1"/>
          </p:cNvSpPr>
          <p:nvPr>
            <p:ph type="sldNum" sz="quarter" idx="10"/>
          </p:nvPr>
        </p:nvSpPr>
        <p:spPr/>
        <p:txBody>
          <a:bodyPr/>
          <a:lstStyle/>
          <a:p>
            <a:fld id="{6E57495B-DC36-4EDF-8FEA-CBBC34B99736}" type="slidenum">
              <a:rPr lang="zh-CN" altLang="en-US" smtClean="0"/>
              <a:t>12</a:t>
            </a:fld>
            <a:endParaRPr lang="zh-CN" altLang="en-US"/>
          </a:p>
        </p:txBody>
      </p:sp>
    </p:spTree>
    <p:extLst>
      <p:ext uri="{BB962C8B-B14F-4D97-AF65-F5344CB8AC3E}">
        <p14:creationId xmlns:p14="http://schemas.microsoft.com/office/powerpoint/2010/main" val="3472058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最后，我们还证明了该框架不仅是可扩展的，而且是通用的。</a:t>
            </a:r>
            <a:r>
              <a:rPr lang="en-US" altLang="zh-CN" dirty="0" err="1"/>
              <a:t>NeuralCD</a:t>
            </a:r>
            <a:r>
              <a:rPr lang="zh-CN" altLang="en-US" dirty="0"/>
              <a:t>框架可以专门用于一些传统的模型，如</a:t>
            </a:r>
            <a:r>
              <a:rPr lang="en-US" altLang="zh-CN" dirty="0"/>
              <a:t>MF</a:t>
            </a:r>
            <a:r>
              <a:rPr lang="zh-CN" altLang="en-US" dirty="0"/>
              <a:t>、</a:t>
            </a:r>
            <a:r>
              <a:rPr lang="en-US" altLang="zh-CN" dirty="0"/>
              <a:t>IRT</a:t>
            </a:r>
            <a:r>
              <a:rPr lang="zh-CN" altLang="en-US" dirty="0"/>
              <a:t>和</a:t>
            </a:r>
            <a:r>
              <a:rPr lang="en-US" altLang="zh-CN" dirty="0"/>
              <a:t>MIRT</a:t>
            </a:r>
            <a:r>
              <a:rPr lang="zh-CN" altLang="en-US" dirty="0"/>
              <a:t>。</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13</a:t>
            </a:fld>
            <a:endParaRPr lang="zh-CN" altLang="en-US"/>
          </a:p>
        </p:txBody>
      </p:sp>
    </p:spTree>
    <p:extLst>
      <p:ext uri="{BB962C8B-B14F-4D97-AF65-F5344CB8AC3E}">
        <p14:creationId xmlns:p14="http://schemas.microsoft.com/office/powerpoint/2010/main" val="122349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另一个实现扩展了</a:t>
            </a:r>
            <a:r>
              <a:rPr lang="en-US" altLang="zh-CN" dirty="0" err="1"/>
              <a:t>NeuralCDM</a:t>
            </a:r>
            <a:r>
              <a:rPr lang="zh-CN" altLang="en-US" dirty="0"/>
              <a:t>，用练习文本细化</a:t>
            </a:r>
            <a:r>
              <a:rPr lang="en-US" altLang="zh-CN" dirty="0"/>
              <a:t>Q</a:t>
            </a:r>
            <a:r>
              <a:rPr lang="zh-CN" altLang="en-US" dirty="0"/>
              <a:t>矩阵。我们首先对</a:t>
            </a:r>
            <a:r>
              <a:rPr lang="en-US" altLang="zh-CN" dirty="0"/>
              <a:t>CNN</a:t>
            </a:r>
            <a:r>
              <a:rPr lang="zh-CN" altLang="en-US" dirty="0"/>
              <a:t>进行预训练，从文本中预测输入练习的知识概念。然后通过偏序概率方案将预测概念与</a:t>
            </a:r>
            <a:r>
              <a:rPr lang="en-US" altLang="zh-CN" dirty="0"/>
              <a:t>Q</a:t>
            </a:r>
            <a:r>
              <a:rPr lang="zh-CN" altLang="en-US" dirty="0"/>
              <a:t>矩阵相结合。也就是说，对于每一个练习，用</a:t>
            </a:r>
            <a:r>
              <a:rPr lang="en-US" altLang="zh-CN" dirty="0"/>
              <a:t>Q</a:t>
            </a:r>
            <a:r>
              <a:rPr lang="zh-CN" altLang="en-US" dirty="0"/>
              <a:t>矩阵标注的知识概念的相关性都高于或等于预测的概念。其余的知识概念都是无关的。其他部分与</a:t>
            </a:r>
            <a:r>
              <a:rPr lang="en-US" altLang="zh-CN" dirty="0" err="1"/>
              <a:t>NeuralCDM</a:t>
            </a:r>
            <a:r>
              <a:rPr lang="zh-CN" altLang="en-US" dirty="0"/>
              <a:t>相同。</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14</a:t>
            </a:fld>
            <a:endParaRPr lang="zh-CN" altLang="en-US"/>
          </a:p>
        </p:txBody>
      </p:sp>
    </p:spTree>
    <p:extLst>
      <p:ext uri="{BB962C8B-B14F-4D97-AF65-F5344CB8AC3E}">
        <p14:creationId xmlns:p14="http://schemas.microsoft.com/office/powerpoint/2010/main" val="3257756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我们在两个真实世界的数据集上进行了实验，分别是</a:t>
            </a:r>
            <a:r>
              <a:rPr lang="en-US" altLang="zh-CN" dirty="0"/>
              <a:t>Math</a:t>
            </a:r>
            <a:r>
              <a:rPr lang="zh-CN" altLang="en-US" dirty="0"/>
              <a:t>和</a:t>
            </a:r>
            <a:r>
              <a:rPr lang="en-US" altLang="zh-CN" dirty="0"/>
              <a:t>ASSIST</a:t>
            </a:r>
            <a:r>
              <a:rPr lang="zh-CN" altLang="en-US" dirty="0"/>
              <a:t>。数学是一个私人数据集，收集自一个在线学习系统。协助是公开的，从在线辅导系统协会收集。它们都包含数学练习和学生日志。但是</a:t>
            </a:r>
            <a:r>
              <a:rPr lang="en-US" altLang="zh-CN" dirty="0"/>
              <a:t>ASSSIT</a:t>
            </a:r>
            <a:r>
              <a:rPr lang="zh-CN" altLang="en-US" dirty="0"/>
              <a:t>没有提供文本，所以我们没有测试</a:t>
            </a:r>
            <a:r>
              <a:rPr lang="en-US" altLang="zh-CN" dirty="0" err="1"/>
              <a:t>NeuralCDM</a:t>
            </a:r>
            <a:r>
              <a:rPr lang="en-US" altLang="zh-CN" dirty="0"/>
              <a:t>+</a:t>
            </a:r>
            <a:r>
              <a:rPr lang="zh-CN" altLang="en-US" dirty="0"/>
              <a:t>。</a:t>
            </a:r>
          </a:p>
          <a:p>
            <a:r>
              <a:rPr lang="en-US" altLang="zh-CN" dirty="0"/>
              <a:t>AVG{#log}</a:t>
            </a:r>
            <a:r>
              <a:rPr lang="zh-CN" altLang="en-US" dirty="0"/>
              <a:t>：每个学生为每个知识概念所消耗的平均日志量</a:t>
            </a:r>
          </a:p>
          <a:p>
            <a:r>
              <a:rPr lang="en-US" altLang="zh-CN" dirty="0"/>
              <a:t>STD{#log&gt;1}</a:t>
            </a:r>
            <a:r>
              <a:rPr lang="zh-CN" altLang="en-US" dirty="0"/>
              <a:t>：每个学生对每个知识概念的得分的平均标准差</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15</a:t>
            </a:fld>
            <a:endParaRPr lang="zh-CN" altLang="en-US"/>
          </a:p>
        </p:txBody>
      </p:sp>
    </p:spTree>
    <p:extLst>
      <p:ext uri="{BB962C8B-B14F-4D97-AF65-F5344CB8AC3E}">
        <p14:creationId xmlns:p14="http://schemas.microsoft.com/office/powerpoint/2010/main" val="1119928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cs typeface="Arial" panose="020B0604020202020204" pitchFamily="34" charset="0"/>
                  </a:rPr>
                  <a:t>为了测量模型的解释，我们计算了最终学生知识水平向量的</a:t>
                </a:r>
                <a:r>
                  <a:rPr lang="en-US" altLang="zh-CN" sz="1200" dirty="0">
                    <a:latin typeface="Arial" panose="020B0604020202020204" pitchFamily="34" charset="0"/>
                    <a:cs typeface="Arial" panose="020B0604020202020204" pitchFamily="34" charset="0"/>
                  </a:rPr>
                  <a:t>DOA</a:t>
                </a:r>
                <a:r>
                  <a:rPr lang="zh-CN" altLang="en-US" sz="1200" dirty="0">
                    <a:latin typeface="Arial" panose="020B0604020202020204" pitchFamily="34" charset="0"/>
                    <a:cs typeface="Arial" panose="020B0604020202020204" pitchFamily="34" charset="0"/>
                  </a:rPr>
                  <a:t>。</a:t>
                </a:r>
                <a:r>
                  <a:rPr lang="en-US" altLang="zh-CN" sz="1200" dirty="0">
                    <a:latin typeface="Arial" panose="020B0604020202020204" pitchFamily="34" charset="0"/>
                    <a:cs typeface="Arial" panose="020B0604020202020204" pitchFamily="34" charset="0"/>
                  </a:rPr>
                  <a:t>DOA</a:t>
                </a:r>
                <a:r>
                  <a:rPr lang="zh-CN" altLang="en-US" sz="1200" dirty="0">
                    <a:latin typeface="Arial" panose="020B0604020202020204" pitchFamily="34" charset="0"/>
                    <a:cs typeface="Arial" panose="020B0604020202020204" pitchFamily="34" charset="0"/>
                  </a:rPr>
                  <a:t>基于直觉，如果学生𝑎 掌握知识观念𝑘 比学生𝑏</a:t>
                </a:r>
                <a:r>
                  <a:rPr lang="en-US" altLang="zh-CN" sz="1200" dirty="0">
                    <a:latin typeface="Arial" panose="020B0604020202020204" pitchFamily="34" charset="0"/>
                    <a:cs typeface="Arial" panose="020B0604020202020204" pitchFamily="34" charset="0"/>
                  </a:rPr>
                  <a:t>, </a:t>
                </a:r>
                <a:r>
                  <a:rPr lang="zh-CN" altLang="en-US" sz="1200" dirty="0">
                    <a:latin typeface="Arial" panose="020B0604020202020204" pitchFamily="34" charset="0"/>
                    <a:cs typeface="Arial" panose="020B0604020202020204" pitchFamily="34" charset="0"/>
                  </a:rPr>
                  <a:t>那么𝑎 更容易回答与之相关的练习𝑘 正确地𝑏</a:t>
                </a:r>
                <a:r>
                  <a:rPr lang="en-US" altLang="zh-CN" sz="1200" dirty="0">
                    <a:latin typeface="Arial" panose="020B0604020202020204" pitchFamily="34" charset="0"/>
                    <a:cs typeface="Arial" panose="020B0604020202020204" pitchFamily="34" charset="0"/>
                  </a:rPr>
                  <a:t>. </a:t>
                </a:r>
                <a:r>
                  <a:rPr lang="zh-CN" altLang="en-US" sz="1200" dirty="0">
                    <a:latin typeface="Arial" panose="020B0604020202020204" pitchFamily="34" charset="0"/>
                    <a:cs typeface="Arial" panose="020B0604020202020204" pitchFamily="34" charset="0"/>
                  </a:rPr>
                  <a:t>这就是结果。可见，神经干细胞</a:t>
                </a:r>
                <a:r>
                  <a:rPr lang="en-US" altLang="zh-CN" sz="1200" dirty="0">
                    <a:latin typeface="Arial" panose="020B0604020202020204" pitchFamily="34" charset="0"/>
                    <a:cs typeface="Arial" panose="020B0604020202020204" pitchFamily="34" charset="0"/>
                  </a:rPr>
                  <a:t>DM</a:t>
                </a:r>
                <a:r>
                  <a:rPr lang="zh-CN" altLang="en-US" sz="1200" dirty="0">
                    <a:latin typeface="Arial" panose="020B0604020202020204" pitchFamily="34" charset="0"/>
                    <a:cs typeface="Arial" panose="020B0604020202020204" pitchFamily="34" charset="0"/>
                  </a:rPr>
                  <a:t>和神经细胞干细胞</a:t>
                </a:r>
                <a:r>
                  <a:rPr lang="en-US" altLang="zh-CN" sz="1200" dirty="0">
                    <a:latin typeface="Arial" panose="020B0604020202020204" pitchFamily="34" charset="0"/>
                    <a:cs typeface="Arial" panose="020B0604020202020204" pitchFamily="34" charset="0"/>
                  </a:rPr>
                  <a:t>DM+</a:t>
                </a:r>
                <a:r>
                  <a:rPr lang="zh-CN" altLang="en-US" sz="1200" dirty="0">
                    <a:latin typeface="Arial" panose="020B0604020202020204" pitchFamily="34" charset="0"/>
                    <a:cs typeface="Arial" panose="020B0604020202020204" pitchFamily="34" charset="0"/>
                  </a:rPr>
                  <a:t>的</a:t>
                </a:r>
                <a:r>
                  <a:rPr lang="en-US" altLang="zh-CN" sz="1200" dirty="0">
                    <a:latin typeface="Arial" panose="020B0604020202020204" pitchFamily="34" charset="0"/>
                    <a:cs typeface="Arial" panose="020B0604020202020204" pitchFamily="34" charset="0"/>
                  </a:rPr>
                  <a:t>DOA</a:t>
                </a:r>
                <a:r>
                  <a:rPr lang="zh-CN" altLang="en-US" sz="1200" dirty="0">
                    <a:latin typeface="Arial" panose="020B0604020202020204" pitchFamily="34" charset="0"/>
                    <a:cs typeface="Arial" panose="020B0604020202020204" pitchFamily="34" charset="0"/>
                  </a:rPr>
                  <a:t>明显高于基线。此外，神经细胞</a:t>
                </a:r>
                <a:r>
                  <a:rPr lang="en-US" altLang="zh-CN" sz="1200" dirty="0">
                    <a:latin typeface="Arial" panose="020B0604020202020204" pitchFamily="34" charset="0"/>
                    <a:cs typeface="Arial" panose="020B0604020202020204" pitchFamily="34" charset="0"/>
                  </a:rPr>
                  <a:t>DM</a:t>
                </a:r>
                <a:r>
                  <a:rPr lang="zh-CN" altLang="en-US" sz="1200" dirty="0">
                    <a:latin typeface="Arial" panose="020B0604020202020204" pitchFamily="34" charset="0"/>
                    <a:cs typeface="Arial" panose="020B0604020202020204" pitchFamily="34" charset="0"/>
                  </a:rPr>
                  <a:t>的单调性和神经</a:t>
                </a:r>
                <a:r>
                  <a:rPr lang="en-US" altLang="zh-CN" sz="1200" dirty="0" err="1">
                    <a:latin typeface="Arial" panose="020B0604020202020204" pitchFamily="34" charset="0"/>
                    <a:cs typeface="Arial" panose="020B0604020202020204" pitchFamily="34" charset="0"/>
                  </a:rPr>
                  <a:t>AlcDM</a:t>
                </a:r>
                <a:r>
                  <a:rPr lang="zh-CN" altLang="en-US" sz="1200" dirty="0">
                    <a:latin typeface="Arial" panose="020B0604020202020204" pitchFamily="34" charset="0"/>
                    <a:cs typeface="Arial" panose="020B0604020202020204" pitchFamily="34" charset="0"/>
                  </a:rPr>
                  <a:t>单调性分别表示去除</a:t>
                </a:r>
                <a:r>
                  <a:rPr lang="en-US" altLang="zh-CN" sz="1200" dirty="0">
                    <a:latin typeface="Arial" panose="020B0604020202020204" pitchFamily="34" charset="0"/>
                    <a:cs typeface="Arial" panose="020B0604020202020204" pitchFamily="34" charset="0"/>
                  </a:rPr>
                  <a:t>Q</a:t>
                </a:r>
                <a:r>
                  <a:rPr lang="zh-CN" altLang="en-US" sz="1200" dirty="0">
                    <a:latin typeface="Arial" panose="020B0604020202020204" pitchFamily="34" charset="0"/>
                    <a:cs typeface="Arial" panose="020B0604020202020204" pitchFamily="34" charset="0"/>
                  </a:rPr>
                  <a:t>矩阵和单调性假设。它们的低</a:t>
                </a:r>
                <a:r>
                  <a:rPr lang="en-US" altLang="zh-CN" sz="1200" dirty="0">
                    <a:latin typeface="Arial" panose="020B0604020202020204" pitchFamily="34" charset="0"/>
                    <a:cs typeface="Arial" panose="020B0604020202020204" pitchFamily="34" charset="0"/>
                  </a:rPr>
                  <a:t>DOA</a:t>
                </a:r>
                <a:r>
                  <a:rPr lang="zh-CN" altLang="en-US" sz="1200" dirty="0">
                    <a:latin typeface="Arial" panose="020B0604020202020204" pitchFamily="34" charset="0"/>
                    <a:cs typeface="Arial" panose="020B0604020202020204" pitchFamily="34" charset="0"/>
                  </a:rPr>
                  <a:t>表明了精细估计知识关联向量和单调性假设的重要性。</a:t>
                </a:r>
                <a:endParaRPr lang="en-US" altLang="zh-CN" sz="1200" dirty="0">
                  <a:latin typeface="Arial" panose="020B0604020202020204" pitchFamily="34" charset="0"/>
                  <a:cs typeface="Arial" panose="020B0604020202020204" pitchFamily="34" charset="0"/>
                </a:endParaRPr>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To</a:t>
                </a:r>
                <a:r>
                  <a:rPr lang="en-US" altLang="zh-CN" baseline="0" dirty="0" smtClean="0"/>
                  <a:t> measure the interpretation of the models, we computes DOAs of the final student knowledge proficiency vectors. DOA is based on the intuition that i</a:t>
                </a:r>
                <a:r>
                  <a:rPr lang="en-US" altLang="zh-CN" sz="1200" dirty="0" smtClean="0">
                    <a:latin typeface="Arial" panose="020B0604020202020204" pitchFamily="34" charset="0"/>
                    <a:cs typeface="Arial" panose="020B0604020202020204" pitchFamily="34" charset="0"/>
                  </a:rPr>
                  <a:t>f student </a:t>
                </a:r>
                <a:r>
                  <a:rPr lang="en-US" altLang="zh-CN" sz="1200" i="0" dirty="0" smtClean="0">
                    <a:latin typeface="Cambria Math" panose="02040503050406030204" pitchFamily="18" charset="0"/>
                    <a:cs typeface="Arial" panose="020B0604020202020204" pitchFamily="34" charset="0"/>
                  </a:rPr>
                  <a:t>𝑎</a:t>
                </a:r>
                <a:r>
                  <a:rPr lang="en-US" altLang="zh-CN" sz="1200" dirty="0">
                    <a:latin typeface="Arial" panose="020B0604020202020204" pitchFamily="34" charset="0"/>
                    <a:cs typeface="Arial" panose="020B0604020202020204" pitchFamily="34" charset="0"/>
                  </a:rPr>
                  <a:t> has a better mastery on </a:t>
                </a:r>
                <a:r>
                  <a:rPr lang="en-US" altLang="zh-CN" sz="1200" dirty="0" smtClean="0">
                    <a:latin typeface="Arial" panose="020B0604020202020204" pitchFamily="34" charset="0"/>
                    <a:cs typeface="Arial" panose="020B0604020202020204" pitchFamily="34" charset="0"/>
                  </a:rPr>
                  <a:t>knowledge </a:t>
                </a:r>
                <a:r>
                  <a:rPr lang="en-US" altLang="zh-CN" sz="1200" dirty="0">
                    <a:latin typeface="Arial" panose="020B0604020202020204" pitchFamily="34" charset="0"/>
                    <a:cs typeface="Arial" panose="020B0604020202020204" pitchFamily="34" charset="0"/>
                  </a:rPr>
                  <a:t>concept </a:t>
                </a:r>
                <a:r>
                  <a:rPr lang="en-US" altLang="zh-CN" sz="1200" i="0" dirty="0" smtClean="0">
                    <a:latin typeface="Cambria Math" panose="02040503050406030204" pitchFamily="18" charset="0"/>
                    <a:cs typeface="Arial" panose="020B0604020202020204" pitchFamily="34" charset="0"/>
                  </a:rPr>
                  <a:t>𝑘</a:t>
                </a:r>
                <a:r>
                  <a:rPr lang="en-US" altLang="zh-CN" sz="1200" dirty="0">
                    <a:latin typeface="Arial" panose="020B0604020202020204" pitchFamily="34" charset="0"/>
                    <a:cs typeface="Arial" panose="020B0604020202020204" pitchFamily="34" charset="0"/>
                  </a:rPr>
                  <a:t> than student </a:t>
                </a:r>
                <a:r>
                  <a:rPr lang="en-US" altLang="zh-CN" sz="1200" i="0" dirty="0" smtClean="0">
                    <a:latin typeface="Cambria Math" panose="02040503050406030204" pitchFamily="18" charset="0"/>
                    <a:cs typeface="Arial" panose="020B0604020202020204" pitchFamily="34" charset="0"/>
                  </a:rPr>
                  <a:t>𝑏</a:t>
                </a:r>
                <a:r>
                  <a:rPr lang="en-US" altLang="zh-CN" sz="1200" dirty="0">
                    <a:latin typeface="Arial" panose="020B0604020202020204" pitchFamily="34" charset="0"/>
                    <a:cs typeface="Arial" panose="020B0604020202020204" pitchFamily="34" charset="0"/>
                  </a:rPr>
                  <a:t>, then </a:t>
                </a:r>
                <a:r>
                  <a:rPr lang="en-US" altLang="zh-CN" sz="1200" i="0" dirty="0" smtClean="0">
                    <a:latin typeface="Cambria Math" panose="02040503050406030204" pitchFamily="18" charset="0"/>
                    <a:cs typeface="Arial" panose="020B0604020202020204" pitchFamily="34" charset="0"/>
                  </a:rPr>
                  <a:t>𝑎</a:t>
                </a:r>
                <a:r>
                  <a:rPr lang="en-US" altLang="zh-CN" sz="1200" dirty="0">
                    <a:latin typeface="Arial" panose="020B0604020202020204" pitchFamily="34" charset="0"/>
                    <a:cs typeface="Arial" panose="020B0604020202020204" pitchFamily="34" charset="0"/>
                  </a:rPr>
                  <a:t> is more likely to </a:t>
                </a:r>
                <a:r>
                  <a:rPr lang="en-US" altLang="zh-CN" sz="1200" dirty="0" smtClean="0">
                    <a:latin typeface="Arial" panose="020B0604020202020204" pitchFamily="34" charset="0"/>
                    <a:cs typeface="Arial" panose="020B0604020202020204" pitchFamily="34" charset="0"/>
                  </a:rPr>
                  <a:t>answer exercises </a:t>
                </a:r>
                <a:r>
                  <a:rPr lang="en-US" altLang="zh-CN" sz="1200" dirty="0">
                    <a:latin typeface="Arial" panose="020B0604020202020204" pitchFamily="34" charset="0"/>
                    <a:cs typeface="Arial" panose="020B0604020202020204" pitchFamily="34" charset="0"/>
                  </a:rPr>
                  <a:t>related to </a:t>
                </a:r>
                <a:r>
                  <a:rPr lang="en-US" altLang="zh-CN" sz="1200" i="0" dirty="0" smtClean="0">
                    <a:latin typeface="Cambria Math" panose="02040503050406030204" pitchFamily="18" charset="0"/>
                    <a:cs typeface="Arial" panose="020B0604020202020204" pitchFamily="34" charset="0"/>
                  </a:rPr>
                  <a:t>𝑘</a:t>
                </a:r>
                <a:r>
                  <a:rPr lang="en-US" altLang="zh-CN" sz="1200" dirty="0">
                    <a:latin typeface="Arial" panose="020B0604020202020204" pitchFamily="34" charset="0"/>
                    <a:cs typeface="Arial" panose="020B0604020202020204" pitchFamily="34" charset="0"/>
                  </a:rPr>
                  <a:t> correctly than </a:t>
                </a:r>
                <a:r>
                  <a:rPr lang="en-US" altLang="zh-CN" sz="1200" i="0" dirty="0" smtClean="0">
                    <a:latin typeface="Cambria Math" panose="02040503050406030204" pitchFamily="18" charset="0"/>
                    <a:cs typeface="Arial" panose="020B0604020202020204" pitchFamily="34" charset="0"/>
                  </a:rPr>
                  <a:t>𝑏</a:t>
                </a:r>
                <a:r>
                  <a:rPr lang="en-US" altLang="zh-CN" sz="1200" dirty="0" smtClean="0">
                    <a:latin typeface="Arial" panose="020B0604020202020204" pitchFamily="34" charset="0"/>
                    <a:cs typeface="Arial" panose="020B0604020202020204" pitchFamily="34" charset="0"/>
                  </a:rPr>
                  <a:t>.</a:t>
                </a:r>
                <a:r>
                  <a:rPr lang="zh-CN" altLang="en-US" sz="1200" baseline="0" dirty="0" smtClean="0">
                    <a:latin typeface="+mn-lt"/>
                    <a:cs typeface="+mn-cs"/>
                  </a:rPr>
                  <a:t> </a:t>
                </a:r>
                <a:r>
                  <a:rPr lang="en-US" altLang="zh-CN" sz="1200" baseline="0" dirty="0" smtClean="0">
                    <a:latin typeface="+mn-lt"/>
                    <a:cs typeface="+mn-cs"/>
                  </a:rPr>
                  <a:t>This is the results. We can see that the DOAs of NeuralCDM and NeuralCDM+ is significantly higher than baselines. Besides, NeuralCDM-</a:t>
                </a:r>
                <a:r>
                  <a:rPr lang="en-US" altLang="zh-CN" sz="1200" baseline="0" dirty="0" err="1" smtClean="0">
                    <a:latin typeface="+mn-lt"/>
                    <a:cs typeface="+mn-cs"/>
                  </a:rPr>
                  <a:t>Qmatrix</a:t>
                </a:r>
                <a:r>
                  <a:rPr lang="en-US" altLang="zh-CN" sz="1200" baseline="0" dirty="0" smtClean="0">
                    <a:latin typeface="+mn-lt"/>
                    <a:cs typeface="+mn-cs"/>
                  </a:rPr>
                  <a:t> and NeuralCDM-Monotonicity denotes removing Q-matrix and Monotonicity assumption respectively. Their lower DOA indicates the importance of fined estimated knowledge relevancy vector and monotonicity assumption.</a:t>
                </a:r>
                <a:endParaRPr lang="en-US" altLang="zh-CN" sz="1200" dirty="0" smtClean="0">
                  <a:latin typeface="Arial" panose="020B0604020202020204" pitchFamily="34" charset="0"/>
                  <a:cs typeface="Arial" panose="020B0604020202020204" pitchFamily="34" charset="0"/>
                </a:endParaRPr>
              </a:p>
            </p:txBody>
          </p:sp>
        </mc:Fallback>
      </mc:AlternateContent>
      <p:sp>
        <p:nvSpPr>
          <p:cNvPr id="4" name="灯片编号占位符 3"/>
          <p:cNvSpPr>
            <a:spLocks noGrp="1"/>
          </p:cNvSpPr>
          <p:nvPr>
            <p:ph type="sldNum" sz="quarter" idx="10"/>
          </p:nvPr>
        </p:nvSpPr>
        <p:spPr/>
        <p:txBody>
          <a:bodyPr/>
          <a:lstStyle/>
          <a:p>
            <a:fld id="{6E57495B-DC36-4EDF-8FEA-CBBC34B99736}" type="slidenum">
              <a:rPr lang="zh-CN" altLang="en-US" smtClean="0"/>
              <a:t>16</a:t>
            </a:fld>
            <a:endParaRPr lang="zh-CN" altLang="en-US"/>
          </a:p>
        </p:txBody>
      </p:sp>
    </p:spTree>
    <p:extLst>
      <p:ext uri="{BB962C8B-B14F-4D97-AF65-F5344CB8AC3E}">
        <p14:creationId xmlns:p14="http://schemas.microsoft.com/office/powerpoint/2010/main" val="1215524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这里我们展示了一个辅助数据集的案例研究。图的上部是学生</a:t>
            </a:r>
            <a:r>
              <a:rPr lang="en-US" altLang="zh-CN" baseline="0" dirty="0"/>
              <a:t>3</a:t>
            </a:r>
            <a:r>
              <a:rPr lang="zh-CN" altLang="en-US" baseline="0" dirty="0"/>
              <a:t>个练习和反应日志的</a:t>
            </a:r>
            <a:r>
              <a:rPr lang="en-US" altLang="zh-CN" baseline="0" dirty="0"/>
              <a:t>Q</a:t>
            </a:r>
            <a:r>
              <a:rPr lang="zh-CN" altLang="en-US" baseline="0" dirty="0"/>
              <a:t>矩阵。为了清晰起见，我们只展示了</a:t>
            </a:r>
            <a:r>
              <a:rPr lang="en-US" altLang="zh-CN" baseline="0" dirty="0"/>
              <a:t>5</a:t>
            </a:r>
            <a:r>
              <a:rPr lang="zh-CN" altLang="en-US" baseline="0" dirty="0"/>
              <a:t>个相关的知识概念。在下一部分，各栏显示了学生对每一个概念的知识熟练程度，并指出了相应练习中的知识困难。从这个数字我们可以看出，当学生的熟练程度满足练习的要求时，他们更容易做出正确的反应。</a:t>
            </a:r>
            <a:endParaRPr lang="en-US" altLang="zh-CN" baseline="0" dirty="0"/>
          </a:p>
        </p:txBody>
      </p:sp>
      <p:sp>
        <p:nvSpPr>
          <p:cNvPr id="4" name="灯片编号占位符 3"/>
          <p:cNvSpPr>
            <a:spLocks noGrp="1"/>
          </p:cNvSpPr>
          <p:nvPr>
            <p:ph type="sldNum" sz="quarter" idx="10"/>
          </p:nvPr>
        </p:nvSpPr>
        <p:spPr/>
        <p:txBody>
          <a:bodyPr/>
          <a:lstStyle/>
          <a:p>
            <a:fld id="{6E57495B-DC36-4EDF-8FEA-CBBC34B99736}" type="slidenum">
              <a:rPr lang="zh-CN" altLang="en-US" smtClean="0"/>
              <a:t>17</a:t>
            </a:fld>
            <a:endParaRPr lang="zh-CN" altLang="en-US"/>
          </a:p>
        </p:txBody>
      </p:sp>
    </p:spTree>
    <p:extLst>
      <p:ext uri="{BB962C8B-B14F-4D97-AF65-F5344CB8AC3E}">
        <p14:creationId xmlns:p14="http://schemas.microsoft.com/office/powerpoint/2010/main" val="42145128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这是我们工作的结论。我们提出了一个神经认知诊断框架：</a:t>
            </a:r>
            <a:r>
              <a:rPr lang="en-US" altLang="zh-CN" dirty="0" err="1"/>
              <a:t>NeuralCD</a:t>
            </a:r>
            <a:r>
              <a:rPr lang="zh-CN" altLang="en-US" dirty="0"/>
              <a:t>，它将学生和练习投射到不同的因素中，并利用神经网络学习它们之间的交互作用。采用单调性假设来保证解释的正确性。</a:t>
            </a:r>
          </a:p>
          <a:p>
            <a:r>
              <a:rPr lang="zh-CN" altLang="en-US" dirty="0"/>
              <a:t>通过两个具体的实现说明了该框架的可行性和可扩展性，并通过证明</a:t>
            </a:r>
            <a:r>
              <a:rPr lang="en-US" altLang="zh-CN" dirty="0" err="1"/>
              <a:t>NeuralCD</a:t>
            </a:r>
            <a:r>
              <a:rPr lang="zh-CN" altLang="en-US" dirty="0"/>
              <a:t>可以覆盖一些传统模型证明了该框架的通用性。</a:t>
            </a:r>
          </a:p>
          <a:p>
            <a:r>
              <a:rPr lang="zh-CN" altLang="en-US" dirty="0"/>
              <a:t>我们进一步在两个真实数据集上进行了实验，结果表明我们的模型是有效的和可解释的。</a:t>
            </a:r>
          </a:p>
        </p:txBody>
      </p:sp>
      <p:sp>
        <p:nvSpPr>
          <p:cNvPr id="4" name="灯片编号占位符 3"/>
          <p:cNvSpPr>
            <a:spLocks noGrp="1"/>
          </p:cNvSpPr>
          <p:nvPr>
            <p:ph type="sldNum" sz="quarter" idx="10"/>
          </p:nvPr>
        </p:nvSpPr>
        <p:spPr/>
        <p:txBody>
          <a:bodyPr/>
          <a:lstStyle/>
          <a:p>
            <a:fld id="{6E57495B-DC36-4EDF-8FEA-CBBC34B99736}" type="slidenum">
              <a:rPr lang="zh-CN" altLang="en-US" smtClean="0"/>
              <a:t>18</a:t>
            </a:fld>
            <a:endParaRPr lang="zh-CN" altLang="en-US"/>
          </a:p>
        </p:txBody>
      </p:sp>
    </p:spTree>
    <p:extLst>
      <p:ext uri="{BB962C8B-B14F-4D97-AF65-F5344CB8AC3E}">
        <p14:creationId xmlns:p14="http://schemas.microsoft.com/office/powerpoint/2010/main" val="2094923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zh-CN" alt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
        <p:nvSpPr>
          <p:cNvPr id="7" name="矩形 6"/>
          <p:cNvSpPr/>
          <p:nvPr userDrawn="1"/>
        </p:nvSpPr>
        <p:spPr>
          <a:xfrm>
            <a:off x="-9524" y="2"/>
            <a:ext cx="9161463" cy="898525"/>
          </a:xfrm>
          <a:prstGeom prst="rect">
            <a:avLst/>
          </a:prstGeom>
          <a:solidFill>
            <a:srgbClr val="1342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FFFFFF"/>
              </a:solidFill>
            </a:endParaRPr>
          </a:p>
        </p:txBody>
      </p:sp>
    </p:spTree>
    <p:extLst>
      <p:ext uri="{BB962C8B-B14F-4D97-AF65-F5344CB8AC3E}">
        <p14:creationId xmlns:p14="http://schemas.microsoft.com/office/powerpoint/2010/main" val="4038399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73567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6/27/2021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29262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6/27/2021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94325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6/27/2021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52532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6/27/2021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38348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6/27/2021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88036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6/27/2021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35095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6/27/2021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57588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52430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5755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2" name="Picture 3" descr="E:\Lab211\杂事\校徽.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81836" y="139623"/>
            <a:ext cx="924142" cy="912274"/>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6"/>
          <p:cNvGrpSpPr>
            <a:grpSpLocks/>
          </p:cNvGrpSpPr>
          <p:nvPr userDrawn="1"/>
        </p:nvGrpSpPr>
        <p:grpSpPr bwMode="auto">
          <a:xfrm>
            <a:off x="-1" y="6551617"/>
            <a:ext cx="9151939" cy="306387"/>
            <a:chOff x="669" y="6570913"/>
            <a:chExt cx="9152858" cy="306000"/>
          </a:xfrm>
        </p:grpSpPr>
        <p:sp>
          <p:nvSpPr>
            <p:cNvPr id="4" name="矩形 5"/>
            <p:cNvSpPr/>
            <p:nvPr/>
          </p:nvSpPr>
          <p:spPr>
            <a:xfrm>
              <a:off x="669" y="6570913"/>
              <a:ext cx="6154771" cy="306000"/>
            </a:xfrm>
            <a:prstGeom prst="rect">
              <a:avLst/>
            </a:prstGeom>
            <a:solidFill>
              <a:srgbClr val="1342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FFFFFF"/>
                </a:solidFill>
              </a:endParaRPr>
            </a:p>
          </p:txBody>
        </p:sp>
        <p:grpSp>
          <p:nvGrpSpPr>
            <p:cNvPr id="5" name="组合 8"/>
            <p:cNvGrpSpPr>
              <a:grpSpLocks/>
            </p:cNvGrpSpPr>
            <p:nvPr userDrawn="1"/>
          </p:nvGrpSpPr>
          <p:grpSpPr bwMode="auto">
            <a:xfrm>
              <a:off x="248846" y="6570913"/>
              <a:ext cx="8904681" cy="306000"/>
              <a:chOff x="248846" y="6570913"/>
              <a:chExt cx="8904681" cy="306000"/>
            </a:xfrm>
          </p:grpSpPr>
          <p:sp>
            <p:nvSpPr>
              <p:cNvPr id="6" name="文本框 10"/>
              <p:cNvSpPr txBox="1">
                <a:spLocks noChangeArrowheads="1"/>
              </p:cNvSpPr>
              <p:nvPr/>
            </p:nvSpPr>
            <p:spPr bwMode="auto">
              <a:xfrm>
                <a:off x="248846" y="6600957"/>
                <a:ext cx="5405730" cy="230541"/>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900" b="1" dirty="0">
                    <a:solidFill>
                      <a:srgbClr val="FFFFFF"/>
                    </a:solidFill>
                    <a:latin typeface="微软雅黑" panose="020B0503020204020204" pitchFamily="34" charset="-122"/>
                    <a:ea typeface="微软雅黑" panose="020B0503020204020204" pitchFamily="34" charset="-122"/>
                  </a:rPr>
                  <a:t>Anhui Province Key Lab. of Big Data Analysis and Application, University of S&amp;T of China</a:t>
                </a:r>
                <a:endParaRPr lang="zh-CN" altLang="en-US" sz="900" b="1" dirty="0">
                  <a:solidFill>
                    <a:srgbClr val="FFFFFF"/>
                  </a:solidFill>
                  <a:latin typeface="微软雅黑" panose="020B0503020204020204" pitchFamily="34" charset="-122"/>
                  <a:ea typeface="微软雅黑" panose="020B0503020204020204" pitchFamily="34" charset="-122"/>
                </a:endParaRPr>
              </a:p>
            </p:txBody>
          </p:sp>
          <p:sp>
            <p:nvSpPr>
              <p:cNvPr id="7" name="矩形 8"/>
              <p:cNvSpPr/>
              <p:nvPr/>
            </p:nvSpPr>
            <p:spPr>
              <a:xfrm>
                <a:off x="6155440" y="6570913"/>
                <a:ext cx="2998087" cy="306000"/>
              </a:xfrm>
              <a:prstGeom prst="rect">
                <a:avLst/>
              </a:prstGeom>
              <a:solidFill>
                <a:srgbClr val="CADC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FFFFFF"/>
                  </a:solidFill>
                </a:endParaRPr>
              </a:p>
            </p:txBody>
          </p:sp>
        </p:grpSp>
      </p:grpSp>
    </p:spTree>
    <p:extLst>
      <p:ext uri="{BB962C8B-B14F-4D97-AF65-F5344CB8AC3E}">
        <p14:creationId xmlns:p14="http://schemas.microsoft.com/office/powerpoint/2010/main" val="23686071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5" name="矩形 4"/>
          <p:cNvSpPr/>
          <p:nvPr userDrawn="1"/>
        </p:nvSpPr>
        <p:spPr>
          <a:xfrm>
            <a:off x="0" y="2569704"/>
            <a:ext cx="9144000" cy="1727200"/>
          </a:xfrm>
          <a:prstGeom prst="rect">
            <a:avLst/>
          </a:prstGeom>
          <a:solidFill>
            <a:srgbClr val="1342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1350">
              <a:solidFill>
                <a:srgbClr val="FFFFFF"/>
              </a:solidFill>
            </a:endParaRPr>
          </a:p>
        </p:txBody>
      </p:sp>
      <p:pic>
        <p:nvPicPr>
          <p:cNvPr id="4" name="Picture 3" descr="E:\Lab211\杂事\校徽.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81836" y="139623"/>
            <a:ext cx="924142" cy="912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117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6" name="文本占位符 5"/>
          <p:cNvSpPr>
            <a:spLocks noGrp="1"/>
          </p:cNvSpPr>
          <p:nvPr>
            <p:ph type="body" sz="quarter" idx="10" hasCustomPrompt="1"/>
          </p:nvPr>
        </p:nvSpPr>
        <p:spPr>
          <a:xfrm>
            <a:off x="776181" y="512241"/>
            <a:ext cx="4093586" cy="461665"/>
          </a:xfrm>
          <a:prstGeom prst="rect">
            <a:avLst/>
          </a:prstGeom>
          <a:noFill/>
        </p:spPr>
        <p:txBody>
          <a:bodyPr vert="horz" wrap="square" lIns="91440" tIns="45720" rIns="91440" bIns="45720" rtlCol="0">
            <a:spAutoFit/>
          </a:bodyPr>
          <a:lstStyle>
            <a:lvl1pPr marL="0" marR="0" indent="0" algn="l" defTabSz="685783" rtl="0" eaLnBrk="1" fontAlgn="ctr" latinLnBrk="0" hangingPunct="1">
              <a:lnSpc>
                <a:spcPct val="100000"/>
              </a:lnSpc>
              <a:spcBef>
                <a:spcPts val="0"/>
              </a:spcBef>
              <a:spcAft>
                <a:spcPts val="0"/>
              </a:spcAft>
              <a:buClrTx/>
              <a:buSzTx/>
              <a:buFontTx/>
              <a:buNone/>
              <a:tabLst/>
              <a:defRPr kumimoji="0" lang="en-US" sz="2400" b="1" i="0" u="none" strike="noStrike" cap="none" spc="0" normalizeH="0" baseline="0">
                <a:ln>
                  <a:noFill/>
                </a:ln>
                <a:solidFill>
                  <a:srgbClr val="002060"/>
                </a:solidFill>
                <a:effectLst/>
                <a:uLnTx/>
                <a:uFillTx/>
                <a:latin typeface="微软雅黑" panose="020B0503020204020204" pitchFamily="34" charset="-122"/>
                <a:ea typeface="微软雅黑" panose="020B0503020204020204" pitchFamily="34" charset="-122"/>
              </a:defRPr>
            </a:lvl1pPr>
          </a:lstStyle>
          <a:p>
            <a:pPr marL="0" marR="0" lvl="0" indent="0" algn="l" defTabSz="685783" rtl="0" eaLnBrk="1" fontAlgn="ctr"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单击此处添加幻灯片标题</a:t>
            </a:r>
          </a:p>
        </p:txBody>
      </p:sp>
      <p:grpSp>
        <p:nvGrpSpPr>
          <p:cNvPr id="14" name="组合 13"/>
          <p:cNvGrpSpPr/>
          <p:nvPr userDrawn="1"/>
        </p:nvGrpSpPr>
        <p:grpSpPr>
          <a:xfrm>
            <a:off x="310550" y="541906"/>
            <a:ext cx="426279" cy="432000"/>
            <a:chOff x="620485" y="577906"/>
            <a:chExt cx="361951" cy="432000"/>
          </a:xfrm>
          <a:solidFill>
            <a:srgbClr val="134288"/>
          </a:solidFill>
        </p:grpSpPr>
        <p:sp>
          <p:nvSpPr>
            <p:cNvPr id="2" name="矩形 1"/>
            <p:cNvSpPr/>
            <p:nvPr userDrawn="1"/>
          </p:nvSpPr>
          <p:spPr>
            <a:xfrm>
              <a:off x="620485" y="721906"/>
              <a:ext cx="101601" cy="28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1350">
                <a:solidFill>
                  <a:srgbClr val="FFFFFF"/>
                </a:solidFill>
              </a:endParaRPr>
            </a:p>
          </p:txBody>
        </p:sp>
        <p:sp>
          <p:nvSpPr>
            <p:cNvPr id="7" name="矩形 6"/>
            <p:cNvSpPr/>
            <p:nvPr userDrawn="1"/>
          </p:nvSpPr>
          <p:spPr>
            <a:xfrm>
              <a:off x="752428" y="577906"/>
              <a:ext cx="99833" cy="43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1350">
                <a:solidFill>
                  <a:srgbClr val="FFFFFF"/>
                </a:solidFill>
              </a:endParaRPr>
            </a:p>
          </p:txBody>
        </p:sp>
        <p:sp>
          <p:nvSpPr>
            <p:cNvPr id="11" name="矩形 10"/>
            <p:cNvSpPr/>
            <p:nvPr userDrawn="1"/>
          </p:nvSpPr>
          <p:spPr>
            <a:xfrm>
              <a:off x="882603" y="793906"/>
              <a:ext cx="99833" cy="21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1350">
                <a:solidFill>
                  <a:srgbClr val="FFFFFF"/>
                </a:solidFill>
              </a:endParaRPr>
            </a:p>
          </p:txBody>
        </p:sp>
      </p:grpSp>
      <p:pic>
        <p:nvPicPr>
          <p:cNvPr id="8" name="Picture 3" descr="E:\Lab211\杂事\校徽.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81836" y="139623"/>
            <a:ext cx="924142" cy="912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248371"/>
      </p:ext>
    </p:extLst>
  </p:cSld>
  <p:clrMapOvr>
    <a:masterClrMapping/>
  </p:clrMapOvr>
  <p:extLst>
    <p:ext uri="{DCECCB84-F9BA-43D5-87BE-67443E8EF086}">
      <p15:sldGuideLst xmlns:p15="http://schemas.microsoft.com/office/powerpoint/2012/main">
        <p15:guide id="1" pos="5500" userDrawn="1">
          <p15:clr>
            <a:srgbClr val="FBAE40"/>
          </p15:clr>
        </p15:guide>
        <p15:guide id="2" orient="horz" pos="60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底页">
    <p:bg>
      <p:bgPr>
        <a:solidFill>
          <a:srgbClr val="FFFFFF"/>
        </a:solidFill>
        <a:effectLst/>
      </p:bgPr>
    </p:bg>
    <p:spTree>
      <p:nvGrpSpPr>
        <p:cNvPr id="1" name=""/>
        <p:cNvGrpSpPr/>
        <p:nvPr/>
      </p:nvGrpSpPr>
      <p:grpSpPr>
        <a:xfrm>
          <a:off x="0" y="0"/>
          <a:ext cx="0" cy="0"/>
          <a:chOff x="0" y="0"/>
          <a:chExt cx="0" cy="0"/>
        </a:xfrm>
      </p:grpSpPr>
      <p:sp>
        <p:nvSpPr>
          <p:cNvPr id="5" name="矩形 4"/>
          <p:cNvSpPr/>
          <p:nvPr userDrawn="1"/>
        </p:nvSpPr>
        <p:spPr>
          <a:xfrm>
            <a:off x="-161" y="6604913"/>
            <a:ext cx="9144000" cy="25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1350">
              <a:solidFill>
                <a:srgbClr val="FFFFFF"/>
              </a:solidFill>
            </a:endParaRPr>
          </a:p>
        </p:txBody>
      </p:sp>
      <p:sp>
        <p:nvSpPr>
          <p:cNvPr id="4" name="矩形 3"/>
          <p:cNvSpPr/>
          <p:nvPr userDrawn="1"/>
        </p:nvSpPr>
        <p:spPr>
          <a:xfrm>
            <a:off x="-9524" y="2"/>
            <a:ext cx="9161463" cy="89852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FFFFFF"/>
              </a:solidFill>
            </a:endParaRPr>
          </a:p>
        </p:txBody>
      </p:sp>
    </p:spTree>
    <p:extLst>
      <p:ext uri="{BB962C8B-B14F-4D97-AF65-F5344CB8AC3E}">
        <p14:creationId xmlns:p14="http://schemas.microsoft.com/office/powerpoint/2010/main" val="2903040648"/>
      </p:ext>
    </p:extLst>
  </p:cSld>
  <p:clrMapOvr>
    <a:masterClrMapping/>
  </p:clrMapOvr>
  <p:extLst>
    <p:ext uri="{DCECCB84-F9BA-43D5-87BE-67443E8EF086}">
      <p15:sldGuideLst xmlns:p15="http://schemas.microsoft.com/office/powerpoint/2012/main">
        <p15:guide id="1" pos="55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6/27/2021</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背景" hidden="1"/>
          <p:cNvSpPr txBox="1"/>
          <p:nvPr userDrawn="1"/>
        </p:nvSpPr>
        <p:spPr>
          <a:xfrm>
            <a:off x="3537125" y="13663977"/>
            <a:ext cx="2133918" cy="230832"/>
          </a:xfrm>
          <a:prstGeom prst="rect">
            <a:avLst/>
          </a:prstGeom>
          <a:noFill/>
        </p:spPr>
        <p:txBody>
          <a:bodyPr wrap="none" rtlCol="0">
            <a:spAutoFit/>
          </a:bodyPr>
          <a:lstStyle/>
          <a:p>
            <a:r>
              <a:rPr lang="zh-CN" altLang="en-US" sz="900">
                <a:solidFill>
                  <a:srgbClr val="E6E6E6"/>
                </a:solidFill>
              </a:rPr>
              <a:t>版权所有：</a:t>
            </a:r>
            <a:r>
              <a:rPr lang="en-US" altLang="zh-CN" sz="900">
                <a:solidFill>
                  <a:srgbClr val="E6E6E6"/>
                </a:solidFill>
              </a:rPr>
              <a:t>KOPPT WWW.KOPPT.CN</a:t>
            </a:r>
            <a:endParaRPr lang="en-US" sz="900">
              <a:solidFill>
                <a:srgbClr val="E6E6E6"/>
              </a:solidFill>
            </a:endParaRPr>
          </a:p>
        </p:txBody>
      </p:sp>
    </p:spTree>
    <p:extLst>
      <p:ext uri="{BB962C8B-B14F-4D97-AF65-F5344CB8AC3E}">
        <p14:creationId xmlns:p14="http://schemas.microsoft.com/office/powerpoint/2010/main" val="366613109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7.png"/><Relationship Id="rId11" Type="http://schemas.openxmlformats.org/officeDocument/2006/relationships/image" Target="../media/image2.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610.png"/><Relationship Id="rId4" Type="http://schemas.openxmlformats.org/officeDocument/2006/relationships/image" Target="../media/image7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26.png"/><Relationship Id="rId4" Type="http://schemas.openxmlformats.org/officeDocument/2006/relationships/image" Target="../media/image250.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67639" y="2342045"/>
            <a:ext cx="8884921" cy="1402556"/>
          </a:xfrm>
        </p:spPr>
        <p:txBody>
          <a:bodyPr/>
          <a:lstStyle/>
          <a:p>
            <a:pPr lvl="0">
              <a:defRPr/>
            </a:pPr>
            <a:r>
              <a:rPr lang="en-US" altLang="zh-CN" sz="4050" dirty="0">
                <a:effectLst>
                  <a:outerShdw blurRad="50800" dist="38100" dir="2700000" algn="tl" rotWithShape="0">
                    <a:prstClr val="black">
                      <a:alpha val="40000"/>
                    </a:prstClr>
                  </a:outerShdw>
                </a:effectLst>
                <a:latin typeface="微软雅黑"/>
              </a:rPr>
              <a:t>Neural Cognitive Diagnosis for Intelligent Education Systems</a:t>
            </a:r>
          </a:p>
        </p:txBody>
      </p:sp>
      <p:sp>
        <p:nvSpPr>
          <p:cNvPr id="3" name="Subtitle 2"/>
          <p:cNvSpPr>
            <a:spLocks noGrp="1"/>
          </p:cNvSpPr>
          <p:nvPr>
            <p:ph type="subTitle" idx="1"/>
          </p:nvPr>
        </p:nvSpPr>
        <p:spPr>
          <a:xfrm>
            <a:off x="1181099" y="4082980"/>
            <a:ext cx="6858000" cy="898922"/>
          </a:xfrm>
        </p:spPr>
        <p:txBody>
          <a:bodyPr/>
          <a:lstStyle/>
          <a:p>
            <a:r>
              <a:rPr lang="en-US" altLang="zh-CN" b="1" dirty="0"/>
              <a:t>Fei Wang, Qi Liu, </a:t>
            </a:r>
            <a:r>
              <a:rPr lang="en-US" altLang="zh-CN" b="1" dirty="0" err="1"/>
              <a:t>Enhong</a:t>
            </a:r>
            <a:r>
              <a:rPr lang="en-US" altLang="zh-CN" b="1" dirty="0"/>
              <a:t> Chen, </a:t>
            </a:r>
            <a:r>
              <a:rPr lang="en-US" altLang="zh-CN" b="1" dirty="0" err="1"/>
              <a:t>Zhenya</a:t>
            </a:r>
            <a:r>
              <a:rPr lang="en-US" altLang="zh-CN" b="1" dirty="0"/>
              <a:t> Huang, </a:t>
            </a:r>
            <a:r>
              <a:rPr lang="en-US" altLang="zh-CN" b="1" dirty="0" err="1"/>
              <a:t>Yuying</a:t>
            </a:r>
            <a:r>
              <a:rPr lang="en-US" altLang="zh-CN" b="1" dirty="0"/>
              <a:t> Chen, </a:t>
            </a:r>
            <a:r>
              <a:rPr lang="en-US" altLang="zh-CN" b="1" dirty="0" err="1"/>
              <a:t>Zai</a:t>
            </a:r>
            <a:r>
              <a:rPr lang="en-US" altLang="zh-CN" b="1" dirty="0"/>
              <a:t> Huang, Shijin Wang</a:t>
            </a:r>
            <a:endParaRPr lang="zh-CN" altLang="en-US" b="1" dirty="0"/>
          </a:p>
        </p:txBody>
      </p:sp>
      <p:grpSp>
        <p:nvGrpSpPr>
          <p:cNvPr id="8" name="组合 6"/>
          <p:cNvGrpSpPr>
            <a:grpSpLocks/>
          </p:cNvGrpSpPr>
          <p:nvPr/>
        </p:nvGrpSpPr>
        <p:grpSpPr bwMode="auto">
          <a:xfrm>
            <a:off x="0" y="6627683"/>
            <a:ext cx="9151939" cy="229790"/>
            <a:chOff x="669" y="6570913"/>
            <a:chExt cx="9152858" cy="306000"/>
          </a:xfrm>
        </p:grpSpPr>
        <p:sp>
          <p:nvSpPr>
            <p:cNvPr id="10" name="矩形 5"/>
            <p:cNvSpPr/>
            <p:nvPr/>
          </p:nvSpPr>
          <p:spPr>
            <a:xfrm>
              <a:off x="669" y="6570913"/>
              <a:ext cx="6154771" cy="306000"/>
            </a:xfrm>
            <a:prstGeom prst="rect">
              <a:avLst/>
            </a:prstGeom>
            <a:solidFill>
              <a:srgbClr val="1342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FFFFFF"/>
                </a:solidFill>
              </a:endParaRPr>
            </a:p>
          </p:txBody>
        </p:sp>
        <p:sp>
          <p:nvSpPr>
            <p:cNvPr id="14" name="矩形 8"/>
            <p:cNvSpPr/>
            <p:nvPr/>
          </p:nvSpPr>
          <p:spPr bwMode="auto">
            <a:xfrm>
              <a:off x="6155440" y="6570913"/>
              <a:ext cx="2998087" cy="306000"/>
            </a:xfrm>
            <a:prstGeom prst="rect">
              <a:avLst/>
            </a:prstGeom>
            <a:solidFill>
              <a:srgbClr val="CADC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FFFFFF"/>
                </a:solidFill>
              </a:endParaRPr>
            </a:p>
          </p:txBody>
        </p:sp>
      </p:grpSp>
      <p:sp>
        <p:nvSpPr>
          <p:cNvPr id="9" name="Subtitle 2"/>
          <p:cNvSpPr txBox="1">
            <a:spLocks/>
          </p:cNvSpPr>
          <p:nvPr/>
        </p:nvSpPr>
        <p:spPr>
          <a:xfrm>
            <a:off x="1181099" y="4870820"/>
            <a:ext cx="6858000" cy="89892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b="1" dirty="0"/>
              <a:t>AAAI 2020</a:t>
            </a:r>
            <a:endParaRPr lang="zh-CN" altLang="en-US" b="1" dirty="0"/>
          </a:p>
        </p:txBody>
      </p:sp>
      <p:sp>
        <p:nvSpPr>
          <p:cNvPr id="4" name="文本框 3">
            <a:extLst>
              <a:ext uri="{FF2B5EF4-FFF2-40B4-BE49-F238E27FC236}">
                <a16:creationId xmlns:a16="http://schemas.microsoft.com/office/drawing/2014/main" id="{05A8212A-D665-4476-B1AF-57A1E7D44D4D}"/>
              </a:ext>
            </a:extLst>
          </p:cNvPr>
          <p:cNvSpPr txBox="1"/>
          <p:nvPr/>
        </p:nvSpPr>
        <p:spPr>
          <a:xfrm>
            <a:off x="1116202" y="5769742"/>
            <a:ext cx="2146742" cy="646331"/>
          </a:xfrm>
          <a:prstGeom prst="rect">
            <a:avLst/>
          </a:prstGeom>
          <a:noFill/>
        </p:spPr>
        <p:txBody>
          <a:bodyPr wrap="none" rtlCol="0">
            <a:spAutoFit/>
          </a:bodyPr>
          <a:lstStyle/>
          <a:p>
            <a:r>
              <a:rPr lang="zh-CN" altLang="en-US" dirty="0"/>
              <a:t>汇报人：罗志辉</a:t>
            </a:r>
            <a:endParaRPr lang="en-US" altLang="zh-CN" dirty="0"/>
          </a:p>
          <a:p>
            <a:r>
              <a:rPr lang="zh-CN" altLang="en-US" dirty="0"/>
              <a:t>学号：</a:t>
            </a:r>
            <a:r>
              <a:rPr lang="en-US" altLang="zh-CN" dirty="0">
                <a:latin typeface="Times New Roman" panose="02020603050405020304" pitchFamily="18" charset="0"/>
                <a:cs typeface="Times New Roman" panose="02020603050405020304" pitchFamily="18" charset="0"/>
              </a:rPr>
              <a:t>S2009W0585</a:t>
            </a:r>
            <a:endParaRPr lang="zh-CN" altLang="en-US" dirty="0">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FA1BB3E7-94B5-4D5E-B46D-2A5C2E21AF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52007" y="130926"/>
            <a:ext cx="1700553" cy="1084900"/>
          </a:xfrm>
          <a:prstGeom prst="rect">
            <a:avLst/>
          </a:prstGeom>
        </p:spPr>
      </p:pic>
    </p:spTree>
    <p:extLst>
      <p:ext uri="{BB962C8B-B14F-4D97-AF65-F5344CB8AC3E}">
        <p14:creationId xmlns:p14="http://schemas.microsoft.com/office/powerpoint/2010/main" val="975060981"/>
      </p:ext>
    </p:extLst>
  </p:cSld>
  <p:clrMapOvr>
    <a:masterClrMapping/>
  </p:clrMapOvr>
  <mc:AlternateContent xmlns:mc="http://schemas.openxmlformats.org/markup-compatibility/2006" xmlns:p14="http://schemas.microsoft.com/office/powerpoint/2010/main">
    <mc:Choice Requires="p14">
      <p:transition p14:dur="10" advClick="0" advTm="20834"/>
    </mc:Choice>
    <mc:Fallback xmlns="">
      <p:transition advClick="0" advTm="208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621284" y="1084900"/>
            <a:ext cx="6084311" cy="5755422"/>
          </a:xfrm>
        </p:spPr>
        <p:txBody>
          <a:bodyPr/>
          <a:lstStyle/>
          <a:p>
            <a:pPr algn="ctr"/>
            <a:r>
              <a:rPr lang="zh-CN" altLang="en-US" sz="4000" dirty="0"/>
              <a:t>目录</a:t>
            </a:r>
            <a:endParaRPr lang="en-US" altLang="zh-CN" sz="4000" dirty="0"/>
          </a:p>
          <a:p>
            <a:endParaRPr lang="en-US" altLang="zh-CN" sz="4000" dirty="0"/>
          </a:p>
          <a:p>
            <a:r>
              <a:rPr lang="en-US" altLang="zh-CN" sz="4000" dirty="0"/>
              <a:t>1</a:t>
            </a:r>
            <a:r>
              <a:rPr lang="zh-CN" altLang="en-US" sz="4000" dirty="0"/>
              <a:t>背景</a:t>
            </a:r>
            <a:endParaRPr lang="en-US" altLang="zh-CN" sz="4000" dirty="0"/>
          </a:p>
          <a:p>
            <a:r>
              <a:rPr lang="en-US" altLang="zh-CN" sz="4000" dirty="0"/>
              <a:t>2</a:t>
            </a:r>
            <a:r>
              <a:rPr lang="zh-CN" altLang="en-US" sz="4000" dirty="0"/>
              <a:t>相关工作</a:t>
            </a:r>
            <a:endParaRPr lang="en-US" altLang="zh-CN" sz="4000" dirty="0"/>
          </a:p>
          <a:p>
            <a:r>
              <a:rPr lang="en-US" altLang="zh-CN" sz="4000" dirty="0"/>
              <a:t>3</a:t>
            </a:r>
            <a:r>
              <a:rPr lang="zh-CN" altLang="en-US" sz="4000" dirty="0"/>
              <a:t>存在的问题</a:t>
            </a:r>
            <a:endParaRPr lang="en-US" altLang="zh-CN" sz="4000" dirty="0"/>
          </a:p>
          <a:p>
            <a:r>
              <a:rPr lang="en-US" altLang="zh-CN" sz="4000" dirty="0"/>
              <a:t>4</a:t>
            </a:r>
            <a:r>
              <a:rPr lang="zh-CN" altLang="en-US" sz="4000" dirty="0"/>
              <a:t>神经认知诊断模型</a:t>
            </a:r>
            <a:endParaRPr lang="en-US" altLang="zh-CN" sz="4000" dirty="0"/>
          </a:p>
          <a:p>
            <a:r>
              <a:rPr lang="en-US" altLang="zh-CN" sz="4000" dirty="0"/>
              <a:t>5</a:t>
            </a:r>
            <a:r>
              <a:rPr lang="zh-CN" altLang="en-US" sz="4000" dirty="0"/>
              <a:t>实验</a:t>
            </a:r>
            <a:endParaRPr lang="en-US" altLang="zh-CN" sz="4000" dirty="0"/>
          </a:p>
          <a:p>
            <a:r>
              <a:rPr lang="en-US" altLang="zh-CN" sz="4000" dirty="0"/>
              <a:t>6</a:t>
            </a:r>
            <a:r>
              <a:rPr lang="zh-CN" altLang="en-US" sz="4000" dirty="0"/>
              <a:t>结论</a:t>
            </a:r>
            <a:endParaRPr lang="en-US" altLang="zh-CN" sz="4000" dirty="0"/>
          </a:p>
          <a:p>
            <a:endParaRPr lang="en-US" altLang="zh-CN" dirty="0"/>
          </a:p>
          <a:p>
            <a:endParaRPr lang="zh-CN" altLang="en-US" dirty="0"/>
          </a:p>
        </p:txBody>
      </p:sp>
      <p:pic>
        <p:nvPicPr>
          <p:cNvPr id="8" name="图片 7">
            <a:extLst>
              <a:ext uri="{FF2B5EF4-FFF2-40B4-BE49-F238E27FC236}">
                <a16:creationId xmlns:a16="http://schemas.microsoft.com/office/drawing/2014/main" id="{0C8F778B-FBB8-4632-9746-D668069EFD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06639" y="0"/>
            <a:ext cx="1700553" cy="1084900"/>
          </a:xfrm>
          <a:prstGeom prst="rect">
            <a:avLst/>
          </a:prstGeom>
        </p:spPr>
      </p:pic>
    </p:spTree>
    <p:extLst>
      <p:ext uri="{BB962C8B-B14F-4D97-AF65-F5344CB8AC3E}">
        <p14:creationId xmlns:p14="http://schemas.microsoft.com/office/powerpoint/2010/main" val="1914022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 </a:t>
            </a:r>
            <a:r>
              <a:rPr lang="zh-CN" altLang="en-US" dirty="0"/>
              <a:t>背景</a:t>
            </a:r>
          </a:p>
        </p:txBody>
      </p:sp>
      <p:sp>
        <p:nvSpPr>
          <p:cNvPr id="3" name="文本框 2"/>
          <p:cNvSpPr txBox="1"/>
          <p:nvPr/>
        </p:nvSpPr>
        <p:spPr>
          <a:xfrm>
            <a:off x="384048" y="1175790"/>
            <a:ext cx="8375904" cy="707886"/>
          </a:xfrm>
          <a:prstGeom prst="rect">
            <a:avLst/>
          </a:prstGeom>
          <a:noFill/>
        </p:spPr>
        <p:txBody>
          <a:bodyPr wrap="square" rtlCol="0">
            <a:spAutoFit/>
          </a:bodyPr>
          <a:lstStyle/>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学生成绩预测：学习成绩预测是很多教学场景下的基本任务，尤其是智慧教育</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2974" y="2070342"/>
            <a:ext cx="6099810" cy="4696768"/>
          </a:xfrm>
          <a:prstGeom prst="rect">
            <a:avLst/>
          </a:prstGeom>
        </p:spPr>
      </p:pic>
      <p:pic>
        <p:nvPicPr>
          <p:cNvPr id="8" name="图片 7">
            <a:extLst>
              <a:ext uri="{FF2B5EF4-FFF2-40B4-BE49-F238E27FC236}">
                <a16:creationId xmlns:a16="http://schemas.microsoft.com/office/drawing/2014/main" id="{0C8F778B-FBB8-4632-9746-D668069EFD8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
        <p:nvSpPr>
          <p:cNvPr id="4" name="文本框 3">
            <a:extLst>
              <a:ext uri="{FF2B5EF4-FFF2-40B4-BE49-F238E27FC236}">
                <a16:creationId xmlns:a16="http://schemas.microsoft.com/office/drawing/2014/main" id="{6E68B1D0-1263-453F-84EC-19E2A0B9BE7C}"/>
              </a:ext>
            </a:extLst>
          </p:cNvPr>
          <p:cNvSpPr txBox="1"/>
          <p:nvPr/>
        </p:nvSpPr>
        <p:spPr>
          <a:xfrm>
            <a:off x="133350" y="2602254"/>
            <a:ext cx="2689624" cy="2862322"/>
          </a:xfrm>
          <a:prstGeom prst="rect">
            <a:avLst/>
          </a:prstGeom>
          <a:noFill/>
        </p:spPr>
        <p:txBody>
          <a:bodyPr wrap="square" rtlCol="0">
            <a:spAutoFit/>
          </a:bodyPr>
          <a:lstStyle/>
          <a:p>
            <a:r>
              <a:rPr lang="zh-CN" altLang="en-US" b="1" dirty="0"/>
              <a:t>客观题情形下，学生的作答结果只有正确和错误两种情况，因此，成绩预测任务可归结为</a:t>
            </a:r>
            <a:r>
              <a:rPr lang="zh-CN" altLang="en-US" b="1" dirty="0">
                <a:solidFill>
                  <a:srgbClr val="FF0000"/>
                </a:solidFill>
              </a:rPr>
              <a:t>二分类</a:t>
            </a:r>
            <a:r>
              <a:rPr lang="zh-CN" altLang="en-US" b="1" dirty="0"/>
              <a:t>问题。</a:t>
            </a:r>
            <a:endParaRPr lang="en-US" altLang="zh-CN" b="1" dirty="0"/>
          </a:p>
          <a:p>
            <a:endParaRPr lang="en-US" altLang="zh-CN" b="1" dirty="0"/>
          </a:p>
          <a:p>
            <a:r>
              <a:rPr lang="zh-CN" altLang="en-US" b="1" dirty="0"/>
              <a:t>目前，实现客观题作答的方法主要有</a:t>
            </a:r>
            <a:r>
              <a:rPr lang="zh-CN" altLang="en-US" b="1" dirty="0">
                <a:solidFill>
                  <a:srgbClr val="FF0000"/>
                </a:solidFill>
              </a:rPr>
              <a:t>认知诊断方法</a:t>
            </a:r>
            <a:r>
              <a:rPr lang="zh-CN" altLang="en-US" b="1" dirty="0"/>
              <a:t>和</a:t>
            </a:r>
            <a:r>
              <a:rPr lang="zh-CN" altLang="en-US" b="1" dirty="0">
                <a:solidFill>
                  <a:srgbClr val="FF0000"/>
                </a:solidFill>
              </a:rPr>
              <a:t>矩阵分解</a:t>
            </a:r>
            <a:r>
              <a:rPr lang="zh-CN" altLang="en-US" b="1" dirty="0"/>
              <a:t>两大类</a:t>
            </a:r>
            <a:r>
              <a:rPr lang="zh-CN" altLang="en-US" dirty="0"/>
              <a:t>。</a:t>
            </a:r>
            <a:endParaRPr lang="en-US" altLang="zh-CN" dirty="0"/>
          </a:p>
          <a:p>
            <a:endParaRPr lang="en-US" altLang="zh-CN" dirty="0"/>
          </a:p>
        </p:txBody>
      </p:sp>
      <p:sp>
        <p:nvSpPr>
          <p:cNvPr id="6" name="文本框 5">
            <a:extLst>
              <a:ext uri="{FF2B5EF4-FFF2-40B4-BE49-F238E27FC236}">
                <a16:creationId xmlns:a16="http://schemas.microsoft.com/office/drawing/2014/main" id="{AE17D51E-D74D-49CB-8E34-4A6BCDD931DC}"/>
              </a:ext>
            </a:extLst>
          </p:cNvPr>
          <p:cNvSpPr txBox="1"/>
          <p:nvPr/>
        </p:nvSpPr>
        <p:spPr>
          <a:xfrm>
            <a:off x="3267075" y="2077593"/>
            <a:ext cx="872355" cy="369332"/>
          </a:xfrm>
          <a:prstGeom prst="rect">
            <a:avLst/>
          </a:prstGeom>
          <a:noFill/>
        </p:spPr>
        <p:txBody>
          <a:bodyPr wrap="none" rtlCol="0">
            <a:spAutoFit/>
          </a:bodyPr>
          <a:lstStyle/>
          <a:p>
            <a:r>
              <a:rPr lang="en-US" altLang="zh-CN" b="1" dirty="0"/>
              <a:t>Q-</a:t>
            </a:r>
            <a:r>
              <a:rPr lang="zh-CN" altLang="en-US" b="1" dirty="0"/>
              <a:t>矩阵</a:t>
            </a:r>
          </a:p>
        </p:txBody>
      </p:sp>
      <p:sp>
        <p:nvSpPr>
          <p:cNvPr id="9" name="文本框 8">
            <a:extLst>
              <a:ext uri="{FF2B5EF4-FFF2-40B4-BE49-F238E27FC236}">
                <a16:creationId xmlns:a16="http://schemas.microsoft.com/office/drawing/2014/main" id="{B9AE2FBA-5821-4816-B4B9-D01D95EB9A1B}"/>
              </a:ext>
            </a:extLst>
          </p:cNvPr>
          <p:cNvSpPr txBox="1"/>
          <p:nvPr/>
        </p:nvSpPr>
        <p:spPr>
          <a:xfrm>
            <a:off x="6948238" y="2085560"/>
            <a:ext cx="1811714" cy="369332"/>
          </a:xfrm>
          <a:prstGeom prst="rect">
            <a:avLst/>
          </a:prstGeom>
          <a:noFill/>
        </p:spPr>
        <p:txBody>
          <a:bodyPr wrap="none" rtlCol="0">
            <a:spAutoFit/>
          </a:bodyPr>
          <a:lstStyle/>
          <a:p>
            <a:r>
              <a:rPr lang="zh-CN" altLang="en-US" b="1" dirty="0"/>
              <a:t>客观题作答记录</a:t>
            </a:r>
          </a:p>
        </p:txBody>
      </p:sp>
    </p:spTree>
    <p:extLst>
      <p:ext uri="{BB962C8B-B14F-4D97-AF65-F5344CB8AC3E}">
        <p14:creationId xmlns:p14="http://schemas.microsoft.com/office/powerpoint/2010/main" val="3790906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2 </a:t>
            </a:r>
            <a:r>
              <a:rPr lang="zh-CN" altLang="en-US" dirty="0"/>
              <a:t>相关工作</a:t>
            </a:r>
          </a:p>
        </p:txBody>
      </p:sp>
      <p:sp>
        <p:nvSpPr>
          <p:cNvPr id="3" name="文本框 2"/>
          <p:cNvSpPr txBox="1"/>
          <p:nvPr/>
        </p:nvSpPr>
        <p:spPr>
          <a:xfrm>
            <a:off x="365760" y="1362456"/>
            <a:ext cx="8375904" cy="4401205"/>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en-US" altLang="zh-CN" sz="2000" b="1" dirty="0">
                <a:latin typeface="Arial" panose="020B0604020202020204" pitchFamily="34" charset="0"/>
                <a:cs typeface="Arial" panose="020B0604020202020204" pitchFamily="34" charset="0"/>
              </a:rPr>
              <a:t>IRT, MIRT</a:t>
            </a:r>
            <a:r>
              <a:rPr lang="en-US" altLang="zh-CN" sz="2000" dirty="0">
                <a:latin typeface="Arial" panose="020B0604020202020204" pitchFamily="34" charset="0"/>
                <a:cs typeface="Arial" panose="020B0604020202020204" pitchFamily="34" charset="0"/>
              </a:rPr>
              <a:t>: </a:t>
            </a:r>
            <a:r>
              <a:rPr lang="zh-CN" altLang="en-US" sz="2000" b="1" dirty="0">
                <a:latin typeface="Arial" panose="020B0604020202020204" pitchFamily="34" charset="0"/>
                <a:cs typeface="Arial" panose="020B0604020202020204" pitchFamily="34" charset="0"/>
              </a:rPr>
              <a:t>学生和试题的潜在向量</a:t>
            </a:r>
            <a:r>
              <a:rPr lang="en-US" altLang="zh-CN" sz="2000" dirty="0">
                <a:latin typeface="Arial" panose="020B0604020202020204" pitchFamily="34" charset="0"/>
                <a:cs typeface="Arial" panose="020B0604020202020204" pitchFamily="34" charset="0"/>
              </a:rPr>
              <a:t>; </a:t>
            </a:r>
            <a:r>
              <a:rPr lang="zh-CN" altLang="en-US" sz="2000" b="1" dirty="0">
                <a:solidFill>
                  <a:schemeClr val="accent2"/>
                </a:solidFill>
                <a:latin typeface="Arial" panose="020B0604020202020204" pitchFamily="34" charset="0"/>
                <a:cs typeface="Arial" panose="020B0604020202020204" pitchFamily="34" charset="0"/>
              </a:rPr>
              <a:t>类逻辑斯蒂函数</a:t>
            </a:r>
            <a:endParaRPr lang="en-US" altLang="zh-CN" sz="2000" b="1" dirty="0">
              <a:solidFill>
                <a:schemeClr val="accent2"/>
              </a:solidFill>
              <a:latin typeface="Arial" panose="020B0604020202020204" pitchFamily="34" charset="0"/>
              <a:cs typeface="Arial" panose="020B0604020202020204" pitchFamily="34" charset="0"/>
            </a:endParaRPr>
          </a:p>
          <a:p>
            <a:pPr>
              <a:buClr>
                <a:schemeClr val="accent5"/>
              </a:buClr>
            </a:pPr>
            <a:endParaRPr lang="en-US" altLang="zh-CN" sz="2000" dirty="0">
              <a:solidFill>
                <a:schemeClr val="accent2"/>
              </a:solidFill>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endParaRPr lang="en-US" altLang="zh-CN" sz="2000" dirty="0">
              <a:solidFill>
                <a:schemeClr val="accent2"/>
              </a:solidFill>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endParaRPr lang="en-US" altLang="zh-CN" sz="2000" dirty="0">
              <a:solidFill>
                <a:schemeClr val="accent2"/>
              </a:solidFill>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endParaRPr lang="en-US" altLang="zh-CN" sz="2000" dirty="0">
              <a:solidFill>
                <a:schemeClr val="accent2"/>
              </a:solidFill>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endParaRPr lang="en-US" altLang="zh-CN" sz="2000" dirty="0">
              <a:solidFill>
                <a:schemeClr val="accent2"/>
              </a:solidFill>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难度</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区分度</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能力</a:t>
            </a:r>
            <a:endParaRPr lang="en-US" altLang="zh-CN" sz="2000" dirty="0">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r>
              <a:rPr lang="en-US" altLang="zh-CN" sz="2000" b="1" dirty="0">
                <a:latin typeface="Arial" panose="020B0604020202020204" pitchFamily="34" charset="0"/>
                <a:cs typeface="Arial" panose="020B0604020202020204" pitchFamily="34" charset="0"/>
              </a:rPr>
              <a:t>DINA</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学生和试题的潜在向量</a:t>
            </a:r>
            <a:r>
              <a:rPr lang="en-US" altLang="zh-CN" sz="2000" dirty="0">
                <a:latin typeface="Arial" panose="020B0604020202020204" pitchFamily="34" charset="0"/>
                <a:cs typeface="Arial" panose="020B0604020202020204" pitchFamily="34" charset="0"/>
              </a:rPr>
              <a:t>(</a:t>
            </a:r>
            <a:r>
              <a:rPr lang="zh-CN" altLang="en-US" sz="2000" dirty="0">
                <a:latin typeface="Arial" panose="020B0604020202020204" pitchFamily="34" charset="0"/>
                <a:cs typeface="Arial" panose="020B0604020202020204" pitchFamily="34" charset="0"/>
              </a:rPr>
              <a:t>二元向量表示</a:t>
            </a:r>
            <a:r>
              <a:rPr lang="en-US" altLang="zh-CN" sz="2000" dirty="0">
                <a:latin typeface="Arial" panose="020B0604020202020204" pitchFamily="34" charset="0"/>
                <a:cs typeface="Arial" panose="020B0604020202020204" pitchFamily="34" charset="0"/>
              </a:rPr>
              <a:t>); </a:t>
            </a:r>
            <a:r>
              <a:rPr lang="zh-CN" altLang="en-US" sz="2000" dirty="0">
                <a:solidFill>
                  <a:schemeClr val="accent2"/>
                </a:solidFill>
                <a:latin typeface="Arial" panose="020B0604020202020204" pitchFamily="34" charset="0"/>
                <a:cs typeface="Arial" panose="020B0604020202020204" pitchFamily="34" charset="0"/>
              </a:rPr>
              <a:t>交互函数中引入试题的粗心和猜测参数</a:t>
            </a:r>
            <a:endParaRPr lang="en-US" altLang="zh-CN" sz="2000" dirty="0">
              <a:solidFill>
                <a:schemeClr val="accent2"/>
              </a:solidFill>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endParaRPr lang="en-US" altLang="zh-CN" sz="2000" dirty="0">
              <a:solidFill>
                <a:schemeClr val="accent2"/>
              </a:solidFill>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endParaRPr lang="en-US" altLang="zh-CN" sz="2000" dirty="0">
              <a:solidFill>
                <a:schemeClr val="accent2"/>
              </a:solidFill>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endParaRPr lang="en-US" altLang="zh-CN" sz="2000" dirty="0">
              <a:solidFill>
                <a:schemeClr val="accent2"/>
              </a:solidFill>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en-US" altLang="zh-CN" sz="2000" dirty="0">
                <a:latin typeface="Arial" panose="020B0604020202020204" pitchFamily="34" charset="0"/>
                <a:cs typeface="Arial" panose="020B0604020202020204" pitchFamily="34" charset="0"/>
              </a:rPr>
              <a:t>Q-</a:t>
            </a:r>
            <a:r>
              <a:rPr lang="zh-CN" altLang="en-US" sz="2000" dirty="0">
                <a:latin typeface="Arial" panose="020B0604020202020204" pitchFamily="34" charset="0"/>
                <a:cs typeface="Arial" panose="020B0604020202020204" pitchFamily="34" charset="0"/>
              </a:rPr>
              <a:t>矩阵</a:t>
            </a:r>
            <a:endParaRPr lang="en-US" altLang="zh-CN" sz="2000" dirty="0">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r>
              <a:rPr lang="en-US" altLang="zh-CN" sz="2000" b="1" dirty="0">
                <a:latin typeface="Arial" panose="020B0604020202020204" pitchFamily="34" charset="0"/>
                <a:cs typeface="Arial" panose="020B0604020202020204" pitchFamily="34" charset="0"/>
              </a:rPr>
              <a:t>MF</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学生的试题的特征向量</a:t>
            </a:r>
            <a:r>
              <a:rPr lang="en-US" altLang="zh-CN" sz="2000" dirty="0">
                <a:latin typeface="Arial" panose="020B0604020202020204" pitchFamily="34" charset="0"/>
                <a:cs typeface="Arial" panose="020B0604020202020204" pitchFamily="34" charset="0"/>
              </a:rPr>
              <a:t>; </a:t>
            </a:r>
            <a:r>
              <a:rPr lang="zh-CN" altLang="en-US" sz="2000" dirty="0">
                <a:solidFill>
                  <a:schemeClr val="accent2"/>
                </a:solidFill>
                <a:latin typeface="Arial" panose="020B0604020202020204" pitchFamily="34" charset="0"/>
                <a:cs typeface="Arial" panose="020B0604020202020204" pitchFamily="34" charset="0"/>
              </a:rPr>
              <a:t>内生的交互函数</a:t>
            </a:r>
          </a:p>
        </p:txBody>
      </p:sp>
      <p:grpSp>
        <p:nvGrpSpPr>
          <p:cNvPr id="18" name="组合 17"/>
          <p:cNvGrpSpPr/>
          <p:nvPr/>
        </p:nvGrpSpPr>
        <p:grpSpPr>
          <a:xfrm>
            <a:off x="1966403" y="2007673"/>
            <a:ext cx="5077287" cy="625734"/>
            <a:chOff x="806206" y="4937687"/>
            <a:chExt cx="5077287" cy="625734"/>
          </a:xfrm>
        </p:grpSpPr>
        <p:sp>
          <p:nvSpPr>
            <p:cNvPr id="8" name="TextBox 15"/>
            <p:cNvSpPr txBox="1">
              <a:spLocks noChangeArrowheads="1"/>
            </p:cNvSpPr>
            <p:nvPr/>
          </p:nvSpPr>
          <p:spPr bwMode="auto">
            <a:xfrm>
              <a:off x="4576070" y="5282537"/>
              <a:ext cx="235669" cy="280884"/>
            </a:xfrm>
            <a:prstGeom prst="rect">
              <a:avLst/>
            </a:prstGeom>
            <a:solidFill>
              <a:schemeClr val="accent1">
                <a:lumMod val="60000"/>
                <a:lumOff val="4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b="1" dirty="0">
                <a:solidFill>
                  <a:srgbClr val="000000"/>
                </a:solidFill>
                <a:latin typeface="Times New Roman" charset="0"/>
                <a:ea typeface="Times New Roman" charset="0"/>
                <a:cs typeface="Times New Roman" charset="0"/>
              </a:endParaRPr>
            </a:p>
          </p:txBody>
        </p:sp>
        <p:sp>
          <p:nvSpPr>
            <p:cNvPr id="9" name="TextBox 15"/>
            <p:cNvSpPr txBox="1">
              <a:spLocks noChangeArrowheads="1"/>
            </p:cNvSpPr>
            <p:nvPr/>
          </p:nvSpPr>
          <p:spPr bwMode="auto">
            <a:xfrm>
              <a:off x="5360379" y="5281184"/>
              <a:ext cx="305888" cy="282237"/>
            </a:xfrm>
            <a:prstGeom prst="rect">
              <a:avLst/>
            </a:prstGeom>
            <a:solidFill>
              <a:schemeClr val="accent2">
                <a:lumMod val="40000"/>
                <a:lumOff val="6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b="1" dirty="0">
                <a:solidFill>
                  <a:srgbClr val="000000"/>
                </a:solidFill>
                <a:latin typeface="Times New Roman" charset="0"/>
                <a:ea typeface="Times New Roman" charset="0"/>
                <a:cs typeface="Times New Roman" charset="0"/>
              </a:endParaRPr>
            </a:p>
          </p:txBody>
        </p:sp>
        <p:sp>
          <p:nvSpPr>
            <p:cNvPr id="10" name="TextBox 15"/>
            <p:cNvSpPr txBox="1">
              <a:spLocks noChangeArrowheads="1"/>
            </p:cNvSpPr>
            <p:nvPr/>
          </p:nvSpPr>
          <p:spPr bwMode="auto">
            <a:xfrm>
              <a:off x="2562521" y="5098392"/>
              <a:ext cx="304397" cy="312627"/>
            </a:xfrm>
            <a:prstGeom prst="rect">
              <a:avLst/>
            </a:prstGeom>
            <a:solidFill>
              <a:schemeClr val="accent2">
                <a:lumMod val="40000"/>
                <a:lumOff val="6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b="1" dirty="0">
                <a:solidFill>
                  <a:srgbClr val="000000"/>
                </a:solidFill>
                <a:latin typeface="Times New Roman" charset="0"/>
                <a:ea typeface="Times New Roman" charset="0"/>
                <a:cs typeface="Times New Roman" charset="0"/>
              </a:endParaRPr>
            </a:p>
          </p:txBody>
        </p:sp>
        <p:sp>
          <p:nvSpPr>
            <p:cNvPr id="13" name="TextBox 15"/>
            <p:cNvSpPr txBox="1">
              <a:spLocks noChangeArrowheads="1"/>
            </p:cNvSpPr>
            <p:nvPr/>
          </p:nvSpPr>
          <p:spPr bwMode="auto">
            <a:xfrm>
              <a:off x="4900091" y="5281184"/>
              <a:ext cx="268965" cy="262355"/>
            </a:xfrm>
            <a:prstGeom prst="rect">
              <a:avLst/>
            </a:prstGeom>
            <a:solidFill>
              <a:schemeClr val="accent6">
                <a:lumMod val="40000"/>
                <a:lumOff val="6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b="1" dirty="0">
                <a:solidFill>
                  <a:srgbClr val="000000"/>
                </a:solidFill>
                <a:latin typeface="Times New Roman" charset="0"/>
                <a:ea typeface="Times New Roman" charset="0"/>
                <a:cs typeface="Times New Roman" charset="0"/>
              </a:endParaRPr>
            </a:p>
          </p:txBody>
        </p:sp>
        <p:sp>
          <p:nvSpPr>
            <p:cNvPr id="14" name="TextBox 15"/>
            <p:cNvSpPr txBox="1">
              <a:spLocks noChangeArrowheads="1"/>
            </p:cNvSpPr>
            <p:nvPr/>
          </p:nvSpPr>
          <p:spPr bwMode="auto">
            <a:xfrm>
              <a:off x="1956222" y="5120298"/>
              <a:ext cx="259942" cy="276869"/>
            </a:xfrm>
            <a:prstGeom prst="rect">
              <a:avLst/>
            </a:prstGeom>
            <a:solidFill>
              <a:schemeClr val="accent6">
                <a:lumMod val="40000"/>
                <a:lumOff val="6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b="1" dirty="0">
                <a:solidFill>
                  <a:srgbClr val="000000"/>
                </a:solidFill>
                <a:latin typeface="Times New Roman" charset="0"/>
                <a:ea typeface="Times New Roman" charset="0"/>
                <a:cs typeface="Times New Roman" charset="0"/>
              </a:endParaRPr>
            </a:p>
          </p:txBody>
        </p:sp>
        <p:sp>
          <p:nvSpPr>
            <p:cNvPr id="15" name="TextBox 15"/>
            <p:cNvSpPr txBox="1">
              <a:spLocks noChangeArrowheads="1"/>
            </p:cNvSpPr>
            <p:nvPr/>
          </p:nvSpPr>
          <p:spPr bwMode="auto">
            <a:xfrm>
              <a:off x="2269322" y="5102165"/>
              <a:ext cx="262316" cy="298622"/>
            </a:xfrm>
            <a:prstGeom prst="rect">
              <a:avLst/>
            </a:prstGeom>
            <a:solidFill>
              <a:schemeClr val="accent1">
                <a:lumMod val="60000"/>
                <a:lumOff val="4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b="1" dirty="0">
                <a:solidFill>
                  <a:srgbClr val="000000"/>
                </a:solidFill>
                <a:latin typeface="Times New Roman" charset="0"/>
                <a:ea typeface="Times New Roman" charset="0"/>
                <a:cs typeface="Times New Roman" charset="0"/>
              </a:endParaRPr>
            </a:p>
          </p:txBody>
        </p:sp>
        <mc:AlternateContent xmlns:mc="http://schemas.openxmlformats.org/markup-compatibility/2006" xmlns:a14="http://schemas.microsoft.com/office/drawing/2010/main">
          <mc:Choice Requires="a14">
            <p:sp>
              <p:nvSpPr>
                <p:cNvPr id="17" name="文本框 16"/>
                <p:cNvSpPr txBox="1"/>
                <p:nvPr/>
              </p:nvSpPr>
              <p:spPr>
                <a:xfrm>
                  <a:off x="806206" y="4937687"/>
                  <a:ext cx="5077287" cy="5695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𝑢𝑣</m:t>
                                </m:r>
                              </m:sub>
                            </m:sSub>
                            <m:r>
                              <a:rPr lang="en-US" altLang="zh-CN" b="0" i="1" smtClean="0">
                                <a:latin typeface="Cambria Math" panose="02040503050406030204" pitchFamily="18" charset="0"/>
                              </a:rPr>
                              <m:t>=1</m:t>
                            </m:r>
                          </m:e>
                          <m:e>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𝜃</m:t>
                                </m:r>
                              </m:e>
                              <m:sub>
                                <m:r>
                                  <a:rPr lang="en-US" altLang="zh-CN" b="0" i="1" smtClean="0">
                                    <a:latin typeface="Cambria Math" panose="02040503050406030204" pitchFamily="18" charset="0"/>
                                  </a:rPr>
                                  <m:t>𝑢</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𝑣</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𝑣</m:t>
                                </m:r>
                              </m:sub>
                            </m:sSub>
                            <m:r>
                              <a:rPr lang="en-US" altLang="zh-CN" i="1" smtClean="0">
                                <a:latin typeface="Cambria Math" panose="02040503050406030204" pitchFamily="18" charset="0"/>
                              </a:rPr>
                              <m:t> </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1+</m:t>
                            </m:r>
                            <m:r>
                              <m:rPr>
                                <m:sty m:val="p"/>
                              </m:rPr>
                              <a:rPr lang="en-US" altLang="zh-CN" b="0" i="0" smtClean="0">
                                <a:latin typeface="Cambria Math" panose="02040503050406030204" pitchFamily="18" charset="0"/>
                              </a:rPr>
                              <m:t>exp</m:t>
                            </m:r>
                            <m:r>
                              <a:rPr lang="en-US" altLang="zh-CN" b="0" i="1" smtClean="0">
                                <a:latin typeface="Cambria Math" panose="02040503050406030204" pitchFamily="18" charset="0"/>
                              </a:rPr>
                              <m:t>⁡(−1.7</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𝑣</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𝜃</m:t>
                                    </m:r>
                                  </m:e>
                                  <m:sub>
                                    <m:r>
                                      <a:rPr lang="en-US" altLang="zh-CN" b="0" i="1" smtClean="0">
                                        <a:latin typeface="Cambria Math" panose="02040503050406030204" pitchFamily="18" charset="0"/>
                                      </a:rPr>
                                      <m:t>𝑢</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𝑣</m:t>
                                    </m:r>
                                  </m:sub>
                                </m:sSub>
                              </m:e>
                            </m:d>
                            <m:r>
                              <a:rPr lang="en-US" altLang="zh-CN" b="0" i="1" smtClean="0">
                                <a:latin typeface="Cambria Math" panose="02040503050406030204" pitchFamily="18" charset="0"/>
                              </a:rPr>
                              <m:t>)</m:t>
                            </m:r>
                          </m:den>
                        </m:f>
                      </m:oMath>
                    </m:oMathPara>
                  </a14:m>
                  <a:endParaRPr lang="zh-CN" altLang="en-US" dirty="0"/>
                </a:p>
              </p:txBody>
            </p:sp>
          </mc:Choice>
          <mc:Fallback xmlns="">
            <p:sp>
              <p:nvSpPr>
                <p:cNvPr id="17" name="文本框 16"/>
                <p:cNvSpPr txBox="1">
                  <a:spLocks noRot="1" noChangeAspect="1" noMove="1" noResize="1" noEditPoints="1" noAdjustHandles="1" noChangeArrowheads="1" noChangeShapeType="1" noTextEdit="1"/>
                </p:cNvSpPr>
                <p:nvPr/>
              </p:nvSpPr>
              <p:spPr>
                <a:xfrm>
                  <a:off x="806206" y="4937687"/>
                  <a:ext cx="5077287" cy="569580"/>
                </a:xfrm>
                <a:prstGeom prst="rect">
                  <a:avLst/>
                </a:prstGeom>
                <a:blipFill rotWithShape="0">
                  <a:blip r:embed="rId3"/>
                  <a:stretch>
                    <a:fillRect/>
                  </a:stretch>
                </a:blipFill>
              </p:spPr>
              <p:txBody>
                <a:bodyPr/>
                <a:lstStyle/>
                <a:p>
                  <a:r>
                    <a:rPr lang="zh-CN" altLang="en-US">
                      <a:noFill/>
                    </a:rPr>
                    <a:t> </a:t>
                  </a:r>
                </a:p>
              </p:txBody>
            </p:sp>
          </mc:Fallback>
        </mc:AlternateContent>
      </p:grpSp>
      <p:sp>
        <p:nvSpPr>
          <p:cNvPr id="19" name="TextBox 15"/>
          <p:cNvSpPr txBox="1">
            <a:spLocks noChangeArrowheads="1"/>
          </p:cNvSpPr>
          <p:nvPr/>
        </p:nvSpPr>
        <p:spPr bwMode="auto">
          <a:xfrm>
            <a:off x="1741063" y="2715487"/>
            <a:ext cx="1950772" cy="369332"/>
          </a:xfrm>
          <a:prstGeom prst="rect">
            <a:avLst/>
          </a:prstGeom>
          <a:solidFill>
            <a:schemeClr val="accent6">
              <a:lumMod val="40000"/>
              <a:lumOff val="6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00"/>
                </a:solidFill>
                <a:latin typeface="Times New Roman" charset="0"/>
                <a:ea typeface="Times New Roman" charset="0"/>
                <a:cs typeface="Times New Roman" charset="0"/>
              </a:rPr>
              <a:t>学生的能力水平</a:t>
            </a:r>
            <a:endParaRPr lang="en-US" altLang="zh-CN" b="1" dirty="0">
              <a:solidFill>
                <a:srgbClr val="000000"/>
              </a:solidFill>
              <a:latin typeface="Times New Roman" charset="0"/>
              <a:ea typeface="Times New Roman" charset="0"/>
              <a:cs typeface="Times New Roman" charset="0"/>
            </a:endParaRPr>
          </a:p>
        </p:txBody>
      </p:sp>
      <p:sp>
        <p:nvSpPr>
          <p:cNvPr id="20" name="TextBox 15"/>
          <p:cNvSpPr txBox="1">
            <a:spLocks noChangeArrowheads="1"/>
          </p:cNvSpPr>
          <p:nvPr/>
        </p:nvSpPr>
        <p:spPr bwMode="auto">
          <a:xfrm>
            <a:off x="3949900" y="2715487"/>
            <a:ext cx="1573038" cy="369332"/>
          </a:xfrm>
          <a:prstGeom prst="rect">
            <a:avLst/>
          </a:prstGeom>
          <a:solidFill>
            <a:schemeClr val="accent1">
              <a:lumMod val="60000"/>
              <a:lumOff val="4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latin typeface="Times New Roman" charset="0"/>
                <a:ea typeface="Times New Roman" charset="0"/>
                <a:cs typeface="Times New Roman" charset="0"/>
              </a:rPr>
              <a:t>试题的区分度</a:t>
            </a:r>
            <a:r>
              <a:rPr lang="en-US" altLang="zh-CN" dirty="0">
                <a:latin typeface="Times New Roman" charset="0"/>
                <a:ea typeface="Times New Roman" charset="0"/>
                <a:cs typeface="Times New Roman" charset="0"/>
              </a:rPr>
              <a:t> </a:t>
            </a:r>
          </a:p>
        </p:txBody>
      </p:sp>
      <p:sp>
        <p:nvSpPr>
          <p:cNvPr id="21" name="TextBox 15"/>
          <p:cNvSpPr txBox="1">
            <a:spLocks noChangeArrowheads="1"/>
          </p:cNvSpPr>
          <p:nvPr/>
        </p:nvSpPr>
        <p:spPr bwMode="auto">
          <a:xfrm>
            <a:off x="5756158" y="2715487"/>
            <a:ext cx="1516810" cy="369332"/>
          </a:xfrm>
          <a:prstGeom prst="rect">
            <a:avLst/>
          </a:prstGeom>
          <a:solidFill>
            <a:schemeClr val="accent2">
              <a:lumMod val="40000"/>
              <a:lumOff val="6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latin typeface="Times New Roman" charset="0"/>
                <a:ea typeface="Times New Roman" charset="0"/>
                <a:cs typeface="Times New Roman" charset="0"/>
              </a:rPr>
              <a:t>试题难度</a:t>
            </a:r>
            <a:r>
              <a:rPr lang="en-US" altLang="zh-CN" dirty="0">
                <a:latin typeface="Times New Roman" charset="0"/>
                <a:ea typeface="Times New Roman" charset="0"/>
                <a:cs typeface="Times New Roman" charset="0"/>
              </a:rPr>
              <a:t> </a:t>
            </a:r>
            <a:endParaRPr lang="en-US" altLang="zh-CN" b="1" dirty="0">
              <a:solidFill>
                <a:srgbClr val="000000"/>
              </a:solidFill>
              <a:latin typeface="Times New Roman" charset="0"/>
              <a:ea typeface="Times New Roman" charset="0"/>
              <a:cs typeface="Times New Roman" charset="0"/>
            </a:endParaRPr>
          </a:p>
        </p:txBody>
      </p:sp>
      <p:sp>
        <p:nvSpPr>
          <p:cNvPr id="22" name="TextBox 15"/>
          <p:cNvSpPr txBox="1">
            <a:spLocks noChangeArrowheads="1"/>
          </p:cNvSpPr>
          <p:nvPr/>
        </p:nvSpPr>
        <p:spPr bwMode="auto">
          <a:xfrm>
            <a:off x="2324231" y="4808720"/>
            <a:ext cx="2638810" cy="367399"/>
          </a:xfrm>
          <a:prstGeom prst="rect">
            <a:avLst/>
          </a:prstGeom>
          <a:solidFill>
            <a:schemeClr val="accent1">
              <a:lumMod val="60000"/>
              <a:lumOff val="4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能力水平向量</a:t>
            </a:r>
            <a:endPar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TextBox 15"/>
          <p:cNvSpPr txBox="1">
            <a:spLocks noChangeArrowheads="1"/>
          </p:cNvSpPr>
          <p:nvPr/>
        </p:nvSpPr>
        <p:spPr bwMode="auto">
          <a:xfrm>
            <a:off x="5080110" y="4808720"/>
            <a:ext cx="843838" cy="369332"/>
          </a:xfrm>
          <a:prstGeom prst="rect">
            <a:avLst/>
          </a:prstGeom>
          <a:solidFill>
            <a:schemeClr val="accent6">
              <a:lumMod val="40000"/>
              <a:lumOff val="6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00"/>
                </a:solidFill>
                <a:latin typeface="Times New Roman" charset="0"/>
                <a:ea typeface="Times New Roman" charset="0"/>
                <a:cs typeface="Times New Roman" charset="0"/>
              </a:rPr>
              <a:t>粗心</a:t>
            </a:r>
            <a:endParaRPr lang="en-US" altLang="zh-CN" b="1" dirty="0">
              <a:solidFill>
                <a:srgbClr val="000000"/>
              </a:solidFill>
              <a:latin typeface="Times New Roman" charset="0"/>
              <a:ea typeface="Times New Roman" charset="0"/>
              <a:cs typeface="Times New Roman" charset="0"/>
            </a:endParaRPr>
          </a:p>
        </p:txBody>
      </p:sp>
      <p:sp>
        <p:nvSpPr>
          <p:cNvPr id="24" name="TextBox 15"/>
          <p:cNvSpPr txBox="1">
            <a:spLocks noChangeArrowheads="1"/>
          </p:cNvSpPr>
          <p:nvPr/>
        </p:nvSpPr>
        <p:spPr bwMode="auto">
          <a:xfrm>
            <a:off x="6150101" y="4799982"/>
            <a:ext cx="843838" cy="369332"/>
          </a:xfrm>
          <a:prstGeom prst="rect">
            <a:avLst/>
          </a:prstGeom>
          <a:solidFill>
            <a:schemeClr val="accent4">
              <a:lumMod val="40000"/>
              <a:lumOff val="6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00"/>
                </a:solidFill>
                <a:latin typeface="Times New Roman" charset="0"/>
                <a:ea typeface="Times New Roman" charset="0"/>
                <a:cs typeface="Times New Roman" charset="0"/>
              </a:rPr>
              <a:t>猜测</a:t>
            </a:r>
            <a:endParaRPr lang="en-US" altLang="zh-CN" b="1" dirty="0">
              <a:solidFill>
                <a:srgbClr val="000000"/>
              </a:solidFill>
              <a:latin typeface="Times New Roman" charset="0"/>
              <a:ea typeface="Times New Roman" charset="0"/>
              <a:cs typeface="Times New Roman" charset="0"/>
            </a:endParaRPr>
          </a:p>
        </p:txBody>
      </p:sp>
      <p:grpSp>
        <p:nvGrpSpPr>
          <p:cNvPr id="25" name="组合 24"/>
          <p:cNvGrpSpPr/>
          <p:nvPr/>
        </p:nvGrpSpPr>
        <p:grpSpPr>
          <a:xfrm>
            <a:off x="2646541" y="4248584"/>
            <a:ext cx="3798989" cy="378532"/>
            <a:chOff x="-2503128" y="4830824"/>
            <a:chExt cx="3798989" cy="378532"/>
          </a:xfrm>
        </p:grpSpPr>
        <p:sp>
          <p:nvSpPr>
            <p:cNvPr id="26" name="TextBox 15"/>
            <p:cNvSpPr txBox="1">
              <a:spLocks noChangeArrowheads="1"/>
            </p:cNvSpPr>
            <p:nvPr/>
          </p:nvSpPr>
          <p:spPr bwMode="auto">
            <a:xfrm>
              <a:off x="481933" y="4852998"/>
              <a:ext cx="222646" cy="356358"/>
            </a:xfrm>
            <a:prstGeom prst="rect">
              <a:avLst/>
            </a:prstGeom>
            <a:solidFill>
              <a:schemeClr val="accent4">
                <a:lumMod val="40000"/>
                <a:lumOff val="6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TextBox 15"/>
            <p:cNvSpPr txBox="1">
              <a:spLocks noChangeArrowheads="1"/>
            </p:cNvSpPr>
            <p:nvPr/>
          </p:nvSpPr>
          <p:spPr bwMode="auto">
            <a:xfrm>
              <a:off x="-101356" y="4851155"/>
              <a:ext cx="222646" cy="356358"/>
            </a:xfrm>
            <a:prstGeom prst="rect">
              <a:avLst/>
            </a:prstGeom>
            <a:solidFill>
              <a:schemeClr val="accent6">
                <a:lumMod val="40000"/>
                <a:lumOff val="6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TextBox 15"/>
            <p:cNvSpPr txBox="1">
              <a:spLocks noChangeArrowheads="1"/>
            </p:cNvSpPr>
            <p:nvPr/>
          </p:nvSpPr>
          <p:spPr bwMode="auto">
            <a:xfrm>
              <a:off x="-1310416" y="4849855"/>
              <a:ext cx="222646" cy="356358"/>
            </a:xfrm>
            <a:prstGeom prst="rect">
              <a:avLst/>
            </a:prstGeom>
            <a:solidFill>
              <a:schemeClr val="accent1">
                <a:lumMod val="60000"/>
                <a:lumOff val="40000"/>
              </a:schemeClr>
            </a:solidFill>
            <a:ln w="19050">
              <a:no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文本框 28"/>
                <p:cNvSpPr txBox="1"/>
                <p:nvPr/>
              </p:nvSpPr>
              <p:spPr>
                <a:xfrm>
                  <a:off x="-2503128" y="4830824"/>
                  <a:ext cx="3798989" cy="354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𝑖𝑗</m:t>
                                </m:r>
                              </m:sub>
                            </m:sSub>
                            <m:r>
                              <a:rPr lang="en-US" altLang="zh-CN" sz="2000" b="0" i="1" smtClean="0">
                                <a:latin typeface="Cambria Math" panose="02040503050406030204" pitchFamily="18" charset="0"/>
                              </a:rPr>
                              <m:t>=1</m:t>
                            </m:r>
                          </m:e>
                          <m:e>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𝛼</m:t>
                                </m:r>
                              </m:e>
                              <m:sub>
                                <m:r>
                                  <a:rPr lang="en-US" altLang="zh-CN" sz="2000" b="0" i="1" smtClean="0">
                                    <a:latin typeface="Cambria Math" panose="02040503050406030204" pitchFamily="18" charset="0"/>
                                  </a:rPr>
                                  <m:t>𝑖</m:t>
                                </m:r>
                              </m:sub>
                            </m:sSub>
                          </m:e>
                        </m:d>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i="1">
                                <a:latin typeface="Cambria Math" panose="02040503050406030204" pitchFamily="18" charset="0"/>
                              </a:rPr>
                              <m:t>(1−</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𝑠</m:t>
                                </m:r>
                              </m:e>
                              <m:sub>
                                <m:r>
                                  <a:rPr lang="en-US" altLang="zh-CN" sz="2000" i="1">
                                    <a:latin typeface="Cambria Math" panose="02040503050406030204" pitchFamily="18" charset="0"/>
                                  </a:rPr>
                                  <m:t>𝑗</m:t>
                                </m:r>
                              </m:sub>
                            </m:sSub>
                            <m:r>
                              <a:rPr lang="en-US" altLang="zh-CN" sz="2000" i="1">
                                <a:latin typeface="Cambria Math" panose="02040503050406030204" pitchFamily="18" charset="0"/>
                              </a:rPr>
                              <m:t>)</m:t>
                            </m:r>
                          </m:e>
                          <m:sup>
                            <m:sSub>
                              <m:sSubPr>
                                <m:ctrlPr>
                                  <a:rPr lang="en-US" altLang="zh-CN" sz="2000" b="0" i="1" smtClean="0">
                                    <a:latin typeface="Cambria Math" panose="02040503050406030204" pitchFamily="18" charset="0"/>
                                  </a:rPr>
                                </m:ctrlPr>
                              </m:sSubPr>
                              <m:e>
                                <m:r>
                                  <m:rPr>
                                    <m:sty m:val="p"/>
                                  </m:rPr>
                                  <a:rPr lang="el-GR" altLang="zh-CN" sz="2000" b="0" i="1" smtClean="0">
                                    <a:latin typeface="Cambria Math" panose="02040503050406030204" pitchFamily="18" charset="0"/>
                                  </a:rPr>
                                  <m:t>η</m:t>
                                </m:r>
                              </m:e>
                              <m:sub>
                                <m:r>
                                  <a:rPr lang="en-US" altLang="zh-CN" sz="2000" b="0" i="1" smtClean="0">
                                    <a:latin typeface="Cambria Math" panose="02040503050406030204" pitchFamily="18" charset="0"/>
                                  </a:rPr>
                                  <m:t>𝑖𝑗</m:t>
                                </m:r>
                              </m:sub>
                            </m:sSub>
                          </m:sup>
                        </m:sSup>
                        <m:sSup>
                          <m:sSupPr>
                            <m:ctrlPr>
                              <a:rPr lang="en-US" altLang="zh-CN" sz="2000" b="0" i="1" smtClean="0">
                                <a:latin typeface="Cambria Math" panose="02040503050406030204" pitchFamily="18" charset="0"/>
                              </a:rPr>
                            </m:ctrlPr>
                          </m:sSup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𝑔</m:t>
                                </m:r>
                              </m:e>
                              <m:sub>
                                <m:r>
                                  <a:rPr lang="en-US" altLang="zh-CN" sz="2000" b="0" i="1" smtClean="0">
                                    <a:latin typeface="Cambria Math" panose="02040503050406030204" pitchFamily="18" charset="0"/>
                                  </a:rPr>
                                  <m:t>𝑗</m:t>
                                </m:r>
                              </m:sub>
                            </m:sSub>
                          </m:e>
                          <m:sup>
                            <m:r>
                              <a:rPr lang="en-US" altLang="zh-CN" sz="2000" b="0" i="1" smtClean="0">
                                <a:latin typeface="Cambria Math" panose="02040503050406030204" pitchFamily="18" charset="0"/>
                              </a:rPr>
                              <m:t>1−</m:t>
                            </m:r>
                            <m:sSub>
                              <m:sSubPr>
                                <m:ctrlPr>
                                  <a:rPr lang="en-US" altLang="zh-CN" sz="2000" i="1">
                                    <a:latin typeface="Cambria Math" panose="02040503050406030204" pitchFamily="18" charset="0"/>
                                  </a:rPr>
                                </m:ctrlPr>
                              </m:sSubPr>
                              <m:e>
                                <m:r>
                                  <m:rPr>
                                    <m:sty m:val="p"/>
                                  </m:rPr>
                                  <a:rPr lang="el-GR" altLang="zh-CN" sz="2000" i="1">
                                    <a:latin typeface="Cambria Math" panose="02040503050406030204" pitchFamily="18" charset="0"/>
                                  </a:rPr>
                                  <m:t>η</m:t>
                                </m:r>
                              </m:e>
                              <m:sub>
                                <m:r>
                                  <a:rPr lang="en-US" altLang="zh-CN" sz="2000" i="1">
                                    <a:latin typeface="Cambria Math" panose="02040503050406030204" pitchFamily="18" charset="0"/>
                                  </a:rPr>
                                  <m:t>𝑖𝑗</m:t>
                                </m:r>
                              </m:sub>
                            </m:sSub>
                          </m:sup>
                        </m:sSup>
                      </m:oMath>
                    </m:oMathPara>
                  </a14:m>
                  <a:endParaRPr lang="zh-CN" altLang="en-US" sz="2000" dirty="0"/>
                </a:p>
              </p:txBody>
            </p:sp>
          </mc:Choice>
          <mc:Fallback xmlns="">
            <p:sp>
              <p:nvSpPr>
                <p:cNvPr id="29" name="文本框 28"/>
                <p:cNvSpPr txBox="1">
                  <a:spLocks noRot="1" noChangeAspect="1" noMove="1" noResize="1" noEditPoints="1" noAdjustHandles="1" noChangeArrowheads="1" noChangeShapeType="1" noTextEdit="1"/>
                </p:cNvSpPr>
                <p:nvPr/>
              </p:nvSpPr>
              <p:spPr>
                <a:xfrm>
                  <a:off x="-2503128" y="4830824"/>
                  <a:ext cx="3798989" cy="354584"/>
                </a:xfrm>
                <a:prstGeom prst="rect">
                  <a:avLst/>
                </a:prstGeom>
                <a:blipFill rotWithShape="0">
                  <a:blip r:embed="rId4"/>
                  <a:stretch>
                    <a:fillRect l="-963" r="-321" b="-2413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0" name="文本框 29"/>
              <p:cNvSpPr txBox="1"/>
              <p:nvPr/>
            </p:nvSpPr>
            <p:spPr>
              <a:xfrm>
                <a:off x="3059707" y="6090468"/>
                <a:ext cx="27917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𝑢𝑣</m:t>
                              </m:r>
                            </m:sub>
                          </m:sSub>
                          <m:r>
                            <a:rPr lang="en-US" altLang="zh-CN" b="0" i="1" smtClean="0">
                              <a:latin typeface="Cambria Math" panose="02040503050406030204" pitchFamily="18" charset="0"/>
                            </a:rPr>
                            <m:t>=1</m:t>
                          </m:r>
                        </m:e>
                        <m:e>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𝜃</m:t>
                              </m:r>
                            </m:e>
                            <m:sub>
                              <m:r>
                                <a:rPr lang="en-US" altLang="zh-CN" b="0" i="1" smtClean="0">
                                  <a:latin typeface="Cambria Math" panose="02040503050406030204" pitchFamily="18" charset="0"/>
                                </a:rPr>
                                <m:t>𝑢</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𝑣</m:t>
                              </m:r>
                            </m:sub>
                          </m:sSub>
                          <m:r>
                            <a:rPr lang="en-US" altLang="zh-CN" i="1" smtClean="0">
                              <a:latin typeface="Cambria Math" panose="02040503050406030204" pitchFamily="18" charset="0"/>
                            </a:rPr>
                            <m:t> </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𝑢</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𝑣</m:t>
                          </m:r>
                        </m:sub>
                      </m:sSub>
                    </m:oMath>
                  </m:oMathPara>
                </a14:m>
                <a:endParaRPr lang="zh-CN" altLang="en-US" dirty="0"/>
              </a:p>
            </p:txBody>
          </p:sp>
        </mc:Choice>
        <mc:Fallback xmlns="">
          <p:sp>
            <p:nvSpPr>
              <p:cNvPr id="30" name="文本框 29"/>
              <p:cNvSpPr txBox="1">
                <a:spLocks noRot="1" noChangeAspect="1" noMove="1" noResize="1" noEditPoints="1" noAdjustHandles="1" noChangeArrowheads="1" noChangeShapeType="1" noTextEdit="1"/>
              </p:cNvSpPr>
              <p:nvPr/>
            </p:nvSpPr>
            <p:spPr>
              <a:xfrm>
                <a:off x="3059707" y="6090468"/>
                <a:ext cx="2791726" cy="276999"/>
              </a:xfrm>
              <a:prstGeom prst="rect">
                <a:avLst/>
              </a:prstGeom>
              <a:blipFill rotWithShape="0">
                <a:blip r:embed="rId5"/>
                <a:stretch>
                  <a:fillRect l="-1747" b="-10870"/>
                </a:stretch>
              </a:blipFill>
            </p:spPr>
            <p:txBody>
              <a:bodyPr/>
              <a:lstStyle/>
              <a:p>
                <a:r>
                  <a:rPr lang="zh-CN" altLang="en-US">
                    <a:noFill/>
                  </a:rPr>
                  <a:t> </a:t>
                </a:r>
              </a:p>
            </p:txBody>
          </p:sp>
        </mc:Fallback>
      </mc:AlternateContent>
      <p:pic>
        <p:nvPicPr>
          <p:cNvPr id="31" name="图片 30">
            <a:extLst>
              <a:ext uri="{FF2B5EF4-FFF2-40B4-BE49-F238E27FC236}">
                <a16:creationId xmlns:a16="http://schemas.microsoft.com/office/drawing/2014/main" id="{D2515D8A-D213-41D1-BA44-734B948D0D3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1689305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3 </a:t>
            </a:r>
            <a:r>
              <a:rPr lang="zh-CN" altLang="en-US" dirty="0"/>
              <a:t>存在的问题</a:t>
            </a:r>
          </a:p>
        </p:txBody>
      </p:sp>
      <p:sp>
        <p:nvSpPr>
          <p:cNvPr id="4" name="文本框 3"/>
          <p:cNvSpPr txBox="1"/>
          <p:nvPr/>
        </p:nvSpPr>
        <p:spPr>
          <a:xfrm>
            <a:off x="208099" y="1278727"/>
            <a:ext cx="7955280" cy="1323439"/>
          </a:xfrm>
          <a:prstGeom prst="rect">
            <a:avLst/>
          </a:prstGeom>
          <a:noFill/>
        </p:spPr>
        <p:txBody>
          <a:bodyPr wrap="square" rtlCol="0">
            <a:spAutoFit/>
          </a:bodyPr>
          <a:lstStyle/>
          <a:p>
            <a:pPr marL="342900" indent="-342900">
              <a:buClr>
                <a:schemeClr val="accent5"/>
              </a:buClr>
              <a:buFont typeface="Wingdings" panose="05000000000000000000" pitchFamily="2" charset="2"/>
              <a:buChar char="l"/>
            </a:pPr>
            <a:r>
              <a:rPr lang="zh-CN" altLang="en-US" sz="2000" dirty="0">
                <a:latin typeface="Arial" panose="020B0604020202020204" pitchFamily="34" charset="0"/>
                <a:cs typeface="Arial" panose="020B0604020202020204" pitchFamily="34" charset="0"/>
              </a:rPr>
              <a:t>交互函数存在的问题</a:t>
            </a:r>
            <a:r>
              <a:rPr lang="en-US" altLang="zh-CN" sz="2000" dirty="0">
                <a:latin typeface="Arial" panose="020B0604020202020204" pitchFamily="34" charset="0"/>
                <a:cs typeface="Arial" panose="020B0604020202020204" pitchFamily="34" charset="0"/>
              </a:rPr>
              <a:t>:</a:t>
            </a:r>
          </a:p>
          <a:p>
            <a:pPr marL="800100" lvl="1" indent="-342900">
              <a:buClr>
                <a:schemeClr val="accent5"/>
              </a:buClr>
              <a:buFont typeface="Wingdings" panose="05000000000000000000" pitchFamily="2" charset="2"/>
              <a:buChar char="l"/>
            </a:pPr>
            <a:r>
              <a:rPr lang="zh-CN" altLang="en-US" sz="2000" dirty="0">
                <a:latin typeface="Arial" panose="020B0604020202020204" pitchFamily="34" charset="0"/>
                <a:cs typeface="Arial" panose="020B0604020202020204" pitchFamily="34" charset="0"/>
              </a:rPr>
              <a:t>人工设计</a:t>
            </a:r>
            <a:r>
              <a:rPr lang="en-US" altLang="zh-CN"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sym typeface="Wingdings" panose="05000000000000000000" pitchFamily="2" charset="2"/>
              </a:rPr>
              <a:t> </a:t>
            </a:r>
            <a:r>
              <a:rPr lang="zh-CN" altLang="en-US" sz="2000" dirty="0">
                <a:latin typeface="Arial" panose="020B0604020202020204" pitchFamily="34" charset="0"/>
                <a:cs typeface="Arial" panose="020B0604020202020204" pitchFamily="34" charset="0"/>
                <a:sym typeface="Wingdings" panose="05000000000000000000" pitchFamily="2" charset="2"/>
              </a:rPr>
              <a:t>劳动密集、依赖经验</a:t>
            </a:r>
            <a:endParaRPr lang="en-US" altLang="zh-CN" sz="2000" dirty="0">
              <a:latin typeface="Arial" panose="020B0604020202020204" pitchFamily="34" charset="0"/>
              <a:cs typeface="Arial" panose="020B0604020202020204" pitchFamily="34" charset="0"/>
              <a:sym typeface="Wingdings" panose="05000000000000000000" pitchFamily="2" charset="2"/>
            </a:endParaRPr>
          </a:p>
          <a:p>
            <a:pPr marL="800100" lvl="1" indent="-342900">
              <a:buClr>
                <a:schemeClr val="accent5"/>
              </a:buClr>
              <a:buFont typeface="Wingdings" panose="05000000000000000000" pitchFamily="2" charset="2"/>
              <a:buChar char="l"/>
            </a:pPr>
            <a:r>
              <a:rPr lang="zh-CN" altLang="en-US" sz="2000" dirty="0">
                <a:latin typeface="Arial" panose="020B0604020202020204" pitchFamily="34" charset="0"/>
                <a:cs typeface="Arial" panose="020B0604020202020204" pitchFamily="34" charset="0"/>
                <a:sym typeface="Wingdings" panose="05000000000000000000" pitchFamily="2" charset="2"/>
              </a:rPr>
              <a:t>大部分为线性函数</a:t>
            </a:r>
            <a:r>
              <a:rPr lang="en-US" altLang="zh-CN" sz="2000" dirty="0">
                <a:latin typeface="Arial" panose="020B0604020202020204" pitchFamily="34" charset="0"/>
                <a:cs typeface="Arial" panose="020B0604020202020204" pitchFamily="34" charset="0"/>
                <a:sym typeface="Wingdings" panose="05000000000000000000" pitchFamily="2" charset="2"/>
              </a:rPr>
              <a:t>  </a:t>
            </a:r>
            <a:r>
              <a:rPr lang="zh-CN" altLang="en-US" sz="2000" dirty="0">
                <a:latin typeface="Arial" panose="020B0604020202020204" pitchFamily="34" charset="0"/>
                <a:cs typeface="Arial" panose="020B0604020202020204" pitchFamily="34" charset="0"/>
                <a:sym typeface="Wingdings" panose="05000000000000000000" pitchFamily="2" charset="2"/>
              </a:rPr>
              <a:t>拟合能力有限</a:t>
            </a:r>
            <a:endParaRPr lang="en-US" altLang="zh-CN" sz="2000" dirty="0">
              <a:latin typeface="Arial" panose="020B0604020202020204" pitchFamily="34" charset="0"/>
              <a:cs typeface="Arial" panose="020B0604020202020204" pitchFamily="34" charset="0"/>
              <a:sym typeface="Wingdings" panose="05000000000000000000" pitchFamily="2" charset="2"/>
            </a:endParaRPr>
          </a:p>
          <a:p>
            <a:pPr marL="800100" lvl="1" indent="-342900">
              <a:buClr>
                <a:schemeClr val="accent5"/>
              </a:buClr>
              <a:buFont typeface="Wingdings" panose="05000000000000000000" pitchFamily="2" charset="2"/>
              <a:buChar char="l"/>
            </a:pPr>
            <a:r>
              <a:rPr lang="zh-CN" altLang="en-US" sz="2000" dirty="0">
                <a:latin typeface="Arial" panose="020B0604020202020204" pitchFamily="34" charset="0"/>
                <a:cs typeface="Arial" panose="020B0604020202020204" pitchFamily="34" charset="0"/>
                <a:sym typeface="Wingdings" panose="05000000000000000000" pitchFamily="2" charset="2"/>
              </a:rPr>
              <a:t>假设较为简单</a:t>
            </a:r>
            <a:r>
              <a:rPr lang="en-US" altLang="zh-CN" sz="2000" dirty="0">
                <a:latin typeface="Arial" panose="020B0604020202020204" pitchFamily="34" charset="0"/>
                <a:cs typeface="Arial" panose="020B0604020202020204" pitchFamily="34" charset="0"/>
                <a:sym typeface="Wingdings" panose="05000000000000000000" pitchFamily="2" charset="2"/>
              </a:rPr>
              <a:t> </a:t>
            </a:r>
            <a:r>
              <a:rPr lang="zh-CN" altLang="en-US" sz="2000" dirty="0">
                <a:latin typeface="Arial" panose="020B0604020202020204" pitchFamily="34" charset="0"/>
                <a:cs typeface="Arial" panose="020B0604020202020204" pitchFamily="34" charset="0"/>
                <a:sym typeface="Wingdings" panose="05000000000000000000" pitchFamily="2" charset="2"/>
              </a:rPr>
              <a:t>应用场景受限制</a:t>
            </a:r>
            <a:endParaRPr lang="en-US" altLang="zh-CN" sz="2000" dirty="0">
              <a:latin typeface="Arial" panose="020B0604020202020204" pitchFamily="34" charset="0"/>
              <a:cs typeface="Arial" panose="020B0604020202020204" pitchFamily="34" charset="0"/>
            </a:endParaRPr>
          </a:p>
        </p:txBody>
      </p:sp>
      <p:sp>
        <p:nvSpPr>
          <p:cNvPr id="6" name="文本框 5"/>
          <p:cNvSpPr txBox="1"/>
          <p:nvPr/>
        </p:nvSpPr>
        <p:spPr>
          <a:xfrm>
            <a:off x="423169" y="2755324"/>
            <a:ext cx="8044774" cy="400110"/>
          </a:xfrm>
          <a:prstGeom prst="rect">
            <a:avLst/>
          </a:prstGeom>
          <a:noFill/>
        </p:spPr>
        <p:txBody>
          <a:bodyPr wrap="square" rtlCol="0">
            <a:spAutoFit/>
          </a:bodyPr>
          <a:lstStyle/>
          <a:p>
            <a:r>
              <a:rPr lang="zh-CN" altLang="en-US" sz="2000" dirty="0">
                <a:solidFill>
                  <a:srgbClr val="FF0000"/>
                </a:solidFill>
                <a:latin typeface="Arial" panose="020B0604020202020204" pitchFamily="34" charset="0"/>
                <a:cs typeface="Arial" panose="020B0604020202020204" pitchFamily="34" charset="0"/>
              </a:rPr>
              <a:t>迫切需要提出一种方法来自动学习认知诊断过程中的复杂交互过程。</a:t>
            </a:r>
          </a:p>
        </p:txBody>
      </p:sp>
      <p:sp>
        <p:nvSpPr>
          <p:cNvPr id="5" name="矩形 4"/>
          <p:cNvSpPr/>
          <p:nvPr/>
        </p:nvSpPr>
        <p:spPr>
          <a:xfrm>
            <a:off x="113124" y="3573942"/>
            <a:ext cx="8920503" cy="630936"/>
          </a:xfrm>
          <a:prstGeom prst="rect">
            <a:avLst/>
          </a:prstGeom>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Arial" panose="020B0604020202020204" pitchFamily="34" charset="0"/>
                <a:cs typeface="Arial" panose="020B0604020202020204" pitchFamily="34" charset="0"/>
              </a:rPr>
              <a:t>使用神经网络从数据中学习交互函数</a:t>
            </a:r>
          </a:p>
        </p:txBody>
      </p:sp>
      <p:pic>
        <p:nvPicPr>
          <p:cNvPr id="7"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29411" y="743073"/>
            <a:ext cx="1919659" cy="1411854"/>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pic>
      <p:grpSp>
        <p:nvGrpSpPr>
          <p:cNvPr id="13" name="组合 12"/>
          <p:cNvGrpSpPr/>
          <p:nvPr/>
        </p:nvGrpSpPr>
        <p:grpSpPr>
          <a:xfrm>
            <a:off x="1097680" y="4365141"/>
            <a:ext cx="6951390" cy="596574"/>
            <a:chOff x="1097680" y="4938820"/>
            <a:chExt cx="6951390" cy="596574"/>
          </a:xfrm>
        </p:grpSpPr>
        <p:sp>
          <p:nvSpPr>
            <p:cNvPr id="10" name="矩形 9"/>
            <p:cNvSpPr/>
            <p:nvPr/>
          </p:nvSpPr>
          <p:spPr>
            <a:xfrm>
              <a:off x="4057575" y="5114112"/>
              <a:ext cx="256328" cy="31055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1097680" y="4938820"/>
                  <a:ext cx="6951390" cy="5965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𝑢𝑣</m:t>
                                </m:r>
                              </m:sub>
                            </m:sSub>
                            <m:r>
                              <a:rPr lang="en-US" altLang="zh-CN" sz="2000" b="0" i="1" smtClean="0">
                                <a:latin typeface="Cambria Math" panose="02040503050406030204" pitchFamily="18" charset="0"/>
                              </a:rPr>
                              <m:t>=1</m:t>
                            </m:r>
                          </m:e>
                          <m:e>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𝜃</m:t>
                                </m:r>
                              </m:e>
                              <m:sub>
                                <m:r>
                                  <a:rPr lang="en-US" altLang="zh-CN" sz="2000" b="0" i="1" smtClean="0">
                                    <a:latin typeface="Cambria Math" panose="02040503050406030204" pitchFamily="18" charset="0"/>
                                  </a:rPr>
                                  <m:t>𝑢</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𝑣</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i="1">
                                    <a:latin typeface="Cambria Math" panose="02040503050406030204" pitchFamily="18" charset="0"/>
                                  </a:rPr>
                                  <m:t>𝑣</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i="1">
                                    <a:latin typeface="Cambria Math" panose="02040503050406030204" pitchFamily="18" charset="0"/>
                                  </a:rPr>
                                  <m:t>𝑣</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𝑓</m:t>
                        </m:r>
                        <m:d>
                          <m:dPr>
                            <m:ctrlPr>
                              <a:rPr lang="en-US" altLang="zh-CN" sz="2000" b="0" i="1" smtClean="0">
                                <a:latin typeface="Cambria Math" panose="02040503050406030204" pitchFamily="18" charset="0"/>
                              </a:rPr>
                            </m:ctrlPr>
                          </m:dPr>
                          <m:e>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𝜃</m:t>
                                </m:r>
                              </m:e>
                              <m:sub>
                                <m:r>
                                  <a:rPr lang="en-US" altLang="zh-CN" sz="2000" i="1">
                                    <a:latin typeface="Cambria Math" panose="02040503050406030204" pitchFamily="18" charset="0"/>
                                  </a:rPr>
                                  <m:t>𝑢</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𝑣</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𝑣</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𝑐</m:t>
                                </m:r>
                              </m:e>
                              <m:sub>
                                <m:r>
                                  <a:rPr lang="en-US" altLang="zh-CN" sz="2000" i="1">
                                    <a:latin typeface="Cambria Math" panose="02040503050406030204" pitchFamily="18" charset="0"/>
                                  </a:rPr>
                                  <m:t>𝑣</m:t>
                                </m:r>
                              </m:sub>
                            </m:sSub>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1+</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𝑒</m:t>
                                </m:r>
                              </m:e>
                              <m:sup>
                                <m:r>
                                  <a:rPr lang="en-US" altLang="zh-CN" sz="2000" i="1">
                                    <a:latin typeface="Cambria Math" panose="02040503050406030204" pitchFamily="18" charset="0"/>
                                  </a:rPr>
                                  <m:t>−1.7</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𝑣</m:t>
                                    </m:r>
                                  </m:sub>
                                </m:sSub>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𝜃</m:t>
                                        </m:r>
                                      </m:e>
                                      <m:sub>
                                        <m:r>
                                          <a:rPr lang="en-US" altLang="zh-CN" sz="2000" i="1">
                                            <a:latin typeface="Cambria Math" panose="02040503050406030204" pitchFamily="18" charset="0"/>
                                          </a:rPr>
                                          <m:t>𝑢</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𝑣</m:t>
                                        </m:r>
                                      </m:sub>
                                    </m:sSub>
                                  </m:e>
                                </m:d>
                              </m:sup>
                            </m:sSup>
                          </m:den>
                        </m:f>
                      </m:oMath>
                    </m:oMathPara>
                  </a14:m>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1097680" y="4938820"/>
                  <a:ext cx="6951390" cy="596574"/>
                </a:xfrm>
                <a:prstGeom prst="rect">
                  <a:avLst/>
                </a:prstGeom>
                <a:blipFill rotWithShape="0">
                  <a:blip r:embed="rId4"/>
                  <a:stretch>
                    <a:fillRect/>
                  </a:stretch>
                </a:blipFill>
              </p:spPr>
              <p:txBody>
                <a:bodyPr/>
                <a:lstStyle/>
                <a:p>
                  <a:r>
                    <a:rPr lang="zh-CN" altLang="en-US">
                      <a:noFill/>
                    </a:rPr>
                    <a:t> </a:t>
                  </a:r>
                </a:p>
              </p:txBody>
            </p:sp>
          </mc:Fallback>
        </mc:AlternateContent>
      </p:grpSp>
      <p:pic>
        <p:nvPicPr>
          <p:cNvPr id="14" name="图片 13" descr="ICC"/>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75768" y="5205479"/>
            <a:ext cx="1851997" cy="1548526"/>
          </a:xfrm>
          <a:prstGeom prst="rect">
            <a:avLst/>
          </a:prstGeom>
          <a:noFill/>
          <a:ln>
            <a:noFill/>
          </a:ln>
          <a:effectLst/>
        </p:spPr>
      </p:pic>
      <p:grpSp>
        <p:nvGrpSpPr>
          <p:cNvPr id="18" name="组合 17"/>
          <p:cNvGrpSpPr/>
          <p:nvPr/>
        </p:nvGrpSpPr>
        <p:grpSpPr>
          <a:xfrm>
            <a:off x="5725697" y="5113875"/>
            <a:ext cx="1919659" cy="1715528"/>
            <a:chOff x="6129411" y="4876316"/>
            <a:chExt cx="2214113" cy="2015866"/>
          </a:xfrm>
        </p:grpSpPr>
        <p:pic>
          <p:nvPicPr>
            <p:cNvPr id="16" name="图片 15"/>
            <p:cNvPicPr>
              <a:picLocks noChangeAspect="1"/>
            </p:cNvPicPr>
            <p:nvPr/>
          </p:nvPicPr>
          <p:blipFill rotWithShape="1">
            <a:blip r:embed="rId6"/>
            <a:srcRect l="19333" t="7633"/>
            <a:stretch/>
          </p:blipFill>
          <p:spPr>
            <a:xfrm>
              <a:off x="6129411" y="4876316"/>
              <a:ext cx="2214113" cy="2015866"/>
            </a:xfrm>
            <a:prstGeom prst="rect">
              <a:avLst/>
            </a:prstGeom>
          </p:spPr>
        </p:pic>
        <p:sp>
          <p:nvSpPr>
            <p:cNvPr id="17" name="矩形 16"/>
            <p:cNvSpPr/>
            <p:nvPr/>
          </p:nvSpPr>
          <p:spPr>
            <a:xfrm>
              <a:off x="8153547" y="5176654"/>
              <a:ext cx="105550" cy="1361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右箭头 18"/>
          <p:cNvSpPr/>
          <p:nvPr/>
        </p:nvSpPr>
        <p:spPr>
          <a:xfrm>
            <a:off x="4145789" y="5653548"/>
            <a:ext cx="1061884" cy="403123"/>
          </a:xfrm>
          <a:prstGeom prst="rightArrow">
            <a:avLst/>
          </a:prstGeom>
          <a:solidFill>
            <a:schemeClr val="accent2">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grpSp>
        <p:nvGrpSpPr>
          <p:cNvPr id="26" name="组合 25"/>
          <p:cNvGrpSpPr/>
          <p:nvPr/>
        </p:nvGrpSpPr>
        <p:grpSpPr>
          <a:xfrm>
            <a:off x="2773344" y="4060723"/>
            <a:ext cx="1698171" cy="479710"/>
            <a:chOff x="1681316" y="4060723"/>
            <a:chExt cx="2892059" cy="479710"/>
          </a:xfrm>
        </p:grpSpPr>
        <p:cxnSp>
          <p:nvCxnSpPr>
            <p:cNvPr id="21" name="直接连接符 20"/>
            <p:cNvCxnSpPr/>
            <p:nvPr/>
          </p:nvCxnSpPr>
          <p:spPr>
            <a:xfrm>
              <a:off x="1681316" y="4060723"/>
              <a:ext cx="2892059" cy="835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3499104" y="4072128"/>
              <a:ext cx="558471" cy="4683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20" name="图片 19">
            <a:extLst>
              <a:ext uri="{FF2B5EF4-FFF2-40B4-BE49-F238E27FC236}">
                <a16:creationId xmlns:a16="http://schemas.microsoft.com/office/drawing/2014/main" id="{15BEBFFE-D537-4E6A-9D02-4F3B49FF084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209956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par>
                                <p:cTn id="13" presetID="22" presetClass="entr" presetSubtype="4"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par>
                                <p:cTn id="16" presetID="22" presetClass="entr" presetSubtype="4"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down)">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down)">
                                      <p:cBhvr>
                                        <p:cTn id="21" dur="500"/>
                                        <p:tgtEl>
                                          <p:spTgt spid="18"/>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down)">
                                      <p:cBhvr>
                                        <p:cTn id="24" dur="500"/>
                                        <p:tgtEl>
                                          <p:spTgt spid="19"/>
                                        </p:tgtEl>
                                      </p:cBhvr>
                                    </p:animEffect>
                                  </p:childTnLst>
                                </p:cTn>
                              </p:par>
                              <p:par>
                                <p:cTn id="25" presetID="22" presetClass="entr" presetSubtype="4"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down)">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3 </a:t>
            </a:r>
            <a:r>
              <a:rPr lang="zh-CN" altLang="en-US" dirty="0"/>
              <a:t>存在的问题</a:t>
            </a:r>
          </a:p>
        </p:txBody>
      </p:sp>
      <p:sp>
        <p:nvSpPr>
          <p:cNvPr id="4" name="文本框 3"/>
          <p:cNvSpPr txBox="1"/>
          <p:nvPr/>
        </p:nvSpPr>
        <p:spPr>
          <a:xfrm>
            <a:off x="365760" y="1362456"/>
            <a:ext cx="8375904" cy="2862322"/>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神经网络的黑箱特性</a:t>
            </a: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难以获得可解释性强的认知诊断结果</a:t>
            </a: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endParaRPr lang="en-US" altLang="zh-CN" sz="2000" dirty="0">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习题丰富文本信息的利用</a:t>
            </a: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传统的非神经网络交互函数难以挖掘文本信息</a:t>
            </a: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神经网络的强大拟合能力在扩展习题文本信息上具备巨大价值</a:t>
            </a:r>
          </a:p>
        </p:txBody>
      </p:sp>
      <p:pic>
        <p:nvPicPr>
          <p:cNvPr id="5" name="图片 4"/>
          <p:cNvPicPr>
            <a:picLocks noChangeAspect="1"/>
          </p:cNvPicPr>
          <p:nvPr/>
        </p:nvPicPr>
        <p:blipFill rotWithShape="1">
          <a:blip r:embed="rId3"/>
          <a:srcRect l="10001" t="23440" r="6799" b="21840"/>
          <a:stretch/>
        </p:blipFill>
        <p:spPr>
          <a:xfrm>
            <a:off x="3062166" y="2048255"/>
            <a:ext cx="1807601" cy="1188845"/>
          </a:xfrm>
          <a:prstGeom prst="rect">
            <a:avLst/>
          </a:prstGeom>
        </p:spPr>
      </p:pic>
      <p:sp>
        <p:nvSpPr>
          <p:cNvPr id="7" name="矩形 6"/>
          <p:cNvSpPr/>
          <p:nvPr/>
        </p:nvSpPr>
        <p:spPr>
          <a:xfrm>
            <a:off x="4869767" y="2181012"/>
            <a:ext cx="505267" cy="923330"/>
          </a:xfrm>
          <a:prstGeom prst="rect">
            <a:avLst/>
          </a:prstGeom>
          <a:noFill/>
        </p:spPr>
        <p:txBody>
          <a:bodyPr wrap="none" lIns="91440" tIns="45720" rIns="91440" bIns="45720">
            <a:spAutoFit/>
          </a:bodyPr>
          <a:lstStyle/>
          <a:p>
            <a:pPr algn="ctr"/>
            <a:r>
              <a:rPr lang="en-US" altLang="zh-CN" sz="5400" dirty="0">
                <a:ln w="0"/>
                <a:effectLst>
                  <a:outerShdw blurRad="38100" dist="19050" dir="2700000" algn="tl" rotWithShape="0">
                    <a:schemeClr val="dk1">
                      <a:alpha val="40000"/>
                    </a:schemeClr>
                  </a:outerShdw>
                </a:effectLst>
              </a:rPr>
              <a:t>?</a:t>
            </a:r>
            <a:endParaRPr lang="zh-CN" altLang="en-US" sz="5400" dirty="0">
              <a:ln w="0"/>
              <a:effectLst>
                <a:outerShdw blurRad="38100" dist="19050" dir="2700000" algn="tl" rotWithShape="0">
                  <a:schemeClr val="dk1">
                    <a:alpha val="40000"/>
                  </a:schemeClr>
                </a:outerShdw>
              </a:effectLst>
            </a:endParaRPr>
          </a:p>
        </p:txBody>
      </p:sp>
      <p:pic>
        <p:nvPicPr>
          <p:cNvPr id="3" name="图片 2"/>
          <p:cNvPicPr>
            <a:picLocks noChangeAspect="1"/>
          </p:cNvPicPr>
          <p:nvPr/>
        </p:nvPicPr>
        <p:blipFill>
          <a:blip r:embed="rId4"/>
          <a:stretch>
            <a:fillRect/>
          </a:stretch>
        </p:blipFill>
        <p:spPr>
          <a:xfrm>
            <a:off x="1813698" y="4910577"/>
            <a:ext cx="1364170" cy="1364170"/>
          </a:xfrm>
          <a:prstGeom prst="rect">
            <a:avLst/>
          </a:prstGeom>
        </p:spPr>
      </p:pic>
      <p:sp>
        <p:nvSpPr>
          <p:cNvPr id="9" name="云形标注 8"/>
          <p:cNvSpPr/>
          <p:nvPr/>
        </p:nvSpPr>
        <p:spPr>
          <a:xfrm>
            <a:off x="3486825" y="4377574"/>
            <a:ext cx="1769538" cy="682085"/>
          </a:xfrm>
          <a:prstGeom prst="cloudCallout">
            <a:avLst>
              <a:gd name="adj1" fmla="val -72719"/>
              <a:gd name="adj2" fmla="val 75906"/>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b="1" dirty="0">
              <a:latin typeface="Arial" panose="020B0604020202020204" pitchFamily="34" charset="0"/>
              <a:cs typeface="Arial" panose="020B0604020202020204" pitchFamily="34" charset="0"/>
            </a:endParaRPr>
          </a:p>
        </p:txBody>
      </p:sp>
      <p:sp>
        <p:nvSpPr>
          <p:cNvPr id="10" name="矩形 9"/>
          <p:cNvSpPr/>
          <p:nvPr/>
        </p:nvSpPr>
        <p:spPr>
          <a:xfrm>
            <a:off x="3619906" y="4523269"/>
            <a:ext cx="1454244" cy="369332"/>
          </a:xfrm>
          <a:prstGeom prst="rect">
            <a:avLst/>
          </a:prstGeom>
        </p:spPr>
        <p:txBody>
          <a:bodyPr wrap="none">
            <a:spAutoFit/>
          </a:bodyPr>
          <a:lstStyle/>
          <a:p>
            <a:pPr algn="ctr"/>
            <a:r>
              <a:rPr lang="en-US" altLang="zh-CN" b="1" dirty="0">
                <a:solidFill>
                  <a:schemeClr val="bg1"/>
                </a:solidFill>
                <a:latin typeface="Arial" panose="020B0604020202020204" pitchFamily="34" charset="0"/>
                <a:cs typeface="Arial" panose="020B0604020202020204" pitchFamily="34" charset="0"/>
              </a:rPr>
              <a:t>Information</a:t>
            </a:r>
            <a:endParaRPr lang="zh-CN" altLang="en-US" b="1" dirty="0">
              <a:solidFill>
                <a:schemeClr val="bg1"/>
              </a:solidFill>
              <a:latin typeface="Arial" panose="020B0604020202020204" pitchFamily="34" charset="0"/>
              <a:cs typeface="Arial" panose="020B0604020202020204" pitchFamily="34" charset="0"/>
            </a:endParaRPr>
          </a:p>
        </p:txBody>
      </p:sp>
      <p:pic>
        <p:nvPicPr>
          <p:cNvPr id="11" name="图片 10">
            <a:extLst>
              <a:ext uri="{FF2B5EF4-FFF2-40B4-BE49-F238E27FC236}">
                <a16:creationId xmlns:a16="http://schemas.microsoft.com/office/drawing/2014/main" id="{B0A5C908-B3C4-49FF-AEAE-B64921CE56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4126312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776180" y="512241"/>
            <a:ext cx="4710219" cy="461665"/>
          </a:xfrm>
        </p:spPr>
        <p:txBody>
          <a:bodyPr/>
          <a:lstStyle/>
          <a:p>
            <a:r>
              <a:rPr lang="en-US" altLang="zh-CN" dirty="0"/>
              <a:t>4 </a:t>
            </a:r>
            <a:r>
              <a:rPr lang="zh-CN" altLang="en-US" dirty="0"/>
              <a:t>神经认知诊断模型</a:t>
            </a:r>
          </a:p>
        </p:txBody>
      </p:sp>
      <p:pic>
        <p:nvPicPr>
          <p:cNvPr id="3" name="图片 2"/>
          <p:cNvPicPr>
            <a:picLocks noChangeAspect="1"/>
          </p:cNvPicPr>
          <p:nvPr/>
        </p:nvPicPr>
        <p:blipFill>
          <a:blip r:embed="rId3"/>
          <a:stretch>
            <a:fillRect/>
          </a:stretch>
        </p:blipFill>
        <p:spPr>
          <a:xfrm>
            <a:off x="979845" y="3070139"/>
            <a:ext cx="7400126" cy="3787861"/>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214638" y="1205962"/>
                <a:ext cx="8714232" cy="1642244"/>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学生特征向量</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知识掌握水平向量</a:t>
                </a:r>
                <a:r>
                  <a:rPr lang="en-US" altLang="zh-CN" sz="2000" dirty="0">
                    <a:latin typeface="Arial" panose="020B0604020202020204" pitchFamily="34" charset="0"/>
                    <a:cs typeface="Arial" panose="020B0604020202020204" pitchFamily="34" charset="0"/>
                  </a:rPr>
                  <a:t> </a:t>
                </a:r>
                <a14:m>
                  <m:oMath xmlns:m="http://schemas.openxmlformats.org/officeDocument/2006/math">
                    <m:sSup>
                      <m:sSupPr>
                        <m:ctrlPr>
                          <a:rPr lang="en-US" altLang="zh-CN" sz="2000" i="1" smtClean="0">
                            <a:latin typeface="Cambria Math" panose="02040503050406030204" pitchFamily="18" charset="0"/>
                            <a:cs typeface="Arial" panose="020B0604020202020204" pitchFamily="34" charset="0"/>
                          </a:rPr>
                        </m:ctrlPr>
                      </m:sSupPr>
                      <m:e>
                        <m:r>
                          <a:rPr lang="en-US" altLang="zh-CN" sz="2000" b="0" i="1" smtClean="0">
                            <a:latin typeface="Cambria Math" panose="02040503050406030204" pitchFamily="18" charset="0"/>
                            <a:cs typeface="Arial" panose="020B0604020202020204" pitchFamily="34" charset="0"/>
                          </a:rPr>
                          <m:t>𝐹</m:t>
                        </m:r>
                      </m:e>
                      <m:sup>
                        <m:r>
                          <a:rPr lang="en-US" altLang="zh-CN" sz="2000" b="0" i="1" smtClean="0">
                            <a:latin typeface="Cambria Math" panose="02040503050406030204" pitchFamily="18" charset="0"/>
                            <a:cs typeface="Arial" panose="020B0604020202020204" pitchFamily="34" charset="0"/>
                          </a:rPr>
                          <m:t>𝑠</m:t>
                        </m:r>
                      </m:sup>
                    </m:sSup>
                  </m:oMath>
                </a14:m>
                <a:endParaRPr lang="en-US" altLang="zh-CN" sz="2000" dirty="0">
                  <a:solidFill>
                    <a:schemeClr val="accent2"/>
                  </a:solidFill>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习题特征向量</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知识点关联向量</a:t>
                </a:r>
                <a:r>
                  <a:rPr lang="en-US" altLang="zh-CN" sz="2000" dirty="0">
                    <a:latin typeface="Arial" panose="020B0604020202020204" pitchFamily="34" charset="0"/>
                    <a:cs typeface="Arial" panose="020B0604020202020204" pitchFamily="34" charset="0"/>
                  </a:rPr>
                  <a:t> </a:t>
                </a:r>
                <a14:m>
                  <m:oMath xmlns:m="http://schemas.openxmlformats.org/officeDocument/2006/math">
                    <m:sSup>
                      <m:sSupPr>
                        <m:ctrlPr>
                          <a:rPr lang="en-US" altLang="zh-CN" sz="2000" i="1">
                            <a:latin typeface="Cambria Math" panose="02040503050406030204" pitchFamily="18" charset="0"/>
                            <a:cs typeface="Arial" panose="020B0604020202020204" pitchFamily="34" charset="0"/>
                          </a:rPr>
                        </m:ctrlPr>
                      </m:sSupPr>
                      <m:e>
                        <m:r>
                          <a:rPr lang="en-US" altLang="zh-CN" sz="2000" i="1">
                            <a:latin typeface="Cambria Math" panose="02040503050406030204" pitchFamily="18" charset="0"/>
                            <a:cs typeface="Arial" panose="020B0604020202020204" pitchFamily="34" charset="0"/>
                          </a:rPr>
                          <m:t>𝐹</m:t>
                        </m:r>
                      </m:e>
                      <m:sup>
                        <m:r>
                          <a:rPr lang="en-US" altLang="zh-CN" sz="2000" b="0" i="1" smtClean="0">
                            <a:latin typeface="Cambria Math" panose="02040503050406030204" pitchFamily="18" charset="0"/>
                            <a:cs typeface="Arial" panose="020B0604020202020204" pitchFamily="34" charset="0"/>
                          </a:rPr>
                          <m:t>𝑘𝑛</m:t>
                        </m:r>
                      </m:sup>
                    </m:sSup>
                  </m:oMath>
                </a14:m>
                <a:endParaRPr lang="en-US" altLang="zh-CN" sz="2000" dirty="0">
                  <a:solidFill>
                    <a:schemeClr val="accent2"/>
                  </a:solidFill>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其他的习题特征参数</a:t>
                </a:r>
                <a:r>
                  <a:rPr lang="en-US" altLang="zh-CN" sz="2000" dirty="0">
                    <a:latin typeface="Arial" panose="020B0604020202020204" pitchFamily="34" charset="0"/>
                    <a:cs typeface="Arial" panose="020B0604020202020204" pitchFamily="34" charset="0"/>
                  </a:rPr>
                  <a:t> </a:t>
                </a:r>
                <a14:m>
                  <m:oMath xmlns:m="http://schemas.openxmlformats.org/officeDocument/2006/math">
                    <m:sSup>
                      <m:sSupPr>
                        <m:ctrlPr>
                          <a:rPr lang="en-US" altLang="zh-CN" sz="2000" i="1">
                            <a:latin typeface="Cambria Math" panose="02040503050406030204" pitchFamily="18" charset="0"/>
                            <a:cs typeface="Arial" panose="020B0604020202020204" pitchFamily="34" charset="0"/>
                          </a:rPr>
                        </m:ctrlPr>
                      </m:sSupPr>
                      <m:e>
                        <m:r>
                          <a:rPr lang="en-US" altLang="zh-CN" sz="2000" i="1">
                            <a:latin typeface="Cambria Math" panose="02040503050406030204" pitchFamily="18" charset="0"/>
                            <a:cs typeface="Arial" panose="020B0604020202020204" pitchFamily="34" charset="0"/>
                          </a:rPr>
                          <m:t>𝐹</m:t>
                        </m:r>
                      </m:e>
                      <m:sup>
                        <m:r>
                          <a:rPr lang="en-US" altLang="zh-CN" sz="2000" b="0" i="1" smtClean="0">
                            <a:latin typeface="Cambria Math" panose="02040503050406030204" pitchFamily="18" charset="0"/>
                            <a:cs typeface="Arial" panose="020B0604020202020204" pitchFamily="34" charset="0"/>
                          </a:rPr>
                          <m:t>𝑜𝑡h𝑒𝑟</m:t>
                        </m:r>
                      </m:sup>
                    </m:sSup>
                  </m:oMath>
                </a14:m>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可选</a:t>
                </a:r>
                <a:r>
                  <a:rPr lang="en-US" altLang="zh-CN" sz="2000" dirty="0">
                    <a:latin typeface="Arial" panose="020B0604020202020204" pitchFamily="34" charset="0"/>
                    <a:cs typeface="Arial" panose="020B0604020202020204" pitchFamily="34" charset="0"/>
                  </a:rPr>
                  <a:t>): e.g., </a:t>
                </a:r>
                <a:r>
                  <a:rPr lang="zh-CN" altLang="en-US" sz="2000" dirty="0">
                    <a:latin typeface="Arial" panose="020B0604020202020204" pitchFamily="34" charset="0"/>
                    <a:cs typeface="Arial" panose="020B0604020202020204" pitchFamily="34" charset="0"/>
                  </a:rPr>
                  <a:t>难度</a:t>
                </a:r>
                <a:r>
                  <a:rPr lang="en-US" altLang="zh-CN" sz="2000" dirty="0">
                    <a:latin typeface="Arial" panose="020B0604020202020204" pitchFamily="34" charset="0"/>
                    <a:cs typeface="Arial" panose="020B0604020202020204" pitchFamily="34" charset="0"/>
                  </a:rPr>
                  <a:t>,</a:t>
                </a:r>
                <a:r>
                  <a:rPr lang="zh-CN" altLang="en-US" sz="2000" dirty="0">
                    <a:latin typeface="Arial" panose="020B0604020202020204" pitchFamily="34" charset="0"/>
                    <a:cs typeface="Arial" panose="020B0604020202020204" pitchFamily="34" charset="0"/>
                  </a:rPr>
                  <a:t>区分度</a:t>
                </a:r>
                <a:endParaRPr lang="en-US" altLang="zh-CN" sz="2000" dirty="0">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交互函数</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多层全连接层神经网络</a:t>
                </a:r>
                <a:endParaRPr lang="en-US" altLang="zh-CN" sz="2000" dirty="0">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输出</a:t>
                </a:r>
                <a:r>
                  <a:rPr lang="en-US" altLang="zh-CN" sz="2000" dirty="0">
                    <a:latin typeface="Arial" panose="020B0604020202020204" pitchFamily="34" charset="0"/>
                    <a:cs typeface="Arial" panose="020B0604020202020204" pitchFamily="34" charset="0"/>
                  </a:rPr>
                  <a:t>:</a:t>
                </a:r>
                <a:r>
                  <a:rPr lang="zh-CN" altLang="en-US" sz="2000" dirty="0">
                    <a:latin typeface="Arial" panose="020B0604020202020204" pitchFamily="34" charset="0"/>
                    <a:cs typeface="Arial" panose="020B0604020202020204" pitchFamily="34" charset="0"/>
                  </a:rPr>
                  <a:t>学生正确回答习题的概率</a:t>
                </a:r>
                <a:endParaRPr lang="en-US" altLang="zh-CN" sz="2000" dirty="0">
                  <a:latin typeface="Arial" panose="020B0604020202020204" pitchFamily="34" charset="0"/>
                  <a:cs typeface="Arial" panose="020B0604020202020204" pitchFamily="3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214638" y="1205962"/>
                <a:ext cx="8714232" cy="1642244"/>
              </a:xfrm>
              <a:prstGeom prst="rect">
                <a:avLst/>
              </a:prstGeom>
              <a:blipFill>
                <a:blip r:embed="rId4"/>
                <a:stretch>
                  <a:fillRect l="-629" t="-2974" b="-6320"/>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4929BC7B-9847-483C-A2E2-388AD7EB51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2028265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776181" y="512241"/>
            <a:ext cx="4965914" cy="461665"/>
          </a:xfrm>
        </p:spPr>
        <p:txBody>
          <a:bodyPr/>
          <a:lstStyle/>
          <a:p>
            <a:r>
              <a:rPr lang="en-US" altLang="zh-CN" dirty="0"/>
              <a:t>4 </a:t>
            </a:r>
            <a:r>
              <a:rPr lang="zh-CN" altLang="en-US" dirty="0"/>
              <a:t>神经认知诊断模型</a:t>
            </a:r>
          </a:p>
        </p:txBody>
      </p:sp>
      <mc:AlternateContent xmlns:mc="http://schemas.openxmlformats.org/markup-compatibility/2006" xmlns:a14="http://schemas.microsoft.com/office/drawing/2010/main">
        <mc:Choice Requires="a14">
          <p:sp>
            <p:nvSpPr>
              <p:cNvPr id="5" name="文本框 4"/>
              <p:cNvSpPr txBox="1"/>
              <p:nvPr/>
            </p:nvSpPr>
            <p:spPr>
              <a:xfrm>
                <a:off x="168306" y="1205635"/>
                <a:ext cx="4965915" cy="1490152"/>
              </a:xfrm>
              <a:prstGeom prst="rect">
                <a:avLst/>
              </a:prstGeom>
              <a:noFill/>
            </p:spPr>
            <p:txBody>
              <a:bodyPr wrap="square" rtlCol="0">
                <a:spAutoFit/>
              </a:bodyPr>
              <a:lstStyle/>
              <a:p>
                <a:pPr marL="285750" indent="-285750">
                  <a:buClr>
                    <a:srgbClr val="4472C4"/>
                  </a:buClr>
                  <a:buFont typeface="Wingdings" panose="05000000000000000000" pitchFamily="2" charset="2"/>
                  <a:buChar char="n"/>
                </a:pPr>
                <a:r>
                  <a:rPr lang="zh-CN" altLang="en-US" sz="2400" b="1" dirty="0">
                    <a:solidFill>
                      <a:prstClr val="black"/>
                    </a:solidFill>
                    <a:latin typeface="Arial" panose="020B0604020202020204" pitchFamily="34" charset="0"/>
                    <a:cs typeface="Arial" panose="020B0604020202020204" pitchFamily="34" charset="0"/>
                  </a:rPr>
                  <a:t>可解释性</a:t>
                </a:r>
                <a:endParaRPr lang="en-US" altLang="zh-CN" sz="2400" b="1" dirty="0">
                  <a:solidFill>
                    <a:prstClr val="black"/>
                  </a:solidFill>
                  <a:latin typeface="Arial" panose="020B0604020202020204" pitchFamily="34" charset="0"/>
                  <a:cs typeface="Arial" panose="020B0604020202020204" pitchFamily="34" charset="0"/>
                </a:endParaRPr>
              </a:p>
              <a:p>
                <a:pPr marL="742950" lvl="1" indent="-285750">
                  <a:buClr>
                    <a:srgbClr val="4472C4"/>
                  </a:buClr>
                  <a:buFont typeface="Wingdings" panose="05000000000000000000" pitchFamily="2" charset="2"/>
                  <a:buChar char="n"/>
                </a:pPr>
                <a14:m>
                  <m:oMath xmlns:m="http://schemas.openxmlformats.org/officeDocument/2006/math">
                    <m:sSup>
                      <m:sSupPr>
                        <m:ctrlPr>
                          <a:rPr lang="en-US" altLang="zh-CN" sz="2200" b="1" i="1" smtClean="0">
                            <a:solidFill>
                              <a:prstClr val="black"/>
                            </a:solidFill>
                            <a:latin typeface="Cambria Math" panose="02040503050406030204" pitchFamily="18" charset="0"/>
                          </a:rPr>
                        </m:ctrlPr>
                      </m:sSupPr>
                      <m:e>
                        <m:r>
                          <a:rPr lang="en-US" altLang="zh-CN" sz="2200" b="1" i="1">
                            <a:solidFill>
                              <a:prstClr val="black"/>
                            </a:solidFill>
                            <a:latin typeface="Cambria Math" panose="02040503050406030204" pitchFamily="18" charset="0"/>
                          </a:rPr>
                          <m:t>𝑭</m:t>
                        </m:r>
                      </m:e>
                      <m:sup>
                        <m:r>
                          <a:rPr lang="en-US" altLang="zh-CN" sz="2200" b="1" i="1">
                            <a:solidFill>
                              <a:prstClr val="black"/>
                            </a:solidFill>
                            <a:latin typeface="Cambria Math" panose="02040503050406030204" pitchFamily="18" charset="0"/>
                          </a:rPr>
                          <m:t>𝒔</m:t>
                        </m:r>
                      </m:sup>
                    </m:sSup>
                    <m:r>
                      <a:rPr lang="en-US" altLang="zh-CN" sz="2200" b="1" i="1">
                        <a:solidFill>
                          <a:prstClr val="black"/>
                        </a:solidFill>
                        <a:latin typeface="Cambria Math" panose="02040503050406030204" pitchFamily="18" charset="0"/>
                        <a:ea typeface="Cambria Math" panose="02040503050406030204" pitchFamily="18" charset="0"/>
                      </a:rPr>
                      <m:t>∘</m:t>
                    </m:r>
                    <m:sSup>
                      <m:sSupPr>
                        <m:ctrlPr>
                          <a:rPr lang="en-US" altLang="zh-CN" sz="2200" b="1" i="1">
                            <a:solidFill>
                              <a:prstClr val="black"/>
                            </a:solidFill>
                            <a:latin typeface="Cambria Math" panose="02040503050406030204" pitchFamily="18" charset="0"/>
                            <a:ea typeface="Cambria Math" panose="02040503050406030204" pitchFamily="18" charset="0"/>
                          </a:rPr>
                        </m:ctrlPr>
                      </m:sSupPr>
                      <m:e>
                        <m:r>
                          <a:rPr lang="en-US" altLang="zh-CN" sz="2200" b="1" i="1">
                            <a:solidFill>
                              <a:prstClr val="black"/>
                            </a:solidFill>
                            <a:latin typeface="Cambria Math" panose="02040503050406030204" pitchFamily="18" charset="0"/>
                            <a:ea typeface="Cambria Math" panose="02040503050406030204" pitchFamily="18" charset="0"/>
                          </a:rPr>
                          <m:t>𝑭</m:t>
                        </m:r>
                      </m:e>
                      <m:sup>
                        <m:r>
                          <a:rPr lang="en-US" altLang="zh-CN" sz="2200" b="1" i="1">
                            <a:solidFill>
                              <a:prstClr val="black"/>
                            </a:solidFill>
                            <a:latin typeface="Cambria Math" panose="02040503050406030204" pitchFamily="18" charset="0"/>
                            <a:ea typeface="Cambria Math" panose="02040503050406030204" pitchFamily="18" charset="0"/>
                          </a:rPr>
                          <m:t>𝒌𝒏</m:t>
                        </m:r>
                      </m:sup>
                    </m:sSup>
                  </m:oMath>
                </a14:m>
                <a:r>
                  <a:rPr lang="en-US" altLang="zh-CN" sz="2200" dirty="0">
                    <a:solidFill>
                      <a:prstClr val="black"/>
                    </a:solidFill>
                    <a:latin typeface="Times New Roman" panose="02020603050405020304" pitchFamily="18" charset="0"/>
                    <a:cs typeface="Times New Roman" panose="02020603050405020304" pitchFamily="18" charset="0"/>
                  </a:rPr>
                  <a:t>: </a:t>
                </a:r>
                <a:r>
                  <a:rPr lang="en-US" altLang="zh-CN" sz="2200" dirty="0">
                    <a:solidFill>
                      <a:prstClr val="black"/>
                    </a:solidFill>
                    <a:latin typeface="Arial" panose="020B0604020202020204" pitchFamily="34" charset="0"/>
                    <a:cs typeface="Arial" panose="020B0604020202020204" pitchFamily="34" charset="0"/>
                  </a:rPr>
                  <a:t> </a:t>
                </a:r>
                <a14:m>
                  <m:oMath xmlns:m="http://schemas.openxmlformats.org/officeDocument/2006/math">
                    <m:sSup>
                      <m:sSupPr>
                        <m:ctrlPr>
                          <a:rPr lang="en-US" altLang="zh-CN" sz="2200" i="1">
                            <a:solidFill>
                              <a:prstClr val="black"/>
                            </a:solidFill>
                            <a:latin typeface="Cambria Math" panose="02040503050406030204" pitchFamily="18" charset="0"/>
                            <a:cs typeface="Arial" panose="020B0604020202020204" pitchFamily="34" charset="0"/>
                          </a:rPr>
                        </m:ctrlPr>
                      </m:sSupPr>
                      <m:e>
                        <m:r>
                          <a:rPr lang="zh-CN" altLang="en-US" sz="2200" i="1">
                            <a:solidFill>
                              <a:prstClr val="black"/>
                            </a:solidFill>
                            <a:latin typeface="Cambria Math" panose="02040503050406030204" pitchFamily="18" charset="0"/>
                            <a:cs typeface="Arial" panose="020B0604020202020204" pitchFamily="34" charset="0"/>
                          </a:rPr>
                          <m:t>知识掌握水平向量</m:t>
                        </m:r>
                        <m:r>
                          <a:rPr lang="en-US" altLang="zh-CN" sz="2200" i="1">
                            <a:solidFill>
                              <a:prstClr val="black"/>
                            </a:solidFill>
                            <a:latin typeface="Cambria Math" panose="02040503050406030204" pitchFamily="18" charset="0"/>
                            <a:cs typeface="Arial" panose="020B0604020202020204" pitchFamily="34" charset="0"/>
                          </a:rPr>
                          <m:t>𝐹</m:t>
                        </m:r>
                      </m:e>
                      <m:sup>
                        <m:r>
                          <a:rPr lang="en-US" altLang="zh-CN" sz="2200" i="1" smtClean="0">
                            <a:solidFill>
                              <a:prstClr val="black"/>
                            </a:solidFill>
                            <a:latin typeface="Cambria Math" panose="02040503050406030204" pitchFamily="18" charset="0"/>
                            <a:cs typeface="Arial" panose="020B0604020202020204" pitchFamily="34" charset="0"/>
                          </a:rPr>
                          <m:t>𝑠</m:t>
                        </m:r>
                      </m:sup>
                    </m:sSup>
                  </m:oMath>
                </a14:m>
                <a:r>
                  <a:rPr lang="zh-CN" altLang="en-US" sz="2200" dirty="0">
                    <a:solidFill>
                      <a:prstClr val="black"/>
                    </a:solidFill>
                    <a:latin typeface="Arial" panose="020B0604020202020204" pitchFamily="34" charset="0"/>
                    <a:cs typeface="Arial" panose="020B0604020202020204" pitchFamily="34" charset="0"/>
                  </a:rPr>
                  <a:t>的每一元素对应于一个特定的知识概念</a:t>
                </a:r>
                <a:endParaRPr lang="en-US" altLang="zh-CN" sz="2200" dirty="0">
                  <a:solidFill>
                    <a:prstClr val="black"/>
                  </a:solidFill>
                  <a:latin typeface="Arial" panose="020B0604020202020204" pitchFamily="34" charset="0"/>
                  <a:cs typeface="Arial" panose="020B0604020202020204" pitchFamily="3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68306" y="1205635"/>
                <a:ext cx="4965915" cy="1490152"/>
              </a:xfrm>
              <a:prstGeom prst="rect">
                <a:avLst/>
              </a:prstGeom>
              <a:blipFill>
                <a:blip r:embed="rId3"/>
                <a:stretch>
                  <a:fillRect l="-1720" t="-4508" r="-1474" b="-6148"/>
                </a:stretch>
              </a:blipFill>
            </p:spPr>
            <p:txBody>
              <a:bodyPr/>
              <a:lstStyle/>
              <a:p>
                <a:r>
                  <a:rPr lang="zh-CN" altLang="en-US">
                    <a:noFill/>
                  </a:rPr>
                  <a:t> </a:t>
                </a:r>
              </a:p>
            </p:txBody>
          </p:sp>
        </mc:Fallback>
      </mc:AlternateContent>
      <p:grpSp>
        <p:nvGrpSpPr>
          <p:cNvPr id="6" name="组合 5"/>
          <p:cNvGrpSpPr/>
          <p:nvPr/>
        </p:nvGrpSpPr>
        <p:grpSpPr>
          <a:xfrm>
            <a:off x="1012282" y="3802360"/>
            <a:ext cx="4544499" cy="2492017"/>
            <a:chOff x="845134" y="3586050"/>
            <a:chExt cx="4544499" cy="2492017"/>
          </a:xfrm>
        </p:grpSpPr>
        <p:pic>
          <p:nvPicPr>
            <p:cNvPr id="7" name="图片 6"/>
            <p:cNvPicPr>
              <a:picLocks noChangeAspect="1"/>
            </p:cNvPicPr>
            <p:nvPr/>
          </p:nvPicPr>
          <p:blipFill>
            <a:blip r:embed="rId4"/>
            <a:stretch>
              <a:fillRect/>
            </a:stretch>
          </p:blipFill>
          <p:spPr>
            <a:xfrm>
              <a:off x="1468879" y="3586050"/>
              <a:ext cx="833796" cy="1033022"/>
            </a:xfrm>
            <a:prstGeom prst="rect">
              <a:avLst/>
            </a:prstGeom>
          </p:spPr>
        </p:pic>
        <p:pic>
          <p:nvPicPr>
            <p:cNvPr id="8" name="图片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29370" y="4467649"/>
              <a:ext cx="639394" cy="639394"/>
            </a:xfrm>
            <a:prstGeom prst="rect">
              <a:avLst/>
            </a:prstGeom>
          </p:spPr>
        </p:pic>
        <p:pic>
          <p:nvPicPr>
            <p:cNvPr id="9" name="图片 8"/>
            <p:cNvPicPr>
              <a:picLocks noChangeAspect="1"/>
            </p:cNvPicPr>
            <p:nvPr/>
          </p:nvPicPr>
          <p:blipFill rotWithShape="1">
            <a:blip r:embed="rId6"/>
            <a:srcRect l="19707" r="26602"/>
            <a:stretch/>
          </p:blipFill>
          <p:spPr>
            <a:xfrm>
              <a:off x="845134" y="5010789"/>
              <a:ext cx="1576217" cy="1067278"/>
            </a:xfrm>
            <a:prstGeom prst="rect">
              <a:avLst/>
            </a:prstGeom>
          </p:spPr>
        </p:pic>
        <mc:AlternateContent xmlns:mc="http://schemas.openxmlformats.org/markup-compatibility/2006" xmlns:a14="http://schemas.microsoft.com/office/drawing/2010/main">
          <mc:Choice Requires="a14">
            <p:sp>
              <p:nvSpPr>
                <p:cNvPr id="10" name="文本框 9"/>
                <p:cNvSpPr txBox="1"/>
                <p:nvPr/>
              </p:nvSpPr>
              <p:spPr>
                <a:xfrm>
                  <a:off x="3945844" y="4440148"/>
                  <a:ext cx="1443789" cy="6463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kern="0" dirty="0">
                      <a:solidFill>
                        <a:prstClr val="black"/>
                      </a:solidFill>
                    </a:rPr>
                    <a:t>习题</a:t>
                  </a:r>
                  <a:r>
                    <a:rPr kumimoji="0" lang="en-US" altLang="zh-CN" sz="1800" b="0" i="0" u="none" strike="noStrike" kern="0" cap="none" spc="0" normalizeH="0" baseline="0" noProof="0" dirty="0">
                      <a:ln>
                        <a:noFill/>
                      </a:ln>
                      <a:solidFill>
                        <a:prstClr val="black"/>
                      </a:solidFill>
                      <a:effectLst/>
                      <a:uLnTx/>
                      <a:uFillTx/>
                    </a:rPr>
                    <a:t> </a:t>
                  </a:r>
                  <a14:m>
                    <m:oMath xmlns:m="http://schemas.openxmlformats.org/officeDocument/2006/math">
                      <m:r>
                        <a:rPr kumimoji="0" lang="en-US" altLang="zh-CN" sz="1800" b="0" i="1" u="none" strike="noStrike" kern="0" cap="none" spc="0" normalizeH="0" baseline="0" noProof="0" dirty="0" smtClean="0">
                          <a:ln>
                            <a:noFill/>
                          </a:ln>
                          <a:solidFill>
                            <a:prstClr val="black"/>
                          </a:solidFill>
                          <a:effectLst/>
                          <a:uLnTx/>
                          <a:uFillTx/>
                          <a:latin typeface="Cambria Math" panose="02040503050406030204" pitchFamily="18" charset="0"/>
                        </a:rPr>
                        <m:t>𝑒</m:t>
                      </m:r>
                    </m:oMath>
                  </a14:m>
                  <a:endParaRPr kumimoji="0" lang="en-US" altLang="zh-CN" sz="18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lang="zh-CN" altLang="en-US" kern="0" dirty="0">
                      <a:solidFill>
                        <a:prstClr val="black"/>
                      </a:solidFill>
                    </a:rPr>
                    <a:t>知识点</a:t>
                  </a:r>
                  <a:r>
                    <a:rPr kumimoji="0" lang="en-US" altLang="zh-CN" sz="1800" b="0" i="0" u="none" strike="noStrike" kern="0" cap="none" spc="0" normalizeH="0" baseline="0" noProof="0" dirty="0">
                      <a:ln>
                        <a:noFill/>
                      </a:ln>
                      <a:solidFill>
                        <a:prstClr val="black"/>
                      </a:solidFill>
                      <a:effectLst/>
                      <a:uLnTx/>
                      <a:uFillTx/>
                    </a:rPr>
                    <a:t> </a:t>
                  </a:r>
                  <a14:m>
                    <m:oMath xmlns:m="http://schemas.openxmlformats.org/officeDocument/2006/math">
                      <m:r>
                        <a:rPr kumimoji="0" lang="en-US" altLang="zh-CN" sz="1800" b="0" i="1" u="none" strike="noStrike" kern="0" cap="none" spc="0" normalizeH="0" baseline="0" noProof="0" dirty="0" smtClean="0">
                          <a:ln>
                            <a:noFill/>
                          </a:ln>
                          <a:solidFill>
                            <a:prstClr val="black"/>
                          </a:solidFill>
                          <a:effectLst/>
                          <a:uLnTx/>
                          <a:uFillTx/>
                          <a:latin typeface="Cambria Math" panose="02040503050406030204" pitchFamily="18" charset="0"/>
                        </a:rPr>
                        <m:t>𝑘</m:t>
                      </m:r>
                    </m:oMath>
                  </a14:m>
                  <a:endParaRPr kumimoji="0" lang="zh-CN" altLang="en-US" sz="1800" b="0" i="0" u="none" strike="noStrike" kern="0" cap="none" spc="0" normalizeH="0" baseline="0" noProof="0" dirty="0">
                    <a:ln>
                      <a:noFill/>
                    </a:ln>
                    <a:solidFill>
                      <a:prstClr val="black"/>
                    </a:solidFill>
                    <a:effectLst/>
                    <a:uLnTx/>
                    <a:uFillTx/>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3945844" y="4440148"/>
                  <a:ext cx="1443789" cy="646331"/>
                </a:xfrm>
                <a:prstGeom prst="rect">
                  <a:avLst/>
                </a:prstGeom>
                <a:blipFill>
                  <a:blip r:embed="rId7"/>
                  <a:stretch>
                    <a:fillRect l="-3797" t="-8491" b="-11321"/>
                  </a:stretch>
                </a:blipFill>
              </p:spPr>
              <p:txBody>
                <a:bodyPr/>
                <a:lstStyle/>
                <a:p>
                  <a:r>
                    <a:rPr lang="zh-CN" altLang="en-US">
                      <a:noFill/>
                    </a:rPr>
                    <a:t> </a:t>
                  </a:r>
                </a:p>
              </p:txBody>
            </p:sp>
          </mc:Fallback>
        </mc:AlternateContent>
      </p:grpSp>
      <p:grpSp>
        <p:nvGrpSpPr>
          <p:cNvPr id="11" name="组合 10"/>
          <p:cNvGrpSpPr/>
          <p:nvPr/>
        </p:nvGrpSpPr>
        <p:grpSpPr>
          <a:xfrm>
            <a:off x="2655452" y="4195821"/>
            <a:ext cx="4620126" cy="736791"/>
            <a:chOff x="2488304" y="3979511"/>
            <a:chExt cx="4620126" cy="736791"/>
          </a:xfrm>
        </p:grpSpPr>
        <p:cxnSp>
          <p:nvCxnSpPr>
            <p:cNvPr id="12" name="直接箭头连接符 11"/>
            <p:cNvCxnSpPr/>
            <p:nvPr/>
          </p:nvCxnSpPr>
          <p:spPr>
            <a:xfrm>
              <a:off x="2488304" y="4172016"/>
              <a:ext cx="763146" cy="474388"/>
            </a:xfrm>
            <a:prstGeom prst="straightConnector1">
              <a:avLst/>
            </a:prstGeom>
            <a:noFill/>
            <a:ln w="38100" cap="flat" cmpd="sng" algn="ctr">
              <a:solidFill>
                <a:srgbClr val="5B9BD5"/>
              </a:solidFill>
              <a:prstDash val="solid"/>
              <a:miter lim="800000"/>
              <a:tailEnd type="triangle"/>
            </a:ln>
            <a:effectLst/>
          </p:spPr>
        </p:cxnSp>
        <p:cxnSp>
          <p:nvCxnSpPr>
            <p:cNvPr id="13" name="直接箭头连接符 12"/>
            <p:cNvCxnSpPr/>
            <p:nvPr/>
          </p:nvCxnSpPr>
          <p:spPr>
            <a:xfrm flipV="1">
              <a:off x="5328902" y="4220142"/>
              <a:ext cx="727624" cy="496160"/>
            </a:xfrm>
            <a:prstGeom prst="straightConnector1">
              <a:avLst/>
            </a:prstGeom>
            <a:noFill/>
            <a:ln w="38100" cap="flat" cmpd="sng" algn="ctr">
              <a:solidFill>
                <a:srgbClr val="5B9BD5"/>
              </a:solidFill>
              <a:prstDash val="solid"/>
              <a:miter lim="800000"/>
              <a:tailEnd type="triangle"/>
            </a:ln>
            <a:effectLst/>
          </p:spPr>
        </p:cxnSp>
        <p:sp>
          <p:nvSpPr>
            <p:cNvPr id="14" name="文本框 13"/>
            <p:cNvSpPr txBox="1"/>
            <p:nvPr/>
          </p:nvSpPr>
          <p:spPr>
            <a:xfrm>
              <a:off x="6180280" y="3979511"/>
              <a:ext cx="92815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rPr>
                <a:t>Correct</a:t>
              </a:r>
              <a:endParaRPr kumimoji="0" lang="zh-CN" altLang="en-US" sz="1800" b="0" i="0" u="none" strike="noStrike" kern="0" cap="none" spc="0" normalizeH="0" baseline="0" noProof="0" dirty="0">
                <a:ln>
                  <a:noFill/>
                </a:ln>
                <a:solidFill>
                  <a:prstClr val="black"/>
                </a:solidFill>
                <a:effectLst/>
                <a:uLnTx/>
                <a:uFillTx/>
              </a:endParaRPr>
            </a:p>
          </p:txBody>
        </p:sp>
      </p:grpSp>
      <p:grpSp>
        <p:nvGrpSpPr>
          <p:cNvPr id="15" name="组合 14"/>
          <p:cNvGrpSpPr/>
          <p:nvPr/>
        </p:nvGrpSpPr>
        <p:grpSpPr>
          <a:xfrm>
            <a:off x="2737954" y="5151472"/>
            <a:ext cx="5238893" cy="660018"/>
            <a:chOff x="2570806" y="4935162"/>
            <a:chExt cx="5238893" cy="660018"/>
          </a:xfrm>
        </p:grpSpPr>
        <p:cxnSp>
          <p:nvCxnSpPr>
            <p:cNvPr id="16" name="直接箭头连接符 15"/>
            <p:cNvCxnSpPr/>
            <p:nvPr/>
          </p:nvCxnSpPr>
          <p:spPr>
            <a:xfrm flipV="1">
              <a:off x="2570806" y="5100166"/>
              <a:ext cx="694394" cy="495014"/>
            </a:xfrm>
            <a:prstGeom prst="straightConnector1">
              <a:avLst/>
            </a:prstGeom>
            <a:noFill/>
            <a:ln w="38100" cap="flat" cmpd="sng" algn="ctr">
              <a:solidFill>
                <a:srgbClr val="ED7D31"/>
              </a:solidFill>
              <a:prstDash val="solid"/>
              <a:miter lim="800000"/>
              <a:tailEnd type="triangle"/>
            </a:ln>
            <a:effectLst/>
          </p:spPr>
        </p:cxnSp>
        <p:cxnSp>
          <p:nvCxnSpPr>
            <p:cNvPr id="17" name="直接箭头连接符 16"/>
            <p:cNvCxnSpPr/>
            <p:nvPr/>
          </p:nvCxnSpPr>
          <p:spPr>
            <a:xfrm>
              <a:off x="5389633" y="4935162"/>
              <a:ext cx="756271" cy="309383"/>
            </a:xfrm>
            <a:prstGeom prst="straightConnector1">
              <a:avLst/>
            </a:prstGeom>
            <a:noFill/>
            <a:ln w="38100" cap="flat" cmpd="sng" algn="ctr">
              <a:solidFill>
                <a:srgbClr val="ED7D31"/>
              </a:solidFill>
              <a:prstDash val="solid"/>
              <a:miter lim="800000"/>
              <a:tailEnd type="triangle"/>
            </a:ln>
            <a:effectLst/>
          </p:spPr>
        </p:cxnSp>
        <p:sp>
          <p:nvSpPr>
            <p:cNvPr id="18" name="文本框 17"/>
            <p:cNvSpPr txBox="1"/>
            <p:nvPr/>
          </p:nvSpPr>
          <p:spPr>
            <a:xfrm>
              <a:off x="6221531" y="5120792"/>
              <a:ext cx="158816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rPr>
                <a:t>P(Correct)=0.3</a:t>
              </a:r>
              <a:endParaRPr kumimoji="0" lang="zh-CN" altLang="en-US" sz="1800" b="0" i="0" u="none" strike="noStrike" kern="0" cap="none" spc="0" normalizeH="0" baseline="0" noProof="0" dirty="0">
                <a:ln>
                  <a:noFill/>
                </a:ln>
                <a:solidFill>
                  <a:prstClr val="black"/>
                </a:solidFill>
                <a:effectLst/>
                <a:uLnTx/>
                <a:uFillTx/>
              </a:endParaRPr>
            </a:p>
          </p:txBody>
        </p:sp>
      </p:grpSp>
      <p:sp>
        <p:nvSpPr>
          <p:cNvPr id="20" name="文本框 19"/>
          <p:cNvSpPr txBox="1"/>
          <p:nvPr/>
        </p:nvSpPr>
        <p:spPr>
          <a:xfrm>
            <a:off x="8004348" y="5412729"/>
            <a:ext cx="907525"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0000"/>
                </a:solidFill>
                <a:effectLst/>
                <a:uLnTx/>
                <a:uFillTx/>
              </a:rPr>
              <a:t>Too low!</a:t>
            </a:r>
            <a:endParaRPr kumimoji="0" lang="zh-CN" altLang="en-US" sz="1800" b="0" i="0" u="none" strike="noStrike" kern="0" cap="none" spc="0" normalizeH="0" baseline="0" noProof="0" dirty="0">
              <a:ln>
                <a:noFill/>
              </a:ln>
              <a:solidFill>
                <a:srgbClr val="FF0000"/>
              </a:solidFill>
              <a:effectLst/>
              <a:uLnTx/>
              <a:uFillTx/>
            </a:endParaRPr>
          </a:p>
        </p:txBody>
      </p:sp>
      <p:cxnSp>
        <p:nvCxnSpPr>
          <p:cNvPr id="21" name="肘形连接符 20"/>
          <p:cNvCxnSpPr>
            <a:stCxn id="18" idx="2"/>
          </p:cNvCxnSpPr>
          <p:nvPr/>
        </p:nvCxnSpPr>
        <p:spPr>
          <a:xfrm rot="5400000">
            <a:off x="4780640" y="3732501"/>
            <a:ext cx="428190" cy="4376057"/>
          </a:xfrm>
          <a:prstGeom prst="bentConnector2">
            <a:avLst/>
          </a:prstGeom>
          <a:noFill/>
          <a:ln w="28575" cap="flat" cmpd="sng" algn="ctr">
            <a:solidFill>
              <a:srgbClr val="FF0000"/>
            </a:solidFill>
            <a:prstDash val="sysDash"/>
            <a:miter lim="800000"/>
            <a:tailEnd type="triangle"/>
          </a:ln>
          <a:effectLst/>
        </p:spPr>
      </p:cxnSp>
      <p:sp>
        <p:nvSpPr>
          <p:cNvPr id="22" name="文本框 21"/>
          <p:cNvSpPr txBox="1"/>
          <p:nvPr/>
        </p:nvSpPr>
        <p:spPr>
          <a:xfrm>
            <a:off x="4057990" y="6210250"/>
            <a:ext cx="2426941"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kern="0" dirty="0">
                <a:solidFill>
                  <a:prstClr val="black"/>
                </a:solidFill>
              </a:rPr>
              <a:t>优化算法</a:t>
            </a:r>
            <a:endParaRPr kumimoji="0" lang="zh-CN" altLang="en-US" sz="1800" b="0" i="0" u="none" strike="noStrike" kern="0" cap="none" spc="0" normalizeH="0" baseline="0" noProof="0" dirty="0">
              <a:ln>
                <a:noFill/>
              </a:ln>
              <a:solidFill>
                <a:prstClr val="black"/>
              </a:solidFill>
              <a:effectLst/>
              <a:uLnTx/>
              <a:uFillTx/>
            </a:endParaRPr>
          </a:p>
        </p:txBody>
      </p:sp>
      <mc:AlternateContent xmlns:mc="http://schemas.openxmlformats.org/markup-compatibility/2006" xmlns:a14="http://schemas.microsoft.com/office/drawing/2010/main">
        <mc:Choice Requires="a14">
          <p:sp>
            <p:nvSpPr>
              <p:cNvPr id="23" name="文本框 22"/>
              <p:cNvSpPr txBox="1"/>
              <p:nvPr/>
            </p:nvSpPr>
            <p:spPr>
              <a:xfrm>
                <a:off x="2346067" y="6224001"/>
                <a:ext cx="790647"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kumimoji="0" lang="en-US" altLang="zh-CN" sz="1800" b="0" i="1" u="none" strike="noStrike" kern="0" cap="none" spc="0" normalizeH="0" baseline="0" noProof="0" smtClean="0">
                            <a:ln>
                              <a:noFill/>
                            </a:ln>
                            <a:solidFill>
                              <a:srgbClr val="FF0000"/>
                            </a:solidFill>
                            <a:effectLst/>
                            <a:uLnTx/>
                            <a:uFillTx/>
                            <a:latin typeface="Cambria Math" panose="02040503050406030204" pitchFamily="18" charset="0"/>
                          </a:rPr>
                        </m:ctrlPr>
                      </m:sSubSupPr>
                      <m:e>
                        <m:r>
                          <a:rPr kumimoji="0" lang="en-US" altLang="zh-CN" sz="1800" b="0" i="1" u="none" strike="noStrike" kern="0" cap="none" spc="0" normalizeH="0" baseline="0" noProof="0" smtClean="0">
                            <a:ln>
                              <a:noFill/>
                            </a:ln>
                            <a:solidFill>
                              <a:srgbClr val="FF0000"/>
                            </a:solidFill>
                            <a:effectLst/>
                            <a:uLnTx/>
                            <a:uFillTx/>
                            <a:latin typeface="Cambria Math" panose="02040503050406030204" pitchFamily="18" charset="0"/>
                          </a:rPr>
                          <m:t>𝐹</m:t>
                        </m:r>
                      </m:e>
                      <m:sub>
                        <m:r>
                          <a:rPr kumimoji="0" lang="en-US" altLang="zh-CN" sz="1800" b="0" i="1" u="none" strike="noStrike" kern="0" cap="none" spc="0" normalizeH="0" baseline="0" noProof="0" smtClean="0">
                            <a:ln>
                              <a:noFill/>
                            </a:ln>
                            <a:solidFill>
                              <a:srgbClr val="FF0000"/>
                            </a:solidFill>
                            <a:effectLst/>
                            <a:uLnTx/>
                            <a:uFillTx/>
                            <a:latin typeface="Cambria Math" panose="02040503050406030204" pitchFamily="18" charset="0"/>
                          </a:rPr>
                          <m:t>𝑘</m:t>
                        </m:r>
                      </m:sub>
                      <m:sup>
                        <m:r>
                          <a:rPr kumimoji="0" lang="en-US" altLang="zh-CN" sz="1800" b="0" i="1" u="none" strike="noStrike" kern="0" cap="none" spc="0" normalizeH="0" baseline="0" noProof="0" smtClean="0">
                            <a:ln>
                              <a:noFill/>
                            </a:ln>
                            <a:solidFill>
                              <a:srgbClr val="FF0000"/>
                            </a:solidFill>
                            <a:effectLst/>
                            <a:uLnTx/>
                            <a:uFillTx/>
                            <a:latin typeface="Cambria Math" panose="02040503050406030204" pitchFamily="18" charset="0"/>
                          </a:rPr>
                          <m:t>𝑠</m:t>
                        </m:r>
                      </m:sup>
                    </m:sSubSup>
                  </m:oMath>
                </a14:m>
                <a:r>
                  <a:rPr kumimoji="0" lang="zh-CN" altLang="en-US" sz="1800" b="0" i="0" u="none" strike="noStrike" kern="0" cap="none" spc="0" normalizeH="0" baseline="0" noProof="0" dirty="0">
                    <a:ln>
                      <a:noFill/>
                    </a:ln>
                    <a:solidFill>
                      <a:srgbClr val="FF0000"/>
                    </a:solidFill>
                    <a:effectLst/>
                    <a:uLnTx/>
                    <a:uFillTx/>
                  </a:rPr>
                  <a:t> ↑</a:t>
                </a:r>
              </a:p>
            </p:txBody>
          </p:sp>
        </mc:Choice>
        <mc:Fallback xmlns="">
          <p:sp>
            <p:nvSpPr>
              <p:cNvPr id="23" name="文本框 22"/>
              <p:cNvSpPr txBox="1">
                <a:spLocks noRot="1" noChangeAspect="1" noMove="1" noResize="1" noEditPoints="1" noAdjustHandles="1" noChangeArrowheads="1" noChangeShapeType="1" noTextEdit="1"/>
              </p:cNvSpPr>
              <p:nvPr/>
            </p:nvSpPr>
            <p:spPr>
              <a:xfrm>
                <a:off x="2346067" y="6224001"/>
                <a:ext cx="790647" cy="369332"/>
              </a:xfrm>
              <a:prstGeom prst="rect">
                <a:avLst/>
              </a:prstGeom>
              <a:blipFill rotWithShape="0">
                <a:blip r:embed="rId8"/>
                <a:stretch>
                  <a:fillRect t="-9836" b="-24590"/>
                </a:stretch>
              </a:blipFill>
            </p:spPr>
            <p:txBody>
              <a:bodyPr/>
              <a:lstStyle/>
              <a:p>
                <a:r>
                  <a:rPr lang="zh-CN" altLang="en-US">
                    <a:noFill/>
                  </a:rPr>
                  <a:t> </a:t>
                </a:r>
              </a:p>
            </p:txBody>
          </p:sp>
        </mc:Fallback>
      </mc:AlternateContent>
      <p:sp>
        <p:nvSpPr>
          <p:cNvPr id="24" name="矩形 23"/>
          <p:cNvSpPr/>
          <p:nvPr/>
        </p:nvSpPr>
        <p:spPr>
          <a:xfrm>
            <a:off x="163936" y="2625441"/>
            <a:ext cx="8866850" cy="769441"/>
          </a:xfrm>
          <a:prstGeom prst="rect">
            <a:avLst/>
          </a:prstGeom>
        </p:spPr>
        <p:txBody>
          <a:bodyPr wrap="square">
            <a:spAutoFit/>
          </a:bodyPr>
          <a:lstStyle/>
          <a:p>
            <a:pPr marL="742950" lvl="1" indent="-285750">
              <a:buClr>
                <a:srgbClr val="4472C4"/>
              </a:buClr>
              <a:buFont typeface="Wingdings" panose="05000000000000000000" pitchFamily="2" charset="2"/>
              <a:buChar char="n"/>
            </a:pPr>
            <a:r>
              <a:rPr lang="zh-CN" altLang="en-US" sz="2200" b="1" dirty="0">
                <a:solidFill>
                  <a:prstClr val="black"/>
                </a:solidFill>
                <a:latin typeface="Arial" panose="020B0604020202020204" pitchFamily="34" charset="0"/>
                <a:cs typeface="Arial" panose="020B0604020202020204" pitchFamily="34" charset="0"/>
              </a:rPr>
              <a:t>单调性假设</a:t>
            </a:r>
            <a:r>
              <a:rPr lang="en-US" altLang="zh-CN" sz="2200" dirty="0">
                <a:solidFill>
                  <a:prstClr val="black"/>
                </a:solidFill>
                <a:latin typeface="Arial" panose="020B0604020202020204" pitchFamily="34" charset="0"/>
                <a:cs typeface="Arial" panose="020B0604020202020204" pitchFamily="34" charset="0"/>
              </a:rPr>
              <a:t>: </a:t>
            </a:r>
            <a:r>
              <a:rPr lang="zh-CN" altLang="en-US" sz="2200" dirty="0">
                <a:solidFill>
                  <a:prstClr val="black"/>
                </a:solidFill>
                <a:latin typeface="Arial" panose="020B0604020202020204" pitchFamily="34" charset="0"/>
                <a:cs typeface="Arial" panose="020B0604020202020204" pitchFamily="34" charset="0"/>
              </a:rPr>
              <a:t>学生的知识掌握水平向量在任一维度上的值越高，其做对习题的概率就越大</a:t>
            </a:r>
            <a:endParaRPr lang="en-US" altLang="zh-CN" sz="2200" dirty="0">
              <a:solidFill>
                <a:srgbClr val="ED7D31">
                  <a:lumMod val="60000"/>
                  <a:lumOff val="40000"/>
                </a:srgbClr>
              </a:solidFill>
              <a:latin typeface="Times New Roman" panose="02020603050405020304" pitchFamily="18" charset="0"/>
              <a:cs typeface="Times New Roman" panose="02020603050405020304" pitchFamily="18" charset="0"/>
            </a:endParaRPr>
          </a:p>
        </p:txBody>
      </p:sp>
      <p:graphicFrame>
        <p:nvGraphicFramePr>
          <p:cNvPr id="25" name="表格 24"/>
          <p:cNvGraphicFramePr>
            <a:graphicFrameLocks noGrp="1"/>
          </p:cNvGraphicFramePr>
          <p:nvPr>
            <p:extLst>
              <p:ext uri="{D42A27DB-BD31-4B8C-83A1-F6EECF244321}">
                <p14:modId xmlns:p14="http://schemas.microsoft.com/office/powerpoint/2010/main" val="751179848"/>
              </p:ext>
            </p:extLst>
          </p:nvPr>
        </p:nvGraphicFramePr>
        <p:xfrm>
          <a:off x="5199922" y="1604114"/>
          <a:ext cx="2096070" cy="309565"/>
        </p:xfrm>
        <a:graphic>
          <a:graphicData uri="http://schemas.openxmlformats.org/drawingml/2006/table">
            <a:tbl>
              <a:tblPr firstRow="1" bandRow="1"/>
              <a:tblGrid>
                <a:gridCol w="349345">
                  <a:extLst>
                    <a:ext uri="{9D8B030D-6E8A-4147-A177-3AD203B41FA5}">
                      <a16:colId xmlns:a16="http://schemas.microsoft.com/office/drawing/2014/main" val="20000"/>
                    </a:ext>
                  </a:extLst>
                </a:gridCol>
                <a:gridCol w="349345">
                  <a:extLst>
                    <a:ext uri="{9D8B030D-6E8A-4147-A177-3AD203B41FA5}">
                      <a16:colId xmlns:a16="http://schemas.microsoft.com/office/drawing/2014/main" val="20001"/>
                    </a:ext>
                  </a:extLst>
                </a:gridCol>
                <a:gridCol w="349345">
                  <a:extLst>
                    <a:ext uri="{9D8B030D-6E8A-4147-A177-3AD203B41FA5}">
                      <a16:colId xmlns:a16="http://schemas.microsoft.com/office/drawing/2014/main" val="20002"/>
                    </a:ext>
                  </a:extLst>
                </a:gridCol>
                <a:gridCol w="349345">
                  <a:extLst>
                    <a:ext uri="{9D8B030D-6E8A-4147-A177-3AD203B41FA5}">
                      <a16:colId xmlns:a16="http://schemas.microsoft.com/office/drawing/2014/main" val="20003"/>
                    </a:ext>
                  </a:extLst>
                </a:gridCol>
                <a:gridCol w="349345">
                  <a:extLst>
                    <a:ext uri="{9D8B030D-6E8A-4147-A177-3AD203B41FA5}">
                      <a16:colId xmlns:a16="http://schemas.microsoft.com/office/drawing/2014/main" val="20004"/>
                    </a:ext>
                  </a:extLst>
                </a:gridCol>
                <a:gridCol w="349345">
                  <a:extLst>
                    <a:ext uri="{9D8B030D-6E8A-4147-A177-3AD203B41FA5}">
                      <a16:colId xmlns:a16="http://schemas.microsoft.com/office/drawing/2014/main" val="20005"/>
                    </a:ext>
                  </a:extLst>
                </a:gridCol>
              </a:tblGrid>
              <a:tr h="309565">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extLst>
                  <a:ext uri="{0D108BD9-81ED-4DB2-BD59-A6C34878D82A}">
                    <a16:rowId xmlns:a16="http://schemas.microsoft.com/office/drawing/2014/main" val="10000"/>
                  </a:ext>
                </a:extLst>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3423796572"/>
              </p:ext>
            </p:extLst>
          </p:nvPr>
        </p:nvGraphicFramePr>
        <p:xfrm>
          <a:off x="5199922" y="2193980"/>
          <a:ext cx="2096070" cy="309565"/>
        </p:xfrm>
        <a:graphic>
          <a:graphicData uri="http://schemas.openxmlformats.org/drawingml/2006/table">
            <a:tbl>
              <a:tblPr firstRow="1" bandRow="1"/>
              <a:tblGrid>
                <a:gridCol w="349345">
                  <a:extLst>
                    <a:ext uri="{9D8B030D-6E8A-4147-A177-3AD203B41FA5}">
                      <a16:colId xmlns:a16="http://schemas.microsoft.com/office/drawing/2014/main" val="20000"/>
                    </a:ext>
                  </a:extLst>
                </a:gridCol>
                <a:gridCol w="349345">
                  <a:extLst>
                    <a:ext uri="{9D8B030D-6E8A-4147-A177-3AD203B41FA5}">
                      <a16:colId xmlns:a16="http://schemas.microsoft.com/office/drawing/2014/main" val="20001"/>
                    </a:ext>
                  </a:extLst>
                </a:gridCol>
                <a:gridCol w="349345">
                  <a:extLst>
                    <a:ext uri="{9D8B030D-6E8A-4147-A177-3AD203B41FA5}">
                      <a16:colId xmlns:a16="http://schemas.microsoft.com/office/drawing/2014/main" val="20002"/>
                    </a:ext>
                  </a:extLst>
                </a:gridCol>
                <a:gridCol w="349345">
                  <a:extLst>
                    <a:ext uri="{9D8B030D-6E8A-4147-A177-3AD203B41FA5}">
                      <a16:colId xmlns:a16="http://schemas.microsoft.com/office/drawing/2014/main" val="20003"/>
                    </a:ext>
                  </a:extLst>
                </a:gridCol>
                <a:gridCol w="349345">
                  <a:extLst>
                    <a:ext uri="{9D8B030D-6E8A-4147-A177-3AD203B41FA5}">
                      <a16:colId xmlns:a16="http://schemas.microsoft.com/office/drawing/2014/main" val="20004"/>
                    </a:ext>
                  </a:extLst>
                </a:gridCol>
                <a:gridCol w="349345">
                  <a:extLst>
                    <a:ext uri="{9D8B030D-6E8A-4147-A177-3AD203B41FA5}">
                      <a16:colId xmlns:a16="http://schemas.microsoft.com/office/drawing/2014/main" val="20005"/>
                    </a:ext>
                  </a:extLst>
                </a:gridCol>
              </a:tblGrid>
              <a:tr h="309565">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zh-CN" altLang="en-US" sz="6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7" name="矩形 26"/>
              <p:cNvSpPr/>
              <p:nvPr/>
            </p:nvSpPr>
            <p:spPr>
              <a:xfrm>
                <a:off x="7228165" y="1593456"/>
                <a:ext cx="1872757"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kern="0" dirty="0">
                    <a:solidFill>
                      <a:prstClr val="black"/>
                    </a:solidFill>
                    <a:cs typeface="Arial" panose="020B0604020202020204" pitchFamily="34" charset="0"/>
                  </a:rPr>
                  <a:t>知识水平向量</a:t>
                </a:r>
                <a:r>
                  <a:rPr kumimoji="0" lang="en-US" altLang="zh-CN" sz="1800" b="0" u="none" strike="noStrike" kern="0" cap="none" spc="0" normalizeH="0" baseline="0" noProof="0" dirty="0">
                    <a:ln>
                      <a:noFill/>
                    </a:ln>
                    <a:solidFill>
                      <a:prstClr val="black"/>
                    </a:solidFill>
                    <a:effectLst/>
                    <a:uLnTx/>
                    <a:uFillTx/>
                    <a:cs typeface="Arial" panose="020B0604020202020204" pitchFamily="34" charset="0"/>
                  </a:rPr>
                  <a:t> </a:t>
                </a:r>
                <a14:m>
                  <m:oMath xmlns:m="http://schemas.openxmlformats.org/officeDocument/2006/math">
                    <m:sSup>
                      <m:sSupPr>
                        <m:ctrlPr>
                          <a:rPr kumimoji="0" lang="en-US" altLang="zh-CN" sz="1800" b="0" i="1" u="none" strike="noStrike" kern="0" cap="none" spc="0" normalizeH="0" baseline="0" noProof="0" smtClean="0">
                            <a:ln>
                              <a:noFill/>
                            </a:ln>
                            <a:solidFill>
                              <a:prstClr val="black"/>
                            </a:solidFill>
                            <a:effectLst/>
                            <a:uLnTx/>
                            <a:uFillTx/>
                            <a:latin typeface="Cambria Math" panose="02040503050406030204" pitchFamily="18" charset="0"/>
                            <a:cs typeface="Arial" panose="020B0604020202020204" pitchFamily="34" charset="0"/>
                          </a:rPr>
                        </m:ctrlPr>
                      </m:sSupPr>
                      <m:e>
                        <m:r>
                          <a:rPr kumimoji="0" lang="en-US" altLang="zh-CN" sz="1800" b="0" i="1" u="none" strike="noStrike" kern="0" cap="none" spc="0" normalizeH="0" baseline="0" noProof="0" smtClean="0">
                            <a:ln>
                              <a:noFill/>
                            </a:ln>
                            <a:solidFill>
                              <a:prstClr val="black"/>
                            </a:solidFill>
                            <a:effectLst/>
                            <a:uLnTx/>
                            <a:uFillTx/>
                            <a:latin typeface="Cambria Math" panose="02040503050406030204" pitchFamily="18" charset="0"/>
                            <a:cs typeface="Arial" panose="020B0604020202020204" pitchFamily="34" charset="0"/>
                          </a:rPr>
                          <m:t>𝐹</m:t>
                        </m:r>
                      </m:e>
                      <m:sup>
                        <m:r>
                          <a:rPr kumimoji="0" lang="en-US" altLang="zh-CN" sz="1800" b="0" i="1" u="none" strike="noStrike" kern="0" cap="none" spc="0" normalizeH="0" baseline="0" noProof="0" smtClean="0">
                            <a:ln>
                              <a:noFill/>
                            </a:ln>
                            <a:solidFill>
                              <a:prstClr val="black"/>
                            </a:solidFill>
                            <a:effectLst/>
                            <a:uLnTx/>
                            <a:uFillTx/>
                            <a:latin typeface="Cambria Math" panose="02040503050406030204" pitchFamily="18" charset="0"/>
                            <a:cs typeface="Arial" panose="020B0604020202020204" pitchFamily="34" charset="0"/>
                          </a:rPr>
                          <m:t>𝑠</m:t>
                        </m:r>
                      </m:sup>
                    </m:sSup>
                  </m:oMath>
                </a14:m>
                <a:endParaRPr kumimoji="0" lang="zh-CN" altLang="en-US" sz="1800" b="0" i="0" u="none" strike="noStrike" kern="0" cap="none" spc="0" normalizeH="0" baseline="0" noProof="0" dirty="0">
                  <a:ln>
                    <a:noFill/>
                  </a:ln>
                  <a:solidFill>
                    <a:prstClr val="black"/>
                  </a:solidFill>
                  <a:effectLst/>
                  <a:uLnTx/>
                  <a:uFillTx/>
                </a:endParaRPr>
              </a:p>
            </p:txBody>
          </p:sp>
        </mc:Choice>
        <mc:Fallback xmlns="">
          <p:sp>
            <p:nvSpPr>
              <p:cNvPr id="27" name="矩形 26"/>
              <p:cNvSpPr>
                <a:spLocks noRot="1" noChangeAspect="1" noMove="1" noResize="1" noEditPoints="1" noAdjustHandles="1" noChangeArrowheads="1" noChangeShapeType="1" noTextEdit="1"/>
              </p:cNvSpPr>
              <p:nvPr/>
            </p:nvSpPr>
            <p:spPr>
              <a:xfrm>
                <a:off x="7228165" y="1593456"/>
                <a:ext cx="1872757" cy="369332"/>
              </a:xfrm>
              <a:prstGeom prst="rect">
                <a:avLst/>
              </a:prstGeom>
              <a:blipFill>
                <a:blip r:embed="rId9"/>
                <a:stretch>
                  <a:fillRect l="-2932" t="-13115" b="-196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7223817" y="2151841"/>
                <a:ext cx="1996700" cy="37427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0" u="none" strike="noStrike" kern="0" cap="none" spc="0" normalizeH="0" baseline="0" noProof="0" dirty="0">
                    <a:ln>
                      <a:noFill/>
                    </a:ln>
                    <a:solidFill>
                      <a:prstClr val="black"/>
                    </a:solidFill>
                    <a:effectLst/>
                    <a:uLnTx/>
                    <a:uFillTx/>
                    <a:cs typeface="Arial" panose="020B0604020202020204" pitchFamily="34" charset="0"/>
                  </a:rPr>
                  <a:t>知识关联向量</a:t>
                </a:r>
                <a:r>
                  <a:rPr kumimoji="0" lang="en-US" altLang="zh-CN" sz="1800" b="0" u="none" strike="noStrike" kern="0" cap="none" spc="0" normalizeH="0" baseline="0" noProof="0" dirty="0">
                    <a:ln>
                      <a:noFill/>
                    </a:ln>
                    <a:solidFill>
                      <a:prstClr val="black"/>
                    </a:solidFill>
                    <a:effectLst/>
                    <a:uLnTx/>
                    <a:uFillTx/>
                    <a:cs typeface="Arial" panose="020B0604020202020204" pitchFamily="34" charset="0"/>
                  </a:rPr>
                  <a:t> </a:t>
                </a:r>
                <a14:m>
                  <m:oMath xmlns:m="http://schemas.openxmlformats.org/officeDocument/2006/math">
                    <m:sSup>
                      <m:sSupPr>
                        <m:ctrlPr>
                          <a:rPr kumimoji="0" lang="en-US" altLang="zh-CN" sz="1800" b="0" i="1" u="none" strike="noStrike" kern="0" cap="none" spc="0" normalizeH="0" baseline="0" noProof="0" smtClean="0">
                            <a:ln>
                              <a:noFill/>
                            </a:ln>
                            <a:solidFill>
                              <a:prstClr val="black"/>
                            </a:solidFill>
                            <a:effectLst/>
                            <a:uLnTx/>
                            <a:uFillTx/>
                            <a:latin typeface="Cambria Math" panose="02040503050406030204" pitchFamily="18" charset="0"/>
                            <a:cs typeface="Arial" panose="020B0604020202020204" pitchFamily="34" charset="0"/>
                          </a:rPr>
                        </m:ctrlPr>
                      </m:sSupPr>
                      <m:e>
                        <m:r>
                          <a:rPr kumimoji="0" lang="en-US" altLang="zh-CN" sz="1800" b="0" i="1" u="none" strike="noStrike" kern="0" cap="none" spc="0" normalizeH="0" baseline="0" noProof="0" smtClean="0">
                            <a:ln>
                              <a:noFill/>
                            </a:ln>
                            <a:solidFill>
                              <a:prstClr val="black"/>
                            </a:solidFill>
                            <a:effectLst/>
                            <a:uLnTx/>
                            <a:uFillTx/>
                            <a:latin typeface="Cambria Math" panose="02040503050406030204" pitchFamily="18" charset="0"/>
                            <a:cs typeface="Arial" panose="020B0604020202020204" pitchFamily="34" charset="0"/>
                          </a:rPr>
                          <m:t>𝐹</m:t>
                        </m:r>
                      </m:e>
                      <m:sup>
                        <m:r>
                          <a:rPr kumimoji="0" lang="en-US" altLang="zh-CN" sz="1800" b="0" i="1" u="none" strike="noStrike" kern="0" cap="none" spc="0" normalizeH="0" baseline="0" noProof="0" smtClean="0">
                            <a:ln>
                              <a:noFill/>
                            </a:ln>
                            <a:solidFill>
                              <a:prstClr val="black"/>
                            </a:solidFill>
                            <a:effectLst/>
                            <a:uLnTx/>
                            <a:uFillTx/>
                            <a:latin typeface="Cambria Math" panose="02040503050406030204" pitchFamily="18" charset="0"/>
                            <a:cs typeface="Arial" panose="020B0604020202020204" pitchFamily="34" charset="0"/>
                          </a:rPr>
                          <m:t>𝑘𝑛</m:t>
                        </m:r>
                      </m:sup>
                    </m:sSup>
                  </m:oMath>
                </a14:m>
                <a:endParaRPr kumimoji="0" lang="zh-CN" altLang="en-US" sz="1800" b="0" i="0" u="none" strike="noStrike" kern="0" cap="none" spc="0" normalizeH="0" baseline="0" noProof="0" dirty="0">
                  <a:ln>
                    <a:noFill/>
                  </a:ln>
                  <a:solidFill>
                    <a:prstClr val="black"/>
                  </a:solidFill>
                  <a:effectLst/>
                  <a:uLnTx/>
                  <a:uFillTx/>
                </a:endParaRPr>
              </a:p>
            </p:txBody>
          </p:sp>
        </mc:Choice>
        <mc:Fallback xmlns="">
          <p:sp>
            <p:nvSpPr>
              <p:cNvPr id="28" name="矩形 27"/>
              <p:cNvSpPr>
                <a:spLocks noRot="1" noChangeAspect="1" noMove="1" noResize="1" noEditPoints="1" noAdjustHandles="1" noChangeArrowheads="1" noChangeShapeType="1" noTextEdit="1"/>
              </p:cNvSpPr>
              <p:nvPr/>
            </p:nvSpPr>
            <p:spPr>
              <a:xfrm>
                <a:off x="7223817" y="2151841"/>
                <a:ext cx="1996700" cy="374270"/>
              </a:xfrm>
              <a:prstGeom prst="rect">
                <a:avLst/>
              </a:prstGeom>
              <a:blipFill>
                <a:blip r:embed="rId10"/>
                <a:stretch>
                  <a:fillRect l="-2439" t="-14754" b="-19672"/>
                </a:stretch>
              </a:blipFill>
            </p:spPr>
            <p:txBody>
              <a:bodyPr/>
              <a:lstStyle/>
              <a:p>
                <a:r>
                  <a:rPr lang="zh-CN" altLang="en-US">
                    <a:noFill/>
                  </a:rPr>
                  <a:t> </a:t>
                </a:r>
              </a:p>
            </p:txBody>
          </p:sp>
        </mc:Fallback>
      </mc:AlternateContent>
      <p:cxnSp>
        <p:nvCxnSpPr>
          <p:cNvPr id="29" name="直接箭头连接符 28"/>
          <p:cNvCxnSpPr/>
          <p:nvPr/>
        </p:nvCxnSpPr>
        <p:spPr>
          <a:xfrm>
            <a:off x="5377712" y="1902104"/>
            <a:ext cx="0" cy="280301"/>
          </a:xfrm>
          <a:prstGeom prst="straightConnector1">
            <a:avLst/>
          </a:prstGeom>
          <a:noFill/>
          <a:ln w="38100" cap="flat" cmpd="sng" algn="ctr">
            <a:solidFill>
              <a:srgbClr val="FF0000"/>
            </a:solidFill>
            <a:prstDash val="solid"/>
            <a:miter lim="800000"/>
            <a:tailEnd type="triangle"/>
          </a:ln>
          <a:effectLst/>
        </p:spPr>
      </p:cxnSp>
      <p:cxnSp>
        <p:nvCxnSpPr>
          <p:cNvPr id="30" name="直接箭头连接符 29"/>
          <p:cNvCxnSpPr/>
          <p:nvPr/>
        </p:nvCxnSpPr>
        <p:spPr>
          <a:xfrm>
            <a:off x="5726882" y="1902103"/>
            <a:ext cx="0" cy="280301"/>
          </a:xfrm>
          <a:prstGeom prst="straightConnector1">
            <a:avLst/>
          </a:prstGeom>
          <a:noFill/>
          <a:ln w="38100" cap="flat" cmpd="sng" algn="ctr">
            <a:solidFill>
              <a:srgbClr val="FF0000"/>
            </a:solidFill>
            <a:prstDash val="solid"/>
            <a:miter lim="800000"/>
            <a:tailEnd type="triangle"/>
          </a:ln>
          <a:effectLst/>
        </p:spPr>
      </p:cxnSp>
      <p:cxnSp>
        <p:nvCxnSpPr>
          <p:cNvPr id="31" name="直接箭头连接符 30"/>
          <p:cNvCxnSpPr/>
          <p:nvPr/>
        </p:nvCxnSpPr>
        <p:spPr>
          <a:xfrm>
            <a:off x="6068474" y="1911857"/>
            <a:ext cx="0" cy="280301"/>
          </a:xfrm>
          <a:prstGeom prst="straightConnector1">
            <a:avLst/>
          </a:prstGeom>
          <a:noFill/>
          <a:ln w="38100" cap="flat" cmpd="sng" algn="ctr">
            <a:solidFill>
              <a:srgbClr val="FF0000"/>
            </a:solidFill>
            <a:prstDash val="solid"/>
            <a:miter lim="800000"/>
            <a:tailEnd type="triangle"/>
          </a:ln>
          <a:effectLst/>
        </p:spPr>
      </p:cxnSp>
      <p:cxnSp>
        <p:nvCxnSpPr>
          <p:cNvPr id="32" name="直接箭头连接符 31"/>
          <p:cNvCxnSpPr/>
          <p:nvPr/>
        </p:nvCxnSpPr>
        <p:spPr>
          <a:xfrm>
            <a:off x="6419919" y="1902104"/>
            <a:ext cx="0" cy="280301"/>
          </a:xfrm>
          <a:prstGeom prst="straightConnector1">
            <a:avLst/>
          </a:prstGeom>
          <a:noFill/>
          <a:ln w="38100" cap="flat" cmpd="sng" algn="ctr">
            <a:solidFill>
              <a:srgbClr val="FF0000"/>
            </a:solidFill>
            <a:prstDash val="solid"/>
            <a:miter lim="800000"/>
            <a:tailEnd type="triangle"/>
          </a:ln>
          <a:effectLst/>
        </p:spPr>
      </p:cxnSp>
      <p:cxnSp>
        <p:nvCxnSpPr>
          <p:cNvPr id="33" name="直接箭头连接符 32"/>
          <p:cNvCxnSpPr/>
          <p:nvPr/>
        </p:nvCxnSpPr>
        <p:spPr>
          <a:xfrm>
            <a:off x="6768604" y="1911857"/>
            <a:ext cx="0" cy="280301"/>
          </a:xfrm>
          <a:prstGeom prst="straightConnector1">
            <a:avLst/>
          </a:prstGeom>
          <a:noFill/>
          <a:ln w="38100" cap="flat" cmpd="sng" algn="ctr">
            <a:solidFill>
              <a:srgbClr val="FF0000"/>
            </a:solidFill>
            <a:prstDash val="solid"/>
            <a:miter lim="800000"/>
            <a:tailEnd type="triangle"/>
          </a:ln>
          <a:effectLst/>
        </p:spPr>
      </p:cxnSp>
      <p:cxnSp>
        <p:nvCxnSpPr>
          <p:cNvPr id="34" name="直接箭头连接符 33"/>
          <p:cNvCxnSpPr/>
          <p:nvPr/>
        </p:nvCxnSpPr>
        <p:spPr>
          <a:xfrm>
            <a:off x="7104269" y="1911857"/>
            <a:ext cx="0" cy="280301"/>
          </a:xfrm>
          <a:prstGeom prst="straightConnector1">
            <a:avLst/>
          </a:prstGeom>
          <a:noFill/>
          <a:ln w="38100" cap="flat" cmpd="sng" algn="ctr">
            <a:solidFill>
              <a:srgbClr val="FF0000"/>
            </a:solidFill>
            <a:prstDash val="solid"/>
            <a:miter lim="800000"/>
            <a:tailEnd type="triangle"/>
          </a:ln>
          <a:effectLst/>
        </p:spPr>
      </p:cxnSp>
      <p:sp>
        <p:nvSpPr>
          <p:cNvPr id="36" name="矩形标注 35"/>
          <p:cNvSpPr/>
          <p:nvPr/>
        </p:nvSpPr>
        <p:spPr>
          <a:xfrm>
            <a:off x="7226090" y="3237873"/>
            <a:ext cx="1476536" cy="885502"/>
          </a:xfrm>
          <a:prstGeom prst="wedgeRectCallout">
            <a:avLst>
              <a:gd name="adj1" fmla="val -75029"/>
              <a:gd name="adj2" fmla="val -65599"/>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b="1" kern="0" dirty="0">
                <a:solidFill>
                  <a:prstClr val="white"/>
                </a:solidFill>
                <a:latin typeface="Calibri"/>
                <a:ea typeface="宋体" panose="02010600030101010101" pitchFamily="2" charset="-122"/>
              </a:rPr>
              <a:t>教育心理学假设</a:t>
            </a:r>
            <a:endParaRPr kumimoji="0" lang="zh-CN" altLang="en-US" sz="1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pic>
        <p:nvPicPr>
          <p:cNvPr id="35" name="图片 34">
            <a:extLst>
              <a:ext uri="{FF2B5EF4-FFF2-40B4-BE49-F238E27FC236}">
                <a16:creationId xmlns:a16="http://schemas.microsoft.com/office/drawing/2014/main" id="{6D4103EF-DE17-465F-9A0F-DD55B270A5B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133648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1000"/>
                                        <p:tgtEl>
                                          <p:spTgt spid="1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1000"/>
                                        <p:tgtEl>
                                          <p:spTgt spid="15"/>
                                        </p:tgtEl>
                                      </p:cBhvr>
                                    </p:animEffect>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wipe(right)">
                                      <p:cBhvr>
                                        <p:cTn id="26" dur="500"/>
                                        <p:tgtEl>
                                          <p:spTgt spid="23"/>
                                        </p:tgtEl>
                                      </p:cBhvr>
                                    </p:animEffect>
                                  </p:childTnLst>
                                </p:cTn>
                              </p:par>
                              <p:par>
                                <p:cTn id="27" presetID="22" presetClass="entr" presetSubtype="2"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right)">
                                      <p:cBhvr>
                                        <p:cTn id="29" dur="500"/>
                                        <p:tgtEl>
                                          <p:spTgt spid="21"/>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right)">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4 </a:t>
            </a:r>
            <a:r>
              <a:rPr lang="zh-CN" altLang="en-US" dirty="0"/>
              <a:t>神经认知诊断模型</a:t>
            </a:r>
          </a:p>
        </p:txBody>
      </p:sp>
      <p:pic>
        <p:nvPicPr>
          <p:cNvPr id="3" name="图片 2"/>
          <p:cNvPicPr>
            <a:picLocks noChangeAspect="1"/>
          </p:cNvPicPr>
          <p:nvPr/>
        </p:nvPicPr>
        <p:blipFill>
          <a:blip r:embed="rId3"/>
          <a:stretch>
            <a:fillRect/>
          </a:stretch>
        </p:blipFill>
        <p:spPr>
          <a:xfrm>
            <a:off x="356616" y="2253100"/>
            <a:ext cx="5118439" cy="4035496"/>
          </a:xfrm>
          <a:prstGeom prst="rect">
            <a:avLst/>
          </a:prstGeom>
        </p:spPr>
      </p:pic>
      <p:sp>
        <p:nvSpPr>
          <p:cNvPr id="4" name="文本框 3"/>
          <p:cNvSpPr txBox="1"/>
          <p:nvPr/>
        </p:nvSpPr>
        <p:spPr>
          <a:xfrm>
            <a:off x="283464" y="1304285"/>
            <a:ext cx="8714232" cy="400110"/>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en-US" altLang="zh-CN" sz="2000" b="1" dirty="0">
                <a:latin typeface="Arial" panose="020B0604020202020204" pitchFamily="34" charset="0"/>
                <a:cs typeface="Arial" panose="020B0604020202020204" pitchFamily="34" charset="0"/>
              </a:rPr>
              <a:t> </a:t>
            </a:r>
            <a:r>
              <a:rPr lang="zh-CN" altLang="en-US" sz="2000" b="1" dirty="0">
                <a:latin typeface="Arial" panose="020B0604020202020204" pitchFamily="34" charset="0"/>
                <a:cs typeface="Arial" panose="020B0604020202020204" pitchFamily="34" charset="0"/>
              </a:rPr>
              <a:t>实现方式</a:t>
            </a:r>
            <a:r>
              <a:rPr lang="en-US" altLang="zh-CN" sz="2000" b="1" dirty="0">
                <a:latin typeface="Arial" panose="020B0604020202020204" pitchFamily="34" charset="0"/>
                <a:cs typeface="Arial" panose="020B0604020202020204" pitchFamily="34" charset="0"/>
              </a:rPr>
              <a:t>1-</a:t>
            </a:r>
            <a:r>
              <a:rPr lang="zh-CN" altLang="en-US" sz="2000" b="1" dirty="0">
                <a:latin typeface="Arial" panose="020B0604020202020204" pitchFamily="34" charset="0"/>
                <a:cs typeface="Arial" panose="020B0604020202020204" pitchFamily="34" charset="0"/>
              </a:rPr>
              <a:t>基于</a:t>
            </a:r>
            <a:r>
              <a:rPr lang="en-US" altLang="zh-CN" sz="2000" b="1" dirty="0">
                <a:latin typeface="Arial" panose="020B0604020202020204" pitchFamily="34" charset="0"/>
                <a:cs typeface="Arial" panose="020B0604020202020204" pitchFamily="34" charset="0"/>
              </a:rPr>
              <a:t>Q-</a:t>
            </a:r>
            <a:r>
              <a:rPr lang="zh-CN" altLang="en-US" sz="2000" b="1" dirty="0">
                <a:latin typeface="Arial" panose="020B0604020202020204" pitchFamily="34" charset="0"/>
                <a:cs typeface="Arial" panose="020B0604020202020204" pitchFamily="34" charset="0"/>
              </a:rPr>
              <a:t>矩阵的实现</a:t>
            </a:r>
            <a:endParaRPr lang="en-US" altLang="zh-CN" sz="2000" b="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5" name="圆角矩形 4"/>
          <p:cNvSpPr/>
          <p:nvPr/>
        </p:nvSpPr>
        <p:spPr>
          <a:xfrm>
            <a:off x="282363" y="3922776"/>
            <a:ext cx="5192692" cy="107899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5879819" y="3904552"/>
            <a:ext cx="2981710" cy="2325883"/>
            <a:chOff x="5879819" y="3904552"/>
            <a:chExt cx="2981710" cy="2325883"/>
          </a:xfrm>
        </p:grpSpPr>
        <p:sp>
          <p:nvSpPr>
            <p:cNvPr id="31" name="矩形 30"/>
            <p:cNvSpPr/>
            <p:nvPr/>
          </p:nvSpPr>
          <p:spPr>
            <a:xfrm>
              <a:off x="6035267" y="4547442"/>
              <a:ext cx="1005840" cy="290347"/>
            </a:xfrm>
            <a:prstGeom prst="rect">
              <a:avLst/>
            </a:prstGeom>
            <a:solidFill>
              <a:srgbClr val="F298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044411" y="5126289"/>
              <a:ext cx="1005840" cy="290347"/>
            </a:xfrm>
            <a:prstGeom prst="rect">
              <a:avLst/>
            </a:prstGeom>
            <a:solidFill>
              <a:srgbClr val="F298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5879819" y="3904552"/>
              <a:ext cx="1874520" cy="400110"/>
            </a:xfrm>
            <a:prstGeom prst="rect">
              <a:avLst/>
            </a:prstGeom>
            <a:noFill/>
          </p:spPr>
          <p:txBody>
            <a:bodyPr wrap="square" rtlCol="0">
              <a:spAutoFit/>
            </a:bodyPr>
            <a:lstStyle/>
            <a:p>
              <a:r>
                <a:rPr lang="zh-CN" altLang="en-US" sz="2000" dirty="0">
                  <a:latin typeface="Arial" panose="020B0604020202020204" pitchFamily="34" charset="0"/>
                  <a:cs typeface="Arial" panose="020B0604020202020204" pitchFamily="34" charset="0"/>
                </a:rPr>
                <a:t>输入层</a:t>
              </a:r>
              <a:r>
                <a:rPr lang="en-US" altLang="zh-CN" sz="2000" dirty="0">
                  <a:latin typeface="Arial" panose="020B0604020202020204" pitchFamily="34" charset="0"/>
                  <a:cs typeface="Arial" panose="020B0604020202020204" pitchFamily="34" charset="0"/>
                </a:rPr>
                <a:t>: </a:t>
              </a:r>
              <a:endParaRPr lang="zh-CN" alt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4" name="文本框 33"/>
                <p:cNvSpPr txBox="1"/>
                <p:nvPr/>
              </p:nvSpPr>
              <p:spPr>
                <a:xfrm>
                  <a:off x="6044411" y="4517084"/>
                  <a:ext cx="2817118" cy="3177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1" i="1" smtClean="0">
                                <a:latin typeface="Cambria Math" panose="02040503050406030204" pitchFamily="18" charset="0"/>
                              </a:rPr>
                              <m:t>𝑸</m:t>
                            </m:r>
                          </m:e>
                          <m:sub>
                            <m:r>
                              <a:rPr lang="en-US" altLang="zh-CN" sz="2000" b="0" i="1" smtClean="0">
                                <a:latin typeface="Cambria Math" panose="02040503050406030204" pitchFamily="18" charset="0"/>
                              </a:rPr>
                              <m:t>𝑒</m:t>
                            </m:r>
                          </m:sub>
                        </m:sSub>
                        <m:r>
                          <a:rPr lang="en-US" altLang="zh-CN" sz="2000" b="1"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m:t>
                        </m:r>
                        <m:sSup>
                          <m:sSupPr>
                            <m:ctrlPr>
                              <a:rPr lang="en-US" altLang="zh-CN" sz="2000" i="1" smtClean="0">
                                <a:latin typeface="Cambria Math" panose="02040503050406030204" pitchFamily="18" charset="0"/>
                                <a:ea typeface="Cambria Math" panose="02040503050406030204" pitchFamily="18" charset="0"/>
                              </a:rPr>
                            </m:ctrlPr>
                          </m:sSupPr>
                          <m:e>
                            <m:r>
                              <a:rPr lang="en-US" altLang="zh-CN" sz="2000" b="1" i="1" smtClean="0">
                                <a:latin typeface="Cambria Math" panose="02040503050406030204" pitchFamily="18" charset="0"/>
                                <a:ea typeface="Cambria Math" panose="02040503050406030204" pitchFamily="18" charset="0"/>
                              </a:rPr>
                              <m:t>𝒉</m:t>
                            </m:r>
                          </m:e>
                          <m:sup>
                            <m:r>
                              <a:rPr lang="en-US" altLang="zh-CN" sz="2000" b="0" i="1" smtClean="0">
                                <a:latin typeface="Cambria Math" panose="02040503050406030204" pitchFamily="18" charset="0"/>
                                <a:ea typeface="Cambria Math" panose="02040503050406030204" pitchFamily="18" charset="0"/>
                              </a:rPr>
                              <m:t>𝑠</m:t>
                            </m:r>
                          </m:sup>
                        </m:sSup>
                        <m:r>
                          <a:rPr lang="en-US" altLang="zh-CN" sz="2000" b="0" i="1" smtClean="0">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Cambria Math" panose="02040503050406030204" pitchFamily="18" charset="0"/>
                              </a:rPr>
                            </m:ctrlPr>
                          </m:sSupPr>
                          <m:e>
                            <m:r>
                              <a:rPr lang="en-US" altLang="zh-CN" sz="2000" b="1" i="1">
                                <a:latin typeface="Cambria Math" panose="02040503050406030204" pitchFamily="18" charset="0"/>
                                <a:ea typeface="Cambria Math" panose="02040503050406030204" pitchFamily="18" charset="0"/>
                              </a:rPr>
                              <m:t>𝒉</m:t>
                            </m:r>
                          </m:e>
                          <m:sup>
                            <m:r>
                              <a:rPr lang="en-US" altLang="zh-CN" sz="2000" b="0" i="1" smtClean="0">
                                <a:latin typeface="Cambria Math" panose="02040503050406030204" pitchFamily="18" charset="0"/>
                                <a:ea typeface="Cambria Math" panose="02040503050406030204" pitchFamily="18" charset="0"/>
                              </a:rPr>
                              <m:t>𝑑𝑖𝑓𝑓</m:t>
                            </m:r>
                          </m:sup>
                        </m:sSup>
                        <m:r>
                          <a:rPr lang="en-US" altLang="zh-CN" sz="2000" b="0" i="1" smtClean="0">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Cambria Math" panose="02040503050406030204" pitchFamily="18" charset="0"/>
                              </a:rPr>
                            </m:ctrlPr>
                          </m:sSupPr>
                          <m:e>
                            <m:r>
                              <a:rPr lang="en-US" altLang="zh-CN" sz="2000" b="0" i="1">
                                <a:latin typeface="Cambria Math" panose="02040503050406030204" pitchFamily="18" charset="0"/>
                                <a:ea typeface="Cambria Math" panose="02040503050406030204" pitchFamily="18" charset="0"/>
                              </a:rPr>
                              <m:t>h</m:t>
                            </m:r>
                          </m:e>
                          <m:sup>
                            <m:r>
                              <a:rPr lang="en-US" altLang="zh-CN" sz="2000" b="0" i="1" smtClean="0">
                                <a:latin typeface="Cambria Math" panose="02040503050406030204" pitchFamily="18" charset="0"/>
                                <a:ea typeface="Cambria Math" panose="02040503050406030204" pitchFamily="18" charset="0"/>
                              </a:rPr>
                              <m:t>𝑑𝑖𝑠𝑐</m:t>
                            </m:r>
                          </m:sup>
                        </m:sSup>
                      </m:oMath>
                    </m:oMathPara>
                  </a14:m>
                  <a:endParaRPr lang="zh-CN" altLang="en-US" sz="20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6044411" y="4517084"/>
                  <a:ext cx="2817118" cy="317779"/>
                </a:xfrm>
                <a:prstGeom prst="rect">
                  <a:avLst/>
                </a:prstGeom>
                <a:blipFill rotWithShape="0">
                  <a:blip r:embed="rId4"/>
                  <a:stretch>
                    <a:fillRect l="-2381" t="-3846" r="-216" b="-3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5987831" y="5065574"/>
                  <a:ext cx="1158522" cy="4056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sz="2000" b="1" i="1">
                                <a:latin typeface="Cambria Math" panose="02040503050406030204" pitchFamily="18" charset="0"/>
                                <a:ea typeface="Cambria Math" panose="02040503050406030204" pitchFamily="18" charset="0"/>
                              </a:rPr>
                            </m:ctrlPr>
                          </m:sSupPr>
                          <m:e>
                            <m:r>
                              <a:rPr lang="en-US" altLang="zh-CN" sz="2000" b="1" i="1">
                                <a:latin typeface="Cambria Math" panose="02040503050406030204" pitchFamily="18" charset="0"/>
                                <a:ea typeface="Cambria Math" panose="02040503050406030204" pitchFamily="18" charset="0"/>
                              </a:rPr>
                              <m:t>𝑭</m:t>
                            </m:r>
                          </m:e>
                          <m:sup>
                            <m:r>
                              <a:rPr lang="en-US" altLang="zh-CN" sz="2000" i="1">
                                <a:latin typeface="Cambria Math" panose="02040503050406030204" pitchFamily="18" charset="0"/>
                                <a:ea typeface="Cambria Math" panose="02040503050406030204" pitchFamily="18" charset="0"/>
                              </a:rPr>
                              <m:t>𝑘𝑛</m:t>
                            </m:r>
                          </m:sup>
                        </m:sSup>
                        <m:r>
                          <a:rPr lang="en-US" altLang="zh-CN" sz="2000" b="1" i="1">
                            <a:latin typeface="Cambria Math" panose="02040503050406030204" pitchFamily="18" charset="0"/>
                            <a:ea typeface="Cambria Math" panose="02040503050406030204" pitchFamily="18" charset="0"/>
                          </a:rPr>
                          <m:t>∘</m:t>
                        </m:r>
                        <m:sSup>
                          <m:sSupPr>
                            <m:ctrlPr>
                              <a:rPr lang="en-US" altLang="zh-CN" sz="2000" b="1" i="1">
                                <a:latin typeface="Cambria Math" panose="02040503050406030204" pitchFamily="18" charset="0"/>
                              </a:rPr>
                            </m:ctrlPr>
                          </m:sSupPr>
                          <m:e>
                            <m:r>
                              <a:rPr lang="en-US" altLang="zh-CN" sz="2000" b="1" i="1">
                                <a:latin typeface="Cambria Math" panose="02040503050406030204" pitchFamily="18" charset="0"/>
                              </a:rPr>
                              <m:t>𝑭</m:t>
                            </m:r>
                          </m:e>
                          <m:sup>
                            <m:r>
                              <a:rPr lang="en-US" altLang="zh-CN" sz="2000" i="1">
                                <a:latin typeface="Cambria Math" panose="02040503050406030204" pitchFamily="18" charset="0"/>
                              </a:rPr>
                              <m:t>𝑠</m:t>
                            </m:r>
                          </m:sup>
                        </m:sSup>
                      </m:oMath>
                    </m:oMathPara>
                  </a14:m>
                  <a:endParaRPr lang="zh-CN" altLang="en-US" sz="2000" dirty="0"/>
                </a:p>
              </p:txBody>
            </p:sp>
          </mc:Choice>
          <mc:Fallback xmlns="">
            <p:sp>
              <p:nvSpPr>
                <p:cNvPr id="11" name="矩形 10"/>
                <p:cNvSpPr>
                  <a:spLocks noRot="1" noChangeAspect="1" noMove="1" noResize="1" noEditPoints="1" noAdjustHandles="1" noChangeArrowheads="1" noChangeShapeType="1" noTextEdit="1"/>
                </p:cNvSpPr>
                <p:nvPr/>
              </p:nvSpPr>
              <p:spPr>
                <a:xfrm>
                  <a:off x="5987831" y="5065574"/>
                  <a:ext cx="1158522" cy="405624"/>
                </a:xfrm>
                <a:prstGeom prst="rect">
                  <a:avLst/>
                </a:prstGeom>
                <a:blipFill rotWithShape="0">
                  <a:blip r:embed="rId5"/>
                  <a:stretch>
                    <a:fillRect/>
                  </a:stretch>
                </a:blipFill>
              </p:spPr>
              <p:txBody>
                <a:bodyPr/>
                <a:lstStyle/>
                <a:p>
                  <a:r>
                    <a:rPr lang="zh-CN" altLang="en-US">
                      <a:noFill/>
                    </a:rPr>
                    <a:t> </a:t>
                  </a:r>
                </a:p>
              </p:txBody>
            </p:sp>
          </mc:Fallback>
        </mc:AlternateContent>
        <p:cxnSp>
          <p:nvCxnSpPr>
            <p:cNvPr id="36" name="直接箭头连接符 35"/>
            <p:cNvCxnSpPr/>
            <p:nvPr/>
          </p:nvCxnSpPr>
          <p:spPr>
            <a:xfrm flipV="1">
              <a:off x="6209003" y="4834864"/>
              <a:ext cx="0" cy="29142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7" name="文本框 36"/>
            <p:cNvSpPr txBox="1"/>
            <p:nvPr/>
          </p:nvSpPr>
          <p:spPr>
            <a:xfrm>
              <a:off x="5906675" y="5861103"/>
              <a:ext cx="2459736" cy="369332"/>
            </a:xfrm>
            <a:prstGeom prst="rect">
              <a:avLst/>
            </a:prstGeom>
            <a:noFill/>
          </p:spPr>
          <p:txBody>
            <a:bodyPr wrap="square" rtlCol="0">
              <a:spAutoFit/>
            </a:bodyPr>
            <a:lstStyle/>
            <a:p>
              <a:r>
                <a:rPr lang="zh-CN" altLang="en-US" dirty="0">
                  <a:latin typeface="Arial" panose="020B0604020202020204" pitchFamily="34" charset="0"/>
                  <a:cs typeface="Arial" panose="020B0604020202020204" pitchFamily="34" charset="0"/>
                </a:rPr>
                <a:t>直接来源于</a:t>
              </a:r>
              <a:r>
                <a:rPr lang="en-US" altLang="zh-CN" dirty="0">
                  <a:latin typeface="Arial" panose="020B0604020202020204" pitchFamily="34" charset="0"/>
                  <a:cs typeface="Arial" panose="020B0604020202020204" pitchFamily="34" charset="0"/>
                </a:rPr>
                <a:t>Q-</a:t>
              </a:r>
              <a:r>
                <a:rPr lang="zh-CN" altLang="en-US" dirty="0">
                  <a:latin typeface="Arial" panose="020B0604020202020204" pitchFamily="34" charset="0"/>
                  <a:cs typeface="Arial" panose="020B0604020202020204" pitchFamily="34" charset="0"/>
                </a:rPr>
                <a:t>矩阵</a:t>
              </a:r>
            </a:p>
          </p:txBody>
        </p:sp>
        <p:cxnSp>
          <p:nvCxnSpPr>
            <p:cNvPr id="38" name="直接箭头连接符 37"/>
            <p:cNvCxnSpPr/>
            <p:nvPr/>
          </p:nvCxnSpPr>
          <p:spPr>
            <a:xfrm flipV="1">
              <a:off x="6209003" y="5471198"/>
              <a:ext cx="0" cy="38990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cxnSp>
        <p:nvCxnSpPr>
          <p:cNvPr id="40" name="直接箭头连接符 39"/>
          <p:cNvCxnSpPr/>
          <p:nvPr/>
        </p:nvCxnSpPr>
        <p:spPr>
          <a:xfrm flipV="1">
            <a:off x="6818603" y="4834863"/>
            <a:ext cx="0" cy="29142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pic>
        <p:nvPicPr>
          <p:cNvPr id="16" name="图片 15">
            <a:extLst>
              <a:ext uri="{FF2B5EF4-FFF2-40B4-BE49-F238E27FC236}">
                <a16:creationId xmlns:a16="http://schemas.microsoft.com/office/drawing/2014/main" id="{6817F765-562C-4FDF-9880-64C3260255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3816560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5925312" y="3739913"/>
            <a:ext cx="2953512" cy="345229"/>
          </a:xfrm>
          <a:prstGeom prst="rect">
            <a:avLst/>
          </a:prstGeom>
          <a:solidFill>
            <a:srgbClr val="F298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071616" y="3146684"/>
            <a:ext cx="1911096" cy="366404"/>
          </a:xfrm>
          <a:prstGeom prst="rect">
            <a:avLst/>
          </a:prstGeom>
          <a:solidFill>
            <a:srgbClr val="F298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a:spLocks noGrp="1"/>
          </p:cNvSpPr>
          <p:nvPr>
            <p:ph type="body" sz="quarter" idx="10"/>
          </p:nvPr>
        </p:nvSpPr>
        <p:spPr/>
        <p:txBody>
          <a:bodyPr/>
          <a:lstStyle/>
          <a:p>
            <a:r>
              <a:rPr lang="en-US" altLang="zh-CN" dirty="0"/>
              <a:t>4 </a:t>
            </a:r>
            <a:r>
              <a:rPr lang="zh-CN" altLang="en-US" dirty="0"/>
              <a:t>神经认知诊断模型</a:t>
            </a:r>
          </a:p>
        </p:txBody>
      </p:sp>
      <p:pic>
        <p:nvPicPr>
          <p:cNvPr id="3" name="图片 2"/>
          <p:cNvPicPr>
            <a:picLocks noChangeAspect="1"/>
          </p:cNvPicPr>
          <p:nvPr/>
        </p:nvPicPr>
        <p:blipFill>
          <a:blip r:embed="rId3"/>
          <a:stretch>
            <a:fillRect/>
          </a:stretch>
        </p:blipFill>
        <p:spPr>
          <a:xfrm>
            <a:off x="356616" y="2253100"/>
            <a:ext cx="5118439" cy="4035496"/>
          </a:xfrm>
          <a:prstGeom prst="rect">
            <a:avLst/>
          </a:prstGeom>
        </p:spPr>
      </p:pic>
      <p:sp>
        <p:nvSpPr>
          <p:cNvPr id="5" name="圆角矩形 4"/>
          <p:cNvSpPr/>
          <p:nvPr/>
        </p:nvSpPr>
        <p:spPr>
          <a:xfrm>
            <a:off x="314368" y="2897535"/>
            <a:ext cx="5160687" cy="107899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687568" y="2497425"/>
            <a:ext cx="2916936" cy="1015663"/>
          </a:xfrm>
          <a:prstGeom prst="rect">
            <a:avLst/>
          </a:prstGeom>
          <a:noFill/>
        </p:spPr>
        <p:txBody>
          <a:bodyPr wrap="square" rtlCol="0">
            <a:spAutoFit/>
          </a:bodyPr>
          <a:lstStyle/>
          <a:p>
            <a:r>
              <a:rPr lang="zh-CN" altLang="en-US" sz="2000" dirty="0">
                <a:latin typeface="Arial" panose="020B0604020202020204" pitchFamily="34" charset="0"/>
                <a:cs typeface="Arial" panose="020B0604020202020204" pitchFamily="34" charset="0"/>
              </a:rPr>
              <a:t>隐藏层</a:t>
            </a:r>
            <a:r>
              <a:rPr lang="en-US" altLang="zh-CN" sz="2000" dirty="0">
                <a:latin typeface="Arial" panose="020B0604020202020204" pitchFamily="34" charset="0"/>
                <a:cs typeface="Arial" panose="020B0604020202020204" pitchFamily="34" charset="0"/>
              </a:rPr>
              <a:t> : </a:t>
            </a:r>
          </a:p>
          <a:p>
            <a:pPr marL="342900" indent="-342900">
              <a:buFont typeface="Arial" panose="020B0604020202020204" pitchFamily="34" charset="0"/>
              <a:buChar char="•"/>
            </a:pPr>
            <a:r>
              <a:rPr lang="zh-CN" altLang="en-US" sz="2000" dirty="0">
                <a:latin typeface="Arial" panose="020B0604020202020204" pitchFamily="34" charset="0"/>
                <a:cs typeface="Arial" panose="020B0604020202020204" pitchFamily="34" charset="0"/>
              </a:rPr>
              <a:t>全连接层</a:t>
            </a:r>
            <a:endParaRPr lang="en-US" altLang="zh-C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zh-CN" altLang="en-US" sz="2000" dirty="0">
                <a:latin typeface="Arial" panose="020B0604020202020204" pitchFamily="34" charset="0"/>
                <a:cs typeface="Arial" panose="020B0604020202020204" pitchFamily="34" charset="0"/>
              </a:rPr>
              <a:t>权重值均为正</a:t>
            </a:r>
          </a:p>
        </p:txBody>
      </p:sp>
      <p:sp>
        <p:nvSpPr>
          <p:cNvPr id="8" name="文本框 7"/>
          <p:cNvSpPr txBox="1"/>
          <p:nvPr/>
        </p:nvSpPr>
        <p:spPr>
          <a:xfrm>
            <a:off x="5925312" y="3694176"/>
            <a:ext cx="3072384" cy="400110"/>
          </a:xfrm>
          <a:prstGeom prst="rect">
            <a:avLst/>
          </a:prstGeom>
          <a:noFill/>
        </p:spPr>
        <p:txBody>
          <a:bodyPr wrap="square" rtlCol="0">
            <a:spAutoFit/>
          </a:bodyPr>
          <a:lstStyle/>
          <a:p>
            <a:pPr algn="ctr"/>
            <a:r>
              <a:rPr lang="zh-CN" altLang="en-US" sz="2000" dirty="0">
                <a:latin typeface="Arial" panose="020B0604020202020204" pitchFamily="34" charset="0"/>
                <a:cs typeface="Arial" panose="020B0604020202020204" pitchFamily="34" charset="0"/>
              </a:rPr>
              <a:t>单调性假设</a:t>
            </a:r>
          </a:p>
        </p:txBody>
      </p:sp>
      <p:pic>
        <p:nvPicPr>
          <p:cNvPr id="10" name="图片 9">
            <a:extLst>
              <a:ext uri="{FF2B5EF4-FFF2-40B4-BE49-F238E27FC236}">
                <a16:creationId xmlns:a16="http://schemas.microsoft.com/office/drawing/2014/main" id="{AA6AE795-F79D-41C4-AF1B-864B3C2BED9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
        <p:nvSpPr>
          <p:cNvPr id="11" name="文本框 10">
            <a:extLst>
              <a:ext uri="{FF2B5EF4-FFF2-40B4-BE49-F238E27FC236}">
                <a16:creationId xmlns:a16="http://schemas.microsoft.com/office/drawing/2014/main" id="{97ECB77D-32BB-4685-A895-9C8797932F97}"/>
              </a:ext>
            </a:extLst>
          </p:cNvPr>
          <p:cNvSpPr txBox="1"/>
          <p:nvPr/>
        </p:nvSpPr>
        <p:spPr>
          <a:xfrm>
            <a:off x="283464" y="1304285"/>
            <a:ext cx="8714232" cy="400110"/>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en-US" altLang="zh-CN" sz="2000" b="1" dirty="0">
                <a:latin typeface="Arial" panose="020B0604020202020204" pitchFamily="34" charset="0"/>
                <a:cs typeface="Arial" panose="020B0604020202020204" pitchFamily="34" charset="0"/>
              </a:rPr>
              <a:t> </a:t>
            </a:r>
            <a:r>
              <a:rPr lang="zh-CN" altLang="en-US" sz="2000" b="1" dirty="0">
                <a:latin typeface="Arial" panose="020B0604020202020204" pitchFamily="34" charset="0"/>
                <a:cs typeface="Arial" panose="020B0604020202020204" pitchFamily="34" charset="0"/>
              </a:rPr>
              <a:t>实现方式</a:t>
            </a:r>
            <a:r>
              <a:rPr lang="en-US" altLang="zh-CN" sz="2000" b="1" dirty="0">
                <a:latin typeface="Arial" panose="020B0604020202020204" pitchFamily="34" charset="0"/>
                <a:cs typeface="Arial" panose="020B0604020202020204" pitchFamily="34" charset="0"/>
              </a:rPr>
              <a:t>1-</a:t>
            </a:r>
            <a:r>
              <a:rPr lang="zh-CN" altLang="en-US" sz="2000" b="1" dirty="0">
                <a:latin typeface="Arial" panose="020B0604020202020204" pitchFamily="34" charset="0"/>
                <a:cs typeface="Arial" panose="020B0604020202020204" pitchFamily="34" charset="0"/>
              </a:rPr>
              <a:t>基于</a:t>
            </a:r>
            <a:r>
              <a:rPr lang="en-US" altLang="zh-CN" sz="2000" b="1" dirty="0">
                <a:latin typeface="Arial" panose="020B0604020202020204" pitchFamily="34" charset="0"/>
                <a:cs typeface="Arial" panose="020B0604020202020204" pitchFamily="34" charset="0"/>
              </a:rPr>
              <a:t>Q-</a:t>
            </a:r>
            <a:r>
              <a:rPr lang="zh-CN" altLang="en-US" sz="2000" b="1" dirty="0">
                <a:latin typeface="Arial" panose="020B0604020202020204" pitchFamily="34" charset="0"/>
                <a:cs typeface="Arial" panose="020B0604020202020204" pitchFamily="34" charset="0"/>
              </a:rPr>
              <a:t>矩阵的实现</a:t>
            </a:r>
            <a:endParaRPr lang="en-US" altLang="zh-CN" sz="2000" b="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1419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4 </a:t>
            </a:r>
            <a:r>
              <a:rPr lang="zh-CN" altLang="en-US" dirty="0"/>
              <a:t>神经认知诊断模型</a:t>
            </a:r>
          </a:p>
        </p:txBody>
      </p:sp>
      <p:pic>
        <p:nvPicPr>
          <p:cNvPr id="3" name="图片 2"/>
          <p:cNvPicPr>
            <a:picLocks noChangeAspect="1"/>
          </p:cNvPicPr>
          <p:nvPr/>
        </p:nvPicPr>
        <p:blipFill>
          <a:blip r:embed="rId3"/>
          <a:stretch>
            <a:fillRect/>
          </a:stretch>
        </p:blipFill>
        <p:spPr>
          <a:xfrm>
            <a:off x="356616" y="2253100"/>
            <a:ext cx="5118439" cy="4035496"/>
          </a:xfrm>
          <a:prstGeom prst="rect">
            <a:avLst/>
          </a:prstGeom>
        </p:spPr>
      </p:pic>
      <p:sp>
        <p:nvSpPr>
          <p:cNvPr id="4" name="文本框 3"/>
          <p:cNvSpPr txBox="1"/>
          <p:nvPr/>
        </p:nvSpPr>
        <p:spPr>
          <a:xfrm>
            <a:off x="283464" y="1304285"/>
            <a:ext cx="8714232" cy="400110"/>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endParaRPr lang="en-US" altLang="zh-CN" sz="2000"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5" name="圆角矩形 4"/>
          <p:cNvSpPr/>
          <p:nvPr/>
        </p:nvSpPr>
        <p:spPr>
          <a:xfrm>
            <a:off x="314368" y="2112264"/>
            <a:ext cx="5160687" cy="65836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660136" y="2319334"/>
            <a:ext cx="2916936" cy="400110"/>
          </a:xfrm>
          <a:prstGeom prst="rect">
            <a:avLst/>
          </a:prstGeom>
          <a:noFill/>
        </p:spPr>
        <p:txBody>
          <a:bodyPr wrap="square" rtlCol="0">
            <a:spAutoFit/>
          </a:bodyPr>
          <a:lstStyle/>
          <a:p>
            <a:r>
              <a:rPr lang="zh-CN" altLang="en-US" sz="2000" dirty="0">
                <a:latin typeface="Arial" panose="020B0604020202020204" pitchFamily="34" charset="0"/>
                <a:cs typeface="Arial" panose="020B0604020202020204" pitchFamily="34" charset="0"/>
              </a:rPr>
              <a:t>输出层</a:t>
            </a:r>
            <a:r>
              <a:rPr lang="en-US" altLang="zh-CN" sz="2000" dirty="0">
                <a:latin typeface="Arial" panose="020B0604020202020204" pitchFamily="34" charset="0"/>
                <a:cs typeface="Arial" panose="020B0604020202020204" pitchFamily="34" charset="0"/>
              </a:rPr>
              <a:t>: </a:t>
            </a:r>
          </a:p>
        </p:txBody>
      </p:sp>
      <p:pic>
        <p:nvPicPr>
          <p:cNvPr id="7" name="图片 6"/>
          <p:cNvPicPr>
            <a:picLocks noChangeAspect="1"/>
          </p:cNvPicPr>
          <p:nvPr/>
        </p:nvPicPr>
        <p:blipFill>
          <a:blip r:embed="rId4"/>
          <a:stretch>
            <a:fillRect/>
          </a:stretch>
        </p:blipFill>
        <p:spPr>
          <a:xfrm>
            <a:off x="4397121" y="2911468"/>
            <a:ext cx="4600575" cy="561975"/>
          </a:xfrm>
          <a:prstGeom prst="rect">
            <a:avLst/>
          </a:prstGeom>
        </p:spPr>
      </p:pic>
      <p:pic>
        <p:nvPicPr>
          <p:cNvPr id="9" name="图片 8">
            <a:extLst>
              <a:ext uri="{FF2B5EF4-FFF2-40B4-BE49-F238E27FC236}">
                <a16:creationId xmlns:a16="http://schemas.microsoft.com/office/drawing/2014/main" id="{7BDC1AC5-DE0A-43E0-9386-76D098A92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
        <p:nvSpPr>
          <p:cNvPr id="10" name="文本框 9">
            <a:extLst>
              <a:ext uri="{FF2B5EF4-FFF2-40B4-BE49-F238E27FC236}">
                <a16:creationId xmlns:a16="http://schemas.microsoft.com/office/drawing/2014/main" id="{7841A85C-73F5-4EFA-A961-FB635CF10850}"/>
              </a:ext>
            </a:extLst>
          </p:cNvPr>
          <p:cNvSpPr txBox="1"/>
          <p:nvPr/>
        </p:nvSpPr>
        <p:spPr>
          <a:xfrm>
            <a:off x="435864" y="1456685"/>
            <a:ext cx="8714232" cy="400110"/>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en-US" altLang="zh-CN" sz="2000" b="1" dirty="0">
                <a:latin typeface="Arial" panose="020B0604020202020204" pitchFamily="34" charset="0"/>
                <a:cs typeface="Arial" panose="020B0604020202020204" pitchFamily="34" charset="0"/>
              </a:rPr>
              <a:t> </a:t>
            </a:r>
            <a:r>
              <a:rPr lang="zh-CN" altLang="en-US" sz="2000" b="1" dirty="0">
                <a:latin typeface="Arial" panose="020B0604020202020204" pitchFamily="34" charset="0"/>
                <a:cs typeface="Arial" panose="020B0604020202020204" pitchFamily="34" charset="0"/>
              </a:rPr>
              <a:t>实现方式</a:t>
            </a:r>
            <a:r>
              <a:rPr lang="en-US" altLang="zh-CN" sz="2000" b="1" dirty="0">
                <a:latin typeface="Arial" panose="020B0604020202020204" pitchFamily="34" charset="0"/>
                <a:cs typeface="Arial" panose="020B0604020202020204" pitchFamily="34" charset="0"/>
              </a:rPr>
              <a:t>1-</a:t>
            </a:r>
            <a:r>
              <a:rPr lang="zh-CN" altLang="en-US" sz="2000" b="1" dirty="0">
                <a:latin typeface="Arial" panose="020B0604020202020204" pitchFamily="34" charset="0"/>
                <a:cs typeface="Arial" panose="020B0604020202020204" pitchFamily="34" charset="0"/>
              </a:rPr>
              <a:t>基于</a:t>
            </a:r>
            <a:r>
              <a:rPr lang="en-US" altLang="zh-CN" sz="2000" b="1" dirty="0">
                <a:latin typeface="Arial" panose="020B0604020202020204" pitchFamily="34" charset="0"/>
                <a:cs typeface="Arial" panose="020B0604020202020204" pitchFamily="34" charset="0"/>
              </a:rPr>
              <a:t>Q-</a:t>
            </a:r>
            <a:r>
              <a:rPr lang="zh-CN" altLang="en-US" sz="2000" b="1" dirty="0">
                <a:latin typeface="Arial" panose="020B0604020202020204" pitchFamily="34" charset="0"/>
                <a:cs typeface="Arial" panose="020B0604020202020204" pitchFamily="34" charset="0"/>
              </a:rPr>
              <a:t>矩阵的实现</a:t>
            </a:r>
            <a:endParaRPr lang="en-US" altLang="zh-CN" sz="2000" b="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4827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神经认知诊断模型的通用性</a:t>
            </a:r>
          </a:p>
        </p:txBody>
      </p:sp>
      <p:sp>
        <p:nvSpPr>
          <p:cNvPr id="4" name="文本框 3"/>
          <p:cNvSpPr txBox="1"/>
          <p:nvPr/>
        </p:nvSpPr>
        <p:spPr>
          <a:xfrm>
            <a:off x="283464" y="1304285"/>
            <a:ext cx="8714232" cy="707886"/>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神经认知诊断模型的框架是通用的，可以覆盖一些传统模型</a:t>
            </a:r>
            <a:endParaRPr lang="en-US" altLang="zh-CN" sz="2000" dirty="0">
              <a:latin typeface="Times New Roman" panose="02020603050405020304" pitchFamily="18" charset="0"/>
              <a:cs typeface="Times New Roman" panose="02020603050405020304" pitchFamily="18" charset="0"/>
            </a:endParaRPr>
          </a:p>
          <a:p>
            <a:pPr lvl="1">
              <a:buClr>
                <a:schemeClr val="accent5"/>
              </a:buClr>
            </a:pPr>
            <a:r>
              <a:rPr lang="en-US" altLang="zh-CN" sz="2000" dirty="0">
                <a:latin typeface="Times New Roman" panose="02020603050405020304" pitchFamily="18" charset="0"/>
                <a:cs typeface="Times New Roman" panose="02020603050405020304" pitchFamily="18" charset="0"/>
              </a:rPr>
              <a:t>e.g., IRT, MIRT, MF</a:t>
            </a:r>
            <a:endParaRPr lang="en-US" altLang="zh-CN" sz="2000" dirty="0">
              <a:latin typeface="Arial" panose="020B0604020202020204" pitchFamily="34" charset="0"/>
              <a:cs typeface="Arial" panose="020B0604020202020204" pitchFamily="34" charset="0"/>
            </a:endParaRPr>
          </a:p>
        </p:txBody>
      </p:sp>
      <p:pic>
        <p:nvPicPr>
          <p:cNvPr id="3" name="图片 2"/>
          <p:cNvPicPr>
            <a:picLocks noChangeAspect="1"/>
          </p:cNvPicPr>
          <p:nvPr/>
        </p:nvPicPr>
        <p:blipFill>
          <a:blip r:embed="rId3"/>
          <a:stretch>
            <a:fillRect/>
          </a:stretch>
        </p:blipFill>
        <p:spPr>
          <a:xfrm>
            <a:off x="776181" y="2342550"/>
            <a:ext cx="7787716" cy="3979283"/>
          </a:xfrm>
          <a:prstGeom prst="rect">
            <a:avLst/>
          </a:prstGeom>
        </p:spPr>
      </p:pic>
      <p:sp>
        <p:nvSpPr>
          <p:cNvPr id="21" name="矩形 20"/>
          <p:cNvSpPr/>
          <p:nvPr/>
        </p:nvSpPr>
        <p:spPr>
          <a:xfrm>
            <a:off x="1086154" y="4395019"/>
            <a:ext cx="477175" cy="3844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1099540" y="5834502"/>
            <a:ext cx="477175" cy="3844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曲线连接符 22"/>
          <p:cNvCxnSpPr>
            <a:stCxn id="21" idx="1"/>
            <a:endCxn id="22" idx="1"/>
          </p:cNvCxnSpPr>
          <p:nvPr/>
        </p:nvCxnSpPr>
        <p:spPr>
          <a:xfrm rot="10800000" flipH="1" flipV="1">
            <a:off x="1086154" y="4587219"/>
            <a:ext cx="13386" cy="1439483"/>
          </a:xfrm>
          <a:prstGeom prst="curvedConnector3">
            <a:avLst>
              <a:gd name="adj1" fmla="val -3176789"/>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7" name="文本框 26"/>
          <p:cNvSpPr txBox="1"/>
          <p:nvPr/>
        </p:nvSpPr>
        <p:spPr>
          <a:xfrm>
            <a:off x="157406" y="4456254"/>
            <a:ext cx="761484" cy="646331"/>
          </a:xfrm>
          <a:prstGeom prst="rect">
            <a:avLst/>
          </a:prstGeom>
          <a:noFill/>
        </p:spPr>
        <p:txBody>
          <a:bodyPr wrap="square" rtlCol="0">
            <a:spAutoFit/>
          </a:bodyPr>
          <a:lstStyle/>
          <a:p>
            <a:r>
              <a:rPr lang="zh-CN" altLang="en-US" dirty="0">
                <a:solidFill>
                  <a:srgbClr val="FF0000"/>
                </a:solidFill>
                <a:latin typeface="Arial" panose="020B0604020202020204" pitchFamily="34" charset="0"/>
                <a:cs typeface="Arial" panose="020B0604020202020204" pitchFamily="34" charset="0"/>
              </a:rPr>
              <a:t>调整为</a:t>
            </a:r>
            <a:r>
              <a:rPr lang="en-US" altLang="zh-CN" dirty="0">
                <a:solidFill>
                  <a:srgbClr val="FF0000"/>
                </a:solidFill>
                <a:latin typeface="Arial" panose="020B0604020202020204" pitchFamily="34" charset="0"/>
                <a:cs typeface="Arial" panose="020B0604020202020204" pitchFamily="34" charset="0"/>
              </a:rPr>
              <a:t>1</a:t>
            </a:r>
            <a:endParaRPr lang="zh-CN" altLang="en-US" dirty="0">
              <a:solidFill>
                <a:srgbClr val="FF0000"/>
              </a:solidFill>
              <a:latin typeface="Arial" panose="020B0604020202020204" pitchFamily="34" charset="0"/>
              <a:cs typeface="Arial" panose="020B0604020202020204" pitchFamily="34" charset="0"/>
            </a:endParaRPr>
          </a:p>
        </p:txBody>
      </p:sp>
      <p:cxnSp>
        <p:nvCxnSpPr>
          <p:cNvPr id="28" name="直接箭头连接符 27"/>
          <p:cNvCxnSpPr/>
          <p:nvPr/>
        </p:nvCxnSpPr>
        <p:spPr>
          <a:xfrm flipH="1">
            <a:off x="3748368" y="4339895"/>
            <a:ext cx="429243" cy="92236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2" name="文本框 31"/>
          <p:cNvSpPr txBox="1"/>
          <p:nvPr/>
        </p:nvSpPr>
        <p:spPr>
          <a:xfrm>
            <a:off x="4005115" y="4477960"/>
            <a:ext cx="1729304" cy="338554"/>
          </a:xfrm>
          <a:prstGeom prst="rect">
            <a:avLst/>
          </a:prstGeom>
          <a:noFill/>
        </p:spPr>
        <p:txBody>
          <a:bodyPr wrap="square" rtlCol="0">
            <a:spAutoFit/>
          </a:bodyPr>
          <a:lstStyle/>
          <a:p>
            <a:r>
              <a:rPr lang="zh-CN" altLang="en-US" sz="1600" dirty="0">
                <a:solidFill>
                  <a:srgbClr val="FF0000"/>
                </a:solidFill>
                <a:latin typeface="Arial" panose="020B0604020202020204" pitchFamily="34" charset="0"/>
                <a:cs typeface="Arial" panose="020B0604020202020204" pitchFamily="34" charset="0"/>
              </a:rPr>
              <a:t>多维退化为</a:t>
            </a:r>
            <a:r>
              <a:rPr lang="en-US" altLang="zh-CN" sz="1600" dirty="0">
                <a:solidFill>
                  <a:srgbClr val="FF0000"/>
                </a:solidFill>
                <a:latin typeface="Arial" panose="020B0604020202020204" pitchFamily="34" charset="0"/>
                <a:cs typeface="Arial" panose="020B0604020202020204" pitchFamily="34" charset="0"/>
              </a:rPr>
              <a:t>1</a:t>
            </a:r>
            <a:r>
              <a:rPr lang="zh-CN" altLang="en-US" sz="1600" dirty="0">
                <a:solidFill>
                  <a:srgbClr val="FF0000"/>
                </a:solidFill>
                <a:latin typeface="Arial" panose="020B0604020202020204" pitchFamily="34" charset="0"/>
                <a:cs typeface="Arial" panose="020B0604020202020204" pitchFamily="34" charset="0"/>
              </a:rPr>
              <a:t>维</a:t>
            </a:r>
          </a:p>
        </p:txBody>
      </p:sp>
      <p:sp>
        <p:nvSpPr>
          <p:cNvPr id="33" name="任意多边形 32"/>
          <p:cNvSpPr/>
          <p:nvPr/>
        </p:nvSpPr>
        <p:spPr>
          <a:xfrm>
            <a:off x="4621161" y="4601497"/>
            <a:ext cx="1514168" cy="1357282"/>
          </a:xfrm>
          <a:custGeom>
            <a:avLst/>
            <a:gdLst>
              <a:gd name="connsiteX0" fmla="*/ 1514168 w 1514168"/>
              <a:gd name="connsiteY0" fmla="*/ 0 h 1357282"/>
              <a:gd name="connsiteX1" fmla="*/ 1297858 w 1514168"/>
              <a:gd name="connsiteY1" fmla="*/ 1150374 h 1357282"/>
              <a:gd name="connsiteX2" fmla="*/ 245807 w 1514168"/>
              <a:gd name="connsiteY2" fmla="*/ 1356851 h 1357282"/>
              <a:gd name="connsiteX3" fmla="*/ 0 w 1514168"/>
              <a:gd name="connsiteY3" fmla="*/ 1150374 h 1357282"/>
            </a:gdLst>
            <a:ahLst/>
            <a:cxnLst>
              <a:cxn ang="0">
                <a:pos x="connsiteX0" y="connsiteY0"/>
              </a:cxn>
              <a:cxn ang="0">
                <a:pos x="connsiteX1" y="connsiteY1"/>
              </a:cxn>
              <a:cxn ang="0">
                <a:pos x="connsiteX2" y="connsiteY2"/>
              </a:cxn>
              <a:cxn ang="0">
                <a:pos x="connsiteX3" y="connsiteY3"/>
              </a:cxn>
            </a:cxnLst>
            <a:rect l="l" t="t" r="r" b="b"/>
            <a:pathLst>
              <a:path w="1514168" h="1357282">
                <a:moveTo>
                  <a:pt x="1514168" y="0"/>
                </a:moveTo>
                <a:cubicBezTo>
                  <a:pt x="1511709" y="462116"/>
                  <a:pt x="1509251" y="924232"/>
                  <a:pt x="1297858" y="1150374"/>
                </a:cubicBezTo>
                <a:cubicBezTo>
                  <a:pt x="1086465" y="1376516"/>
                  <a:pt x="462117" y="1356851"/>
                  <a:pt x="245807" y="1356851"/>
                </a:cubicBezTo>
                <a:cubicBezTo>
                  <a:pt x="29497" y="1356851"/>
                  <a:pt x="14748" y="1253612"/>
                  <a:pt x="0" y="1150374"/>
                </a:cubicBezTo>
              </a:path>
            </a:pathLst>
          </a:cu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5977998" y="5451883"/>
            <a:ext cx="1809150" cy="646331"/>
          </a:xfrm>
          <a:prstGeom prst="rect">
            <a:avLst/>
          </a:prstGeom>
          <a:noFill/>
        </p:spPr>
        <p:txBody>
          <a:bodyPr wrap="square" rtlCol="0">
            <a:spAutoFit/>
          </a:bodyPr>
          <a:lstStyle/>
          <a:p>
            <a:r>
              <a:rPr lang="zh-CN" altLang="en-US" dirty="0">
                <a:solidFill>
                  <a:srgbClr val="FF0000"/>
                </a:solidFill>
                <a:latin typeface="Arial" panose="020B0604020202020204" pitchFamily="34" charset="0"/>
                <a:cs typeface="Arial" panose="020B0604020202020204" pitchFamily="34" charset="0"/>
              </a:rPr>
              <a:t>多层退化为单层的</a:t>
            </a:r>
            <a:r>
              <a:rPr lang="en-US" altLang="zh-CN" dirty="0" err="1">
                <a:solidFill>
                  <a:srgbClr val="FF0000"/>
                </a:solidFill>
                <a:latin typeface="Arial" panose="020B0604020202020204" pitchFamily="34" charset="0"/>
                <a:cs typeface="Arial" panose="020B0604020202020204" pitchFamily="34" charset="0"/>
              </a:rPr>
              <a:t>sigmiod</a:t>
            </a:r>
            <a:r>
              <a:rPr lang="zh-CN" altLang="en-US" dirty="0">
                <a:solidFill>
                  <a:srgbClr val="FF0000"/>
                </a:solidFill>
                <a:latin typeface="Arial" panose="020B0604020202020204" pitchFamily="34" charset="0"/>
                <a:cs typeface="Arial" panose="020B0604020202020204" pitchFamily="34" charset="0"/>
              </a:rPr>
              <a:t>函数</a:t>
            </a:r>
          </a:p>
        </p:txBody>
      </p:sp>
      <p:pic>
        <p:nvPicPr>
          <p:cNvPr id="13" name="图片 12">
            <a:extLst>
              <a:ext uri="{FF2B5EF4-FFF2-40B4-BE49-F238E27FC236}">
                <a16:creationId xmlns:a16="http://schemas.microsoft.com/office/drawing/2014/main" id="{251DE3B9-5064-4B13-9EE4-67071D878A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379304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776181" y="2195186"/>
            <a:ext cx="7025303" cy="4367080"/>
            <a:chOff x="776181" y="2195186"/>
            <a:chExt cx="7025303" cy="4367080"/>
          </a:xfrm>
        </p:grpSpPr>
        <p:pic>
          <p:nvPicPr>
            <p:cNvPr id="5" name="图片 4"/>
            <p:cNvPicPr>
              <a:picLocks noChangeAspect="1"/>
            </p:cNvPicPr>
            <p:nvPr/>
          </p:nvPicPr>
          <p:blipFill>
            <a:blip r:embed="rId3"/>
            <a:stretch>
              <a:fillRect/>
            </a:stretch>
          </p:blipFill>
          <p:spPr>
            <a:xfrm>
              <a:off x="776181" y="2195186"/>
              <a:ext cx="7025303" cy="4367080"/>
            </a:xfrm>
            <a:prstGeom prst="rect">
              <a:avLst/>
            </a:prstGeom>
          </p:spPr>
        </p:pic>
        <p:sp>
          <p:nvSpPr>
            <p:cNvPr id="18" name="矩形 17"/>
            <p:cNvSpPr/>
            <p:nvPr/>
          </p:nvSpPr>
          <p:spPr>
            <a:xfrm>
              <a:off x="6459794" y="2203951"/>
              <a:ext cx="1341690" cy="5884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416728" y="4252826"/>
              <a:ext cx="1341690" cy="5884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占位符 1"/>
          <p:cNvSpPr>
            <a:spLocks noGrp="1"/>
          </p:cNvSpPr>
          <p:nvPr>
            <p:ph type="body" sz="quarter" idx="10"/>
          </p:nvPr>
        </p:nvSpPr>
        <p:spPr>
          <a:xfrm>
            <a:off x="776181" y="512241"/>
            <a:ext cx="5192540" cy="830997"/>
          </a:xfrm>
        </p:spPr>
        <p:txBody>
          <a:bodyPr/>
          <a:lstStyle/>
          <a:p>
            <a:r>
              <a:rPr lang="zh-CN" altLang="en-US" dirty="0"/>
              <a:t>神经认知诊断模型框架的通用性</a:t>
            </a:r>
          </a:p>
        </p:txBody>
      </p:sp>
      <p:sp>
        <p:nvSpPr>
          <p:cNvPr id="4" name="文本框 3"/>
          <p:cNvSpPr txBox="1"/>
          <p:nvPr/>
        </p:nvSpPr>
        <p:spPr>
          <a:xfrm>
            <a:off x="283464" y="1304285"/>
            <a:ext cx="8714232" cy="707886"/>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神经认知诊断模型的框架是通用的，可以覆盖一些传统模型</a:t>
            </a:r>
            <a:endParaRPr lang="en-US" altLang="zh-CN" sz="2000" dirty="0">
              <a:latin typeface="Times New Roman" panose="02020603050405020304" pitchFamily="18" charset="0"/>
              <a:cs typeface="Times New Roman" panose="02020603050405020304" pitchFamily="18" charset="0"/>
            </a:endParaRPr>
          </a:p>
          <a:p>
            <a:pPr lvl="1">
              <a:buClr>
                <a:schemeClr val="accent5"/>
              </a:buClr>
            </a:pPr>
            <a:r>
              <a:rPr lang="en-US" altLang="zh-CN" sz="2000" dirty="0">
                <a:latin typeface="Times New Roman" panose="02020603050405020304" pitchFamily="18" charset="0"/>
                <a:cs typeface="Times New Roman" panose="02020603050405020304" pitchFamily="18" charset="0"/>
              </a:rPr>
              <a:t>e.g., IRT, MIRT, MF</a:t>
            </a:r>
            <a:endParaRPr lang="en-US" altLang="zh-CN" sz="2000" dirty="0">
              <a:latin typeface="Arial" panose="020B0604020202020204" pitchFamily="34" charset="0"/>
              <a:cs typeface="Arial" panose="020B0604020202020204" pitchFamily="34" charset="0"/>
            </a:endParaRPr>
          </a:p>
        </p:txBody>
      </p:sp>
      <p:sp>
        <p:nvSpPr>
          <p:cNvPr id="6" name="文本框 5"/>
          <p:cNvSpPr txBox="1"/>
          <p:nvPr/>
        </p:nvSpPr>
        <p:spPr>
          <a:xfrm>
            <a:off x="6098207" y="5361937"/>
            <a:ext cx="2861187" cy="923330"/>
          </a:xfrm>
          <a:prstGeom prst="rect">
            <a:avLst/>
          </a:prstGeom>
          <a:noFill/>
        </p:spPr>
        <p:txBody>
          <a:bodyPr wrap="square" rtlCol="0">
            <a:spAutoFit/>
          </a:bodyPr>
          <a:lstStyle/>
          <a:p>
            <a:r>
              <a:rPr lang="en-US" altLang="zh-CN" dirty="0"/>
              <a:t>Q –</a:t>
            </a:r>
            <a:r>
              <a:rPr lang="zh-CN" altLang="en-US" dirty="0"/>
              <a:t>矩阵是学习得到而不是由专家标记。 </a:t>
            </a:r>
            <a:r>
              <a:rPr lang="en-US" altLang="zh-CN" dirty="0"/>
              <a:t>Q </a:t>
            </a:r>
            <a:r>
              <a:rPr lang="zh-CN" altLang="en-US" dirty="0"/>
              <a:t>中的每个维度都没有明确的含义。</a:t>
            </a:r>
          </a:p>
        </p:txBody>
      </p:sp>
      <p:sp>
        <p:nvSpPr>
          <p:cNvPr id="7" name="矩形 6"/>
          <p:cNvSpPr/>
          <p:nvPr/>
        </p:nvSpPr>
        <p:spPr>
          <a:xfrm>
            <a:off x="820683" y="3608440"/>
            <a:ext cx="477175" cy="304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20683" y="5899354"/>
            <a:ext cx="477175" cy="2949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曲线连接符 8"/>
          <p:cNvCxnSpPr>
            <a:stCxn id="7" idx="1"/>
            <a:endCxn id="8" idx="1"/>
          </p:cNvCxnSpPr>
          <p:nvPr/>
        </p:nvCxnSpPr>
        <p:spPr>
          <a:xfrm rot="10800000" flipV="1">
            <a:off x="820683" y="3760839"/>
            <a:ext cx="12700" cy="2285999"/>
          </a:xfrm>
          <a:prstGeom prst="curvedConnector3">
            <a:avLst>
              <a:gd name="adj1" fmla="val 1800000"/>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0" name="文本框 9"/>
          <p:cNvSpPr txBox="1"/>
          <p:nvPr/>
        </p:nvSpPr>
        <p:spPr>
          <a:xfrm>
            <a:off x="48956" y="4296838"/>
            <a:ext cx="684159" cy="646331"/>
          </a:xfrm>
          <a:prstGeom prst="rect">
            <a:avLst/>
          </a:prstGeom>
          <a:noFill/>
        </p:spPr>
        <p:txBody>
          <a:bodyPr wrap="square" rtlCol="0">
            <a:spAutoFit/>
          </a:bodyPr>
          <a:lstStyle/>
          <a:p>
            <a:r>
              <a:rPr lang="zh-CN" altLang="en-US" dirty="0">
                <a:solidFill>
                  <a:srgbClr val="FF0000"/>
                </a:solidFill>
                <a:latin typeface="Arial" panose="020B0604020202020204" pitchFamily="34" charset="0"/>
                <a:cs typeface="Arial" panose="020B0604020202020204" pitchFamily="34" charset="0"/>
              </a:rPr>
              <a:t>调整为</a:t>
            </a:r>
            <a:r>
              <a:rPr lang="en-US" altLang="zh-CN" dirty="0">
                <a:solidFill>
                  <a:srgbClr val="FF0000"/>
                </a:solidFill>
                <a:latin typeface="Arial" panose="020B0604020202020204" pitchFamily="34" charset="0"/>
                <a:cs typeface="Arial" panose="020B0604020202020204" pitchFamily="34" charset="0"/>
              </a:rPr>
              <a:t> 1</a:t>
            </a:r>
            <a:endParaRPr lang="zh-CN" altLang="en-US" dirty="0">
              <a:solidFill>
                <a:srgbClr val="FF0000"/>
              </a:solidFill>
              <a:latin typeface="Arial" panose="020B0604020202020204" pitchFamily="34" charset="0"/>
              <a:cs typeface="Arial" panose="020B0604020202020204" pitchFamily="34" charset="0"/>
            </a:endParaRPr>
          </a:p>
        </p:txBody>
      </p:sp>
      <p:cxnSp>
        <p:nvCxnSpPr>
          <p:cNvPr id="15" name="直接箭头连接符 14"/>
          <p:cNvCxnSpPr/>
          <p:nvPr/>
        </p:nvCxnSpPr>
        <p:spPr>
          <a:xfrm flipH="1">
            <a:off x="5004619" y="4158823"/>
            <a:ext cx="294392" cy="1111267"/>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7" name="文本框 16"/>
          <p:cNvSpPr txBox="1"/>
          <p:nvPr/>
        </p:nvSpPr>
        <p:spPr>
          <a:xfrm>
            <a:off x="5354780" y="4019838"/>
            <a:ext cx="2024022" cy="923330"/>
          </a:xfrm>
          <a:prstGeom prst="rect">
            <a:avLst/>
          </a:prstGeom>
          <a:noFill/>
        </p:spPr>
        <p:txBody>
          <a:bodyPr wrap="square" rtlCol="0">
            <a:spAutoFit/>
          </a:bodyPr>
          <a:lstStyle/>
          <a:p>
            <a:r>
              <a:rPr lang="zh-CN" altLang="en-US" dirty="0">
                <a:solidFill>
                  <a:srgbClr val="FF0000"/>
                </a:solidFill>
                <a:latin typeface="Arial" panose="020B0604020202020204" pitchFamily="34" charset="0"/>
                <a:cs typeface="Arial" panose="020B0604020202020204" pitchFamily="34" charset="0"/>
              </a:rPr>
              <a:t>多层全连接层退化为求和函数和单个 </a:t>
            </a:r>
            <a:r>
              <a:rPr lang="en-US" altLang="zh-CN" dirty="0">
                <a:solidFill>
                  <a:srgbClr val="FF0000"/>
                </a:solidFill>
                <a:latin typeface="Arial" panose="020B0604020202020204" pitchFamily="34" charset="0"/>
                <a:cs typeface="Arial" panose="020B0604020202020204" pitchFamily="34" charset="0"/>
              </a:rPr>
              <a:t>Sigmoid</a:t>
            </a:r>
            <a:r>
              <a:rPr lang="zh-CN" altLang="en-US" dirty="0">
                <a:solidFill>
                  <a:srgbClr val="FF0000"/>
                </a:solidFill>
                <a:latin typeface="Arial" panose="020B0604020202020204" pitchFamily="34" charset="0"/>
                <a:cs typeface="Arial" panose="020B0604020202020204" pitchFamily="34" charset="0"/>
              </a:rPr>
              <a:t>函数</a:t>
            </a:r>
          </a:p>
        </p:txBody>
      </p:sp>
      <p:sp>
        <p:nvSpPr>
          <p:cNvPr id="22" name="矩形 21"/>
          <p:cNvSpPr/>
          <p:nvPr/>
        </p:nvSpPr>
        <p:spPr>
          <a:xfrm>
            <a:off x="7378801" y="2177476"/>
            <a:ext cx="1352244" cy="448433"/>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latin typeface="Times New Roman" panose="02020603050405020304" pitchFamily="18" charset="0"/>
                <a:cs typeface="Times New Roman" panose="02020603050405020304" pitchFamily="18" charset="0"/>
              </a:rPr>
              <a:t>NeuralCD</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矩形 22"/>
          <p:cNvSpPr/>
          <p:nvPr/>
        </p:nvSpPr>
        <p:spPr>
          <a:xfrm>
            <a:off x="7378801" y="3977389"/>
            <a:ext cx="1352244" cy="448433"/>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MIRT</a:t>
            </a:r>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21" name="图片 20">
            <a:extLst>
              <a:ext uri="{FF2B5EF4-FFF2-40B4-BE49-F238E27FC236}">
                <a16:creationId xmlns:a16="http://schemas.microsoft.com/office/drawing/2014/main" id="{799AFF22-1EA0-4C61-A4A8-483FA756678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2055027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NeuralCDM+</a:t>
            </a:r>
            <a:endParaRPr lang="zh-CN" altLang="en-US" dirty="0"/>
          </a:p>
        </p:txBody>
      </p:sp>
      <p:sp>
        <p:nvSpPr>
          <p:cNvPr id="3" name="文本框 2"/>
          <p:cNvSpPr txBox="1"/>
          <p:nvPr/>
        </p:nvSpPr>
        <p:spPr>
          <a:xfrm>
            <a:off x="283464" y="1304285"/>
            <a:ext cx="8714232" cy="1015663"/>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实现方式</a:t>
            </a:r>
            <a:r>
              <a:rPr lang="en-US" altLang="zh-CN" sz="2000" b="1" dirty="0">
                <a:latin typeface="Arial" panose="020B0604020202020204" pitchFamily="34" charset="0"/>
                <a:cs typeface="Arial" panose="020B0604020202020204" pitchFamily="34" charset="0"/>
              </a:rPr>
              <a:t>2– </a:t>
            </a:r>
            <a:r>
              <a:rPr lang="zh-CN" altLang="en-US" sz="2000" b="1" dirty="0">
                <a:latin typeface="Arial" panose="020B0604020202020204" pitchFamily="34" charset="0"/>
                <a:cs typeface="Arial" panose="020B0604020202020204" pitchFamily="34" charset="0"/>
              </a:rPr>
              <a:t>利用习题的试题信息修正</a:t>
            </a:r>
            <a:r>
              <a:rPr lang="en-US" altLang="zh-CN" sz="2000" b="1" dirty="0">
                <a:latin typeface="Arial" panose="020B0604020202020204" pitchFamily="34" charset="0"/>
                <a:cs typeface="Arial" panose="020B0604020202020204" pitchFamily="34" charset="0"/>
              </a:rPr>
              <a:t>Q-</a:t>
            </a:r>
            <a:r>
              <a:rPr lang="zh-CN" altLang="en-US" sz="2000" b="1" dirty="0">
                <a:latin typeface="Arial" panose="020B0604020202020204" pitchFamily="34" charset="0"/>
                <a:cs typeface="Arial" panose="020B0604020202020204" pitchFamily="34" charset="0"/>
              </a:rPr>
              <a:t>矩阵</a:t>
            </a: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预训练一个</a:t>
            </a:r>
            <a:r>
              <a:rPr lang="en-US" altLang="zh-CN" sz="2000" dirty="0">
                <a:latin typeface="Arial" panose="020B0604020202020204" pitchFamily="34" charset="0"/>
                <a:cs typeface="Arial" panose="020B0604020202020204" pitchFamily="34" charset="0"/>
              </a:rPr>
              <a:t>CNN</a:t>
            </a:r>
            <a:r>
              <a:rPr lang="zh-CN" altLang="en-US" sz="2000" dirty="0">
                <a:latin typeface="Arial" panose="020B0604020202020204" pitchFamily="34" charset="0"/>
                <a:cs typeface="Arial" panose="020B0604020202020204" pitchFamily="34" charset="0"/>
              </a:rPr>
              <a:t>网络预测习题关联的知识点</a:t>
            </a: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按照以下的概率大小规则重新修正</a:t>
            </a:r>
            <a:r>
              <a:rPr lang="en-US" altLang="zh-CN" sz="2000" dirty="0">
                <a:latin typeface="Arial" panose="020B0604020202020204" pitchFamily="34" charset="0"/>
                <a:cs typeface="Arial" panose="020B0604020202020204" pitchFamily="34" charset="0"/>
              </a:rPr>
              <a:t>Q</a:t>
            </a:r>
            <a:r>
              <a:rPr lang="zh-CN" altLang="en-US" sz="2000" dirty="0">
                <a:latin typeface="Arial" panose="020B0604020202020204" pitchFamily="34" charset="0"/>
                <a:cs typeface="Arial" panose="020B0604020202020204" pitchFamily="34" charset="0"/>
              </a:rPr>
              <a:t>矩阵</a:t>
            </a:r>
            <a:r>
              <a:rPr lang="en-US" altLang="zh-CN" sz="2000" dirty="0">
                <a:latin typeface="Arial" panose="020B0604020202020204" pitchFamily="34" charset="0"/>
                <a:cs typeface="Arial" panose="020B0604020202020204" pitchFamily="34" charset="0"/>
              </a:rPr>
              <a:t>:</a:t>
            </a:r>
            <a:endParaRPr lang="en-US" altLang="zh-CN" sz="20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888110" y="2778343"/>
            <a:ext cx="6920865" cy="3886492"/>
          </a:xfrm>
          <a:prstGeom prst="rect">
            <a:avLst/>
          </a:prstGeom>
        </p:spPr>
      </p:pic>
      <p:sp>
        <p:nvSpPr>
          <p:cNvPr id="5" name="文本框 4"/>
          <p:cNvSpPr txBox="1"/>
          <p:nvPr/>
        </p:nvSpPr>
        <p:spPr>
          <a:xfrm>
            <a:off x="1421892" y="2250217"/>
            <a:ext cx="6437376" cy="400110"/>
          </a:xfrm>
          <a:prstGeom prst="rect">
            <a:avLst/>
          </a:prstGeom>
          <a:noFill/>
        </p:spPr>
        <p:txBody>
          <a:bodyPr wrap="square" rtlCol="0">
            <a:spAutoFit/>
          </a:bodyPr>
          <a:lstStyle/>
          <a:p>
            <a:r>
              <a:rPr lang="en-US" altLang="zh-CN" sz="2000" dirty="0">
                <a:solidFill>
                  <a:schemeClr val="accent5"/>
                </a:solidFill>
                <a:latin typeface="Times New Roman" panose="02020603050405020304" pitchFamily="18" charset="0"/>
                <a:cs typeface="Times New Roman" panose="02020603050405020304" pitchFamily="18" charset="0"/>
              </a:rPr>
              <a:t>knowledge relevancy: Q-matrix &gt;= predicted &gt; other = 0  </a:t>
            </a:r>
            <a:endParaRPr lang="zh-CN" altLang="en-US" sz="2000" dirty="0">
              <a:solidFill>
                <a:schemeClr val="accent5"/>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标注 5"/>
              <p:cNvSpPr/>
              <p:nvPr/>
            </p:nvSpPr>
            <p:spPr>
              <a:xfrm>
                <a:off x="1568695" y="6018347"/>
                <a:ext cx="1257300" cy="353290"/>
              </a:xfrm>
              <a:prstGeom prst="wedgeRectCallout">
                <a:avLst>
                  <a:gd name="adj1" fmla="val 64881"/>
                  <a:gd name="adj2" fmla="val -54121"/>
                </a:avLst>
              </a:prstGeom>
              <a:solidFill>
                <a:schemeClr val="accent1"/>
              </a:solidFill>
              <a:ln>
                <a:no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rgbClr val="FF0000"/>
                    </a:solidFill>
                  </a:rPr>
                  <a:t>原来的</a:t>
                </a:r>
                <a14:m>
                  <m:oMath xmlns:m="http://schemas.openxmlformats.org/officeDocument/2006/math">
                    <m:sSup>
                      <m:sSupPr>
                        <m:ctrlPr>
                          <a:rPr lang="en-US" altLang="zh-CN" b="1" i="1" smtClean="0">
                            <a:solidFill>
                              <a:srgbClr val="FF0000"/>
                            </a:solidFill>
                            <a:latin typeface="Cambria Math" panose="02040503050406030204" pitchFamily="18" charset="0"/>
                            <a:ea typeface="Cambria Math" panose="02040503050406030204" pitchFamily="18" charset="0"/>
                          </a:rPr>
                        </m:ctrlPr>
                      </m:sSupPr>
                      <m:e>
                        <m:r>
                          <a:rPr lang="en-US" altLang="zh-CN" b="1" i="1">
                            <a:solidFill>
                              <a:srgbClr val="FF0000"/>
                            </a:solidFill>
                            <a:latin typeface="Cambria Math" panose="02040503050406030204" pitchFamily="18" charset="0"/>
                            <a:ea typeface="Cambria Math" panose="02040503050406030204" pitchFamily="18" charset="0"/>
                          </a:rPr>
                          <m:t>𝑭</m:t>
                        </m:r>
                      </m:e>
                      <m:sup>
                        <m:r>
                          <a:rPr lang="en-US" altLang="zh-CN" i="1">
                            <a:solidFill>
                              <a:srgbClr val="FF0000"/>
                            </a:solidFill>
                            <a:latin typeface="Cambria Math" panose="02040503050406030204" pitchFamily="18" charset="0"/>
                            <a:ea typeface="Cambria Math" panose="02040503050406030204" pitchFamily="18" charset="0"/>
                          </a:rPr>
                          <m:t>𝑘𝑛</m:t>
                        </m:r>
                      </m:sup>
                    </m:sSup>
                  </m:oMath>
                </a14:m>
                <a:endParaRPr lang="zh-CN" altLang="en-US" dirty="0">
                  <a:solidFill>
                    <a:srgbClr val="FF0000"/>
                  </a:solidFill>
                </a:endParaRPr>
              </a:p>
            </p:txBody>
          </p:sp>
        </mc:Choice>
        <mc:Fallback xmlns="">
          <p:sp>
            <p:nvSpPr>
              <p:cNvPr id="6" name="矩形标注 5"/>
              <p:cNvSpPr>
                <a:spLocks noRot="1" noChangeAspect="1" noMove="1" noResize="1" noEditPoints="1" noAdjustHandles="1" noChangeArrowheads="1" noChangeShapeType="1" noTextEdit="1"/>
              </p:cNvSpPr>
              <p:nvPr/>
            </p:nvSpPr>
            <p:spPr>
              <a:xfrm>
                <a:off x="1568695" y="6018347"/>
                <a:ext cx="1257300" cy="353290"/>
              </a:xfrm>
              <a:prstGeom prst="wedgeRectCallout">
                <a:avLst>
                  <a:gd name="adj1" fmla="val 64881"/>
                  <a:gd name="adj2" fmla="val -54121"/>
                </a:avLst>
              </a:prstGeom>
              <a:blipFill rotWithShape="0">
                <a:blip r:embed="rId4"/>
                <a:stretch>
                  <a:fillRect/>
                </a:stretch>
              </a:blipFill>
              <a:ln>
                <a:noFill/>
              </a:ln>
              <a:effectLst>
                <a:outerShdw blurRad="50800" dist="38100" dir="5400000" algn="t" rotWithShape="0">
                  <a:prstClr val="black">
                    <a:alpha val="40000"/>
                  </a:prstClr>
                </a:outerShdw>
              </a:effectLst>
            </p:spPr>
            <p:txBody>
              <a:bodyPr/>
              <a:lstStyle/>
              <a:p>
                <a:r>
                  <a:rPr lang="zh-CN" altLang="en-US">
                    <a:noFill/>
                  </a:rPr>
                  <a:t> </a:t>
                </a:r>
              </a:p>
            </p:txBody>
          </p:sp>
        </mc:Fallback>
      </mc:AlternateContent>
      <p:sp>
        <p:nvSpPr>
          <p:cNvPr id="7" name="矩形标注 6"/>
          <p:cNvSpPr/>
          <p:nvPr/>
        </p:nvSpPr>
        <p:spPr>
          <a:xfrm>
            <a:off x="1298308" y="2912590"/>
            <a:ext cx="1388919" cy="353290"/>
          </a:xfrm>
          <a:prstGeom prst="wedgeRectCallout">
            <a:avLst>
              <a:gd name="adj1" fmla="val 64133"/>
              <a:gd name="adj2" fmla="val 57644"/>
            </a:avLst>
          </a:prstGeom>
          <a:solidFill>
            <a:schemeClr val="accent1"/>
          </a:solidFill>
          <a:ln>
            <a:no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rgbClr val="FF0000"/>
                </a:solidFill>
              </a:rPr>
              <a:t>预测知识点</a:t>
            </a:r>
            <a:endParaRPr lang="zh-CN" altLang="en-US" dirty="0">
              <a:solidFill>
                <a:srgbClr val="FF0000"/>
              </a:solidFill>
            </a:endParaRPr>
          </a:p>
        </p:txBody>
      </p:sp>
      <mc:AlternateContent xmlns:mc="http://schemas.openxmlformats.org/markup-compatibility/2006" xmlns:a14="http://schemas.microsoft.com/office/drawing/2010/main">
        <mc:Choice Requires="a14">
          <p:sp>
            <p:nvSpPr>
              <p:cNvPr id="8" name="矩形标注 7"/>
              <p:cNvSpPr/>
              <p:nvPr/>
            </p:nvSpPr>
            <p:spPr>
              <a:xfrm>
                <a:off x="3602819" y="3070360"/>
                <a:ext cx="1491445" cy="353290"/>
              </a:xfrm>
              <a:prstGeom prst="wedgeRectCallout">
                <a:avLst>
                  <a:gd name="adj1" fmla="val -24146"/>
                  <a:gd name="adj2" fmla="val 125291"/>
                </a:avLst>
              </a:prstGeom>
              <a:solidFill>
                <a:schemeClr val="accent1"/>
              </a:solidFill>
              <a:ln>
                <a:no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rgbClr val="FF0000"/>
                    </a:solidFill>
                  </a:rPr>
                  <a:t>优化后的</a:t>
                </a:r>
                <a14:m>
                  <m:oMath xmlns:m="http://schemas.openxmlformats.org/officeDocument/2006/math">
                    <m:sSup>
                      <m:sSupPr>
                        <m:ctrlPr>
                          <a:rPr lang="en-US" altLang="zh-CN" b="1" i="1">
                            <a:solidFill>
                              <a:srgbClr val="FF0000"/>
                            </a:solidFill>
                            <a:latin typeface="Cambria Math" panose="02040503050406030204" pitchFamily="18" charset="0"/>
                            <a:ea typeface="Cambria Math" panose="02040503050406030204" pitchFamily="18" charset="0"/>
                          </a:rPr>
                        </m:ctrlPr>
                      </m:sSupPr>
                      <m:e>
                        <m:r>
                          <a:rPr lang="en-US" altLang="zh-CN" b="1" i="1">
                            <a:solidFill>
                              <a:srgbClr val="FF0000"/>
                            </a:solidFill>
                            <a:latin typeface="Cambria Math" panose="02040503050406030204" pitchFamily="18" charset="0"/>
                            <a:ea typeface="Cambria Math" panose="02040503050406030204" pitchFamily="18" charset="0"/>
                          </a:rPr>
                          <m:t>𝑭</m:t>
                        </m:r>
                      </m:e>
                      <m:sup>
                        <m:r>
                          <a:rPr lang="en-US" altLang="zh-CN" i="1">
                            <a:solidFill>
                              <a:srgbClr val="FF0000"/>
                            </a:solidFill>
                            <a:latin typeface="Cambria Math" panose="02040503050406030204" pitchFamily="18" charset="0"/>
                            <a:ea typeface="Cambria Math" panose="02040503050406030204" pitchFamily="18" charset="0"/>
                          </a:rPr>
                          <m:t>𝑘𝑛</m:t>
                        </m:r>
                      </m:sup>
                    </m:sSup>
                  </m:oMath>
                </a14:m>
                <a:endParaRPr lang="zh-CN" altLang="en-US" dirty="0">
                  <a:solidFill>
                    <a:srgbClr val="FF0000"/>
                  </a:solidFill>
                </a:endParaRPr>
              </a:p>
            </p:txBody>
          </p:sp>
        </mc:Choice>
        <mc:Fallback xmlns="">
          <p:sp>
            <p:nvSpPr>
              <p:cNvPr id="8" name="矩形标注 7"/>
              <p:cNvSpPr>
                <a:spLocks noRot="1" noChangeAspect="1" noMove="1" noResize="1" noEditPoints="1" noAdjustHandles="1" noChangeArrowheads="1" noChangeShapeType="1" noTextEdit="1"/>
              </p:cNvSpPr>
              <p:nvPr/>
            </p:nvSpPr>
            <p:spPr>
              <a:xfrm>
                <a:off x="3602819" y="3070360"/>
                <a:ext cx="1491445" cy="353290"/>
              </a:xfrm>
              <a:prstGeom prst="wedgeRectCallout">
                <a:avLst>
                  <a:gd name="adj1" fmla="val -24146"/>
                  <a:gd name="adj2" fmla="val 125291"/>
                </a:avLst>
              </a:prstGeom>
              <a:blipFill rotWithShape="0">
                <a:blip r:embed="rId5"/>
                <a:stretch>
                  <a:fillRect/>
                </a:stretch>
              </a:blipFill>
              <a:ln>
                <a:noFill/>
              </a:ln>
              <a:effectLst>
                <a:outerShdw blurRad="50800" dist="38100" dir="5400000" algn="t" rotWithShape="0">
                  <a:prstClr val="black">
                    <a:alpha val="40000"/>
                  </a:prstClr>
                </a:outerShdw>
              </a:effectLst>
            </p:spPr>
            <p:txBody>
              <a:bodyPr/>
              <a:lstStyle/>
              <a:p>
                <a:r>
                  <a:rPr lang="zh-CN" altLang="en-US">
                    <a:noFill/>
                  </a:rPr>
                  <a:t> </a:t>
                </a:r>
              </a:p>
            </p:txBody>
          </p:sp>
        </mc:Fallback>
      </mc:AlternateContent>
      <p:cxnSp>
        <p:nvCxnSpPr>
          <p:cNvPr id="9" name="直接箭头连接符 8"/>
          <p:cNvCxnSpPr/>
          <p:nvPr/>
        </p:nvCxnSpPr>
        <p:spPr>
          <a:xfrm flipV="1">
            <a:off x="3164422" y="5075843"/>
            <a:ext cx="696191" cy="685800"/>
          </a:xfrm>
          <a:prstGeom prst="straightConnector1">
            <a:avLst/>
          </a:prstGeom>
          <a:ln w="19050">
            <a:solidFill>
              <a:srgbClr val="FF0000"/>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3164422" y="4757915"/>
            <a:ext cx="696191" cy="823619"/>
          </a:xfrm>
          <a:prstGeom prst="straightConnector1">
            <a:avLst/>
          </a:prstGeom>
          <a:ln w="19050">
            <a:solidFill>
              <a:srgbClr val="FF0000"/>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3164422" y="3423650"/>
            <a:ext cx="696191" cy="478020"/>
          </a:xfrm>
          <a:prstGeom prst="straightConnector1">
            <a:avLst/>
          </a:prstGeom>
          <a:ln w="19050">
            <a:solidFill>
              <a:srgbClr val="FF0000"/>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3164422" y="3752715"/>
            <a:ext cx="696191" cy="822131"/>
          </a:xfrm>
          <a:prstGeom prst="straightConnector1">
            <a:avLst/>
          </a:prstGeom>
          <a:ln w="19050">
            <a:solidFill>
              <a:srgbClr val="FF0000"/>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DFF5D385-031F-4883-8A9F-071DCB045B1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3885676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5 </a:t>
            </a:r>
            <a:r>
              <a:rPr lang="zh-CN" altLang="en-US" dirty="0"/>
              <a:t>实验</a:t>
            </a:r>
          </a:p>
        </p:txBody>
      </p:sp>
      <p:sp>
        <p:nvSpPr>
          <p:cNvPr id="5" name="文本框 4"/>
          <p:cNvSpPr txBox="1"/>
          <p:nvPr/>
        </p:nvSpPr>
        <p:spPr>
          <a:xfrm>
            <a:off x="51961" y="1143705"/>
            <a:ext cx="8714232" cy="461665"/>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zh-CN" altLang="en-US" sz="2400" b="1" dirty="0">
                <a:latin typeface="Times New Roman" panose="02020603050405020304" pitchFamily="18" charset="0"/>
                <a:cs typeface="Times New Roman" panose="02020603050405020304" pitchFamily="18" charset="0"/>
              </a:rPr>
              <a:t>数据集</a:t>
            </a:r>
            <a:endParaRPr lang="en-US" altLang="zh-CN" sz="2400"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rotWithShape="1">
          <a:blip r:embed="rId3"/>
          <a:srcRect t="9430"/>
          <a:stretch/>
        </p:blipFill>
        <p:spPr>
          <a:xfrm>
            <a:off x="598179" y="1666423"/>
            <a:ext cx="4836273" cy="2003046"/>
          </a:xfrm>
          <a:prstGeom prst="rect">
            <a:avLst/>
          </a:prstGeom>
        </p:spPr>
      </p:pic>
      <p:sp>
        <p:nvSpPr>
          <p:cNvPr id="7" name="文本框 6"/>
          <p:cNvSpPr txBox="1"/>
          <p:nvPr/>
        </p:nvSpPr>
        <p:spPr>
          <a:xfrm>
            <a:off x="51961" y="3633232"/>
            <a:ext cx="5699760" cy="461665"/>
          </a:xfrm>
          <a:prstGeom prst="rect">
            <a:avLst/>
          </a:prstGeom>
          <a:noFill/>
        </p:spPr>
        <p:txBody>
          <a:bodyPr wrap="square" rtlCol="0">
            <a:spAutoFit/>
          </a:bodyPr>
          <a:lstStyle/>
          <a:p>
            <a:pPr marL="285750" indent="-285750">
              <a:buClr>
                <a:schemeClr val="accent5"/>
              </a:buClr>
              <a:buFont typeface="Wingdings" panose="05000000000000000000" pitchFamily="2" charset="2"/>
              <a:buChar char="n"/>
            </a:pPr>
            <a:r>
              <a:rPr lang="zh-CN" altLang="en-US" sz="2400" b="1" dirty="0">
                <a:latin typeface="Times New Roman" panose="02020603050405020304" pitchFamily="18" charset="0"/>
                <a:cs typeface="Times New Roman" panose="02020603050405020304" pitchFamily="18" charset="0"/>
              </a:rPr>
              <a:t>学生表现预测</a:t>
            </a:r>
            <a:endParaRPr lang="en-US" altLang="zh-CN" sz="2400" dirty="0">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rotWithShape="1">
          <a:blip r:embed="rId4"/>
          <a:srcRect t="9630"/>
          <a:stretch/>
        </p:blipFill>
        <p:spPr>
          <a:xfrm>
            <a:off x="756291" y="4133843"/>
            <a:ext cx="7735337" cy="2131213"/>
          </a:xfrm>
          <a:prstGeom prst="rect">
            <a:avLst/>
          </a:prstGeom>
        </p:spPr>
      </p:pic>
      <p:sp>
        <p:nvSpPr>
          <p:cNvPr id="9" name="矩形 8"/>
          <p:cNvSpPr/>
          <p:nvPr/>
        </p:nvSpPr>
        <p:spPr>
          <a:xfrm>
            <a:off x="801379" y="5692224"/>
            <a:ext cx="7690249" cy="4641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1961" y="5487397"/>
            <a:ext cx="749418" cy="400110"/>
          </a:xfrm>
          <a:prstGeom prst="rect">
            <a:avLst/>
          </a:prstGeom>
          <a:noFill/>
        </p:spPr>
        <p:txBody>
          <a:bodyPr wrap="square" rtlCol="0">
            <a:spAutoFit/>
          </a:bodyPr>
          <a:lstStyle/>
          <a:p>
            <a:r>
              <a:rPr lang="en-US" altLang="zh-CN" sz="2000" b="1" dirty="0">
                <a:solidFill>
                  <a:srgbClr val="FF0000"/>
                </a:solidFill>
                <a:latin typeface="Arial" panose="020B0604020202020204" pitchFamily="34" charset="0"/>
                <a:cs typeface="Arial" panose="020B0604020202020204" pitchFamily="34" charset="0"/>
              </a:rPr>
              <a:t>Best</a:t>
            </a:r>
            <a:endParaRPr lang="zh-CN" altLang="en-US" sz="2000" b="1" dirty="0">
              <a:solidFill>
                <a:srgbClr val="FF0000"/>
              </a:solidFill>
              <a:latin typeface="Arial" panose="020B0604020202020204" pitchFamily="34" charset="0"/>
              <a:cs typeface="Arial" panose="020B0604020202020204" pitchFamily="34" charset="0"/>
            </a:endParaRPr>
          </a:p>
        </p:txBody>
      </p:sp>
      <p:sp>
        <p:nvSpPr>
          <p:cNvPr id="11" name="文本框 10"/>
          <p:cNvSpPr txBox="1"/>
          <p:nvPr/>
        </p:nvSpPr>
        <p:spPr>
          <a:xfrm>
            <a:off x="5829927" y="1605370"/>
            <a:ext cx="3023016" cy="1938992"/>
          </a:xfrm>
          <a:prstGeom prst="rect">
            <a:avLst/>
          </a:prstGeom>
          <a:noFill/>
        </p:spPr>
        <p:txBody>
          <a:bodyPr wrap="square" rtlCol="0">
            <a:spAutoFit/>
          </a:bodyPr>
          <a:lstStyle/>
          <a:p>
            <a:pPr marL="285750" indent="-285750">
              <a:buClr>
                <a:schemeClr val="accent5"/>
              </a:buClr>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Math</a:t>
            </a:r>
            <a:r>
              <a:rPr lang="en-US" altLang="zh-CN" sz="2000" dirty="0">
                <a:latin typeface="Times New Roman" panose="02020603050405020304" pitchFamily="18" charset="0"/>
                <a:cs typeface="Times New Roman" panose="02020603050405020304" pitchFamily="18" charset="0"/>
              </a:rPr>
              <a:t>: Zhixue</a:t>
            </a:r>
            <a:r>
              <a:rPr lang="en-US" altLang="zh-CN" sz="2000" baseline="30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 mathematical exercises (</a:t>
            </a:r>
            <a:r>
              <a:rPr lang="en-US" altLang="zh-CN" sz="2000" dirty="0">
                <a:solidFill>
                  <a:schemeClr val="accent5"/>
                </a:solidFill>
                <a:latin typeface="Times New Roman" panose="02020603050405020304" pitchFamily="18" charset="0"/>
                <a:cs typeface="Times New Roman" panose="02020603050405020304" pitchFamily="18" charset="0"/>
              </a:rPr>
              <a:t>with texts</a:t>
            </a:r>
            <a:r>
              <a:rPr lang="en-US" altLang="zh-CN" sz="2000" dirty="0">
                <a:latin typeface="Times New Roman" panose="02020603050405020304" pitchFamily="18" charset="0"/>
                <a:cs typeface="Times New Roman" panose="02020603050405020304" pitchFamily="18" charset="0"/>
              </a:rPr>
              <a:t>) and logs</a:t>
            </a:r>
          </a:p>
          <a:p>
            <a:pPr marL="285750" indent="-285750">
              <a:buClr>
                <a:schemeClr val="accent5"/>
              </a:buClr>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ASSIST</a:t>
            </a:r>
            <a:r>
              <a:rPr lang="en-US" altLang="zh-CN" sz="2000" dirty="0">
                <a:latin typeface="Times New Roman" panose="02020603050405020304" pitchFamily="18" charset="0"/>
                <a:cs typeface="Times New Roman" panose="02020603050405020304" pitchFamily="18" charset="0"/>
              </a:rPr>
              <a:t>: Assistment</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 mathematical exercises (</a:t>
            </a:r>
            <a:r>
              <a:rPr lang="en-US" altLang="zh-CN" sz="2000" dirty="0">
                <a:solidFill>
                  <a:schemeClr val="accent5"/>
                </a:solidFill>
                <a:latin typeface="Times New Roman" panose="02020603050405020304" pitchFamily="18" charset="0"/>
                <a:cs typeface="Times New Roman" panose="02020603050405020304" pitchFamily="18" charset="0"/>
              </a:rPr>
              <a:t>without texts</a:t>
            </a:r>
            <a:r>
              <a:rPr lang="en-US" altLang="zh-CN" sz="2000" dirty="0">
                <a:latin typeface="Times New Roman" panose="02020603050405020304" pitchFamily="18" charset="0"/>
                <a:cs typeface="Times New Roman" panose="02020603050405020304" pitchFamily="18" charset="0"/>
              </a:rPr>
              <a:t>) and logs </a:t>
            </a:r>
          </a:p>
        </p:txBody>
      </p:sp>
      <p:sp>
        <p:nvSpPr>
          <p:cNvPr id="12" name="文本框 11"/>
          <p:cNvSpPr txBox="1"/>
          <p:nvPr/>
        </p:nvSpPr>
        <p:spPr>
          <a:xfrm>
            <a:off x="51961" y="6304002"/>
            <a:ext cx="9143999" cy="553998"/>
          </a:xfrm>
          <a:prstGeom prst="rect">
            <a:avLst/>
          </a:prstGeom>
          <a:noFill/>
        </p:spPr>
        <p:txBody>
          <a:bodyPr wrap="square" rtlCol="0">
            <a:spAutoFit/>
          </a:bodyPr>
          <a:lstStyle/>
          <a:p>
            <a:r>
              <a:rPr lang="en-US" altLang="zh-CN" sz="1500" baseline="30000" dirty="0">
                <a:latin typeface="Times New Roman" panose="02020603050405020304" pitchFamily="18" charset="0"/>
                <a:cs typeface="Times New Roman" panose="02020603050405020304" pitchFamily="18" charset="0"/>
              </a:rPr>
              <a:t>1</a:t>
            </a:r>
            <a:r>
              <a:rPr lang="en-US" altLang="zh-CN" sz="1500" dirty="0">
                <a:latin typeface="Times New Roman" panose="02020603050405020304" pitchFamily="18" charset="0"/>
                <a:cs typeface="Times New Roman" panose="02020603050405020304" pitchFamily="18" charset="0"/>
              </a:rPr>
              <a:t>Private dataset, provided by </a:t>
            </a:r>
            <a:r>
              <a:rPr lang="en-US" altLang="zh-CN" sz="1500" dirty="0" err="1">
                <a:latin typeface="Times New Roman" panose="02020603050405020304" pitchFamily="18" charset="0"/>
                <a:cs typeface="Times New Roman" panose="02020603050405020304" pitchFamily="18" charset="0"/>
              </a:rPr>
              <a:t>iFLYTEK</a:t>
            </a:r>
            <a:r>
              <a:rPr lang="en-US" altLang="zh-CN" sz="1500" dirty="0">
                <a:latin typeface="Times New Roman" panose="02020603050405020304" pitchFamily="18" charset="0"/>
                <a:cs typeface="Times New Roman" panose="02020603050405020304" pitchFamily="18" charset="0"/>
              </a:rPr>
              <a:t> Co., Ltd.</a:t>
            </a:r>
          </a:p>
          <a:p>
            <a:r>
              <a:rPr lang="en-US" altLang="zh-CN" sz="1500" baseline="30000" dirty="0"/>
              <a:t>2</a:t>
            </a:r>
            <a:r>
              <a:rPr lang="en-US" altLang="zh-CN" sz="1500" dirty="0"/>
              <a:t>https://sites.google.com/site/</a:t>
            </a:r>
            <a:r>
              <a:rPr lang="en-US" altLang="zh-CN" sz="1500" dirty="0" err="1"/>
              <a:t>assistmentsdata</a:t>
            </a:r>
            <a:r>
              <a:rPr lang="en-US" altLang="zh-CN" sz="1500" dirty="0"/>
              <a:t>/home/assistment-2009-2010-data/skill-builder-data-2009-2010</a:t>
            </a:r>
            <a:endParaRPr lang="zh-CN" altLang="en-US" sz="1500" dirty="0">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979A8A6F-B88B-4113-86EE-FC86090DA5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222384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5 </a:t>
            </a:r>
            <a:r>
              <a:rPr lang="zh-CN" altLang="en-US" dirty="0"/>
              <a:t>实验</a:t>
            </a:r>
          </a:p>
        </p:txBody>
      </p:sp>
      <p:sp>
        <p:nvSpPr>
          <p:cNvPr id="8" name="文本框 7"/>
          <p:cNvSpPr txBox="1"/>
          <p:nvPr/>
        </p:nvSpPr>
        <p:spPr>
          <a:xfrm>
            <a:off x="0" y="1095169"/>
            <a:ext cx="9052560" cy="1138773"/>
          </a:xfrm>
          <a:prstGeom prst="rect">
            <a:avLst/>
          </a:prstGeom>
          <a:noFill/>
        </p:spPr>
        <p:txBody>
          <a:bodyPr wrap="square" rtlCol="0">
            <a:spAutoFit/>
          </a:bodyPr>
          <a:lstStyle/>
          <a:p>
            <a:pPr marL="285750" indent="-285750">
              <a:buClr>
                <a:schemeClr val="accent5"/>
              </a:buClr>
              <a:buFont typeface="Wingdings" panose="05000000000000000000" pitchFamily="2" charset="2"/>
              <a:buChar char="n"/>
            </a:pPr>
            <a:r>
              <a:rPr lang="zh-CN" altLang="en-US" sz="2400" b="1" dirty="0">
                <a:latin typeface="Times New Roman" panose="02020603050405020304" pitchFamily="18" charset="0"/>
                <a:cs typeface="Times New Roman" panose="02020603050405020304" pitchFamily="18" charset="0"/>
              </a:rPr>
              <a:t>模型可解释性</a:t>
            </a:r>
          </a:p>
          <a:p>
            <a:pPr marL="742950" lvl="1" indent="-285750">
              <a:buClr>
                <a:schemeClr val="accent5"/>
              </a:buClr>
              <a:buFont typeface="Wingdings" panose="05000000000000000000" pitchFamily="2" charset="2"/>
              <a:buChar char="n"/>
            </a:pPr>
            <a:r>
              <a:rPr lang="zh-CN" altLang="en-US" sz="2200" dirty="0">
                <a:latin typeface="Times New Roman" panose="02020603050405020304" pitchFamily="18" charset="0"/>
                <a:cs typeface="Times New Roman" panose="02020603050405020304" pitchFamily="18" charset="0"/>
              </a:rPr>
              <a:t>如果学生𝑎比学生𝑏对知识概念𝑘有更好的掌握，那么𝑎比𝑏更有可能正确回答与𝑘相关的练习。</a:t>
            </a:r>
            <a:endParaRPr lang="en-US" altLang="zh-CN" sz="2200"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1948708" y="2364738"/>
            <a:ext cx="5246583" cy="657192"/>
          </a:xfrm>
          <a:prstGeom prst="rect">
            <a:avLst/>
          </a:prstGeom>
        </p:spPr>
      </p:pic>
      <p:pic>
        <p:nvPicPr>
          <p:cNvPr id="10" name="图片 9"/>
          <p:cNvPicPr>
            <a:picLocks noChangeAspect="1"/>
          </p:cNvPicPr>
          <p:nvPr/>
        </p:nvPicPr>
        <p:blipFill>
          <a:blip r:embed="rId4"/>
          <a:stretch>
            <a:fillRect/>
          </a:stretch>
        </p:blipFill>
        <p:spPr>
          <a:xfrm>
            <a:off x="91441" y="3150534"/>
            <a:ext cx="4314825" cy="3543300"/>
          </a:xfrm>
          <a:prstGeom prst="rect">
            <a:avLst/>
          </a:prstGeom>
        </p:spPr>
      </p:pic>
      <p:sp>
        <p:nvSpPr>
          <p:cNvPr id="11" name="文本框 10"/>
          <p:cNvSpPr txBox="1"/>
          <p:nvPr/>
        </p:nvSpPr>
        <p:spPr>
          <a:xfrm>
            <a:off x="4480560" y="4198909"/>
            <a:ext cx="4572000" cy="1107996"/>
          </a:xfrm>
          <a:prstGeom prst="rect">
            <a:avLst/>
          </a:prstGeom>
          <a:noFill/>
        </p:spPr>
        <p:txBody>
          <a:bodyPr wrap="square" rtlCol="0">
            <a:spAutoFit/>
          </a:bodyPr>
          <a:lstStyle/>
          <a:p>
            <a:pPr>
              <a:buClr>
                <a:schemeClr val="accent5"/>
              </a:buClr>
            </a:pPr>
            <a:r>
              <a:rPr lang="zh-CN" altLang="en-US" sz="2200" dirty="0">
                <a:latin typeface="Arial" panose="020B0604020202020204" pitchFamily="34" charset="0"/>
                <a:cs typeface="Arial" panose="020B0604020202020204" pitchFamily="34" charset="0"/>
              </a:rPr>
              <a:t>高</a:t>
            </a:r>
            <a:r>
              <a:rPr lang="en-US" altLang="zh-CN" sz="2200" dirty="0">
                <a:latin typeface="Arial" panose="020B0604020202020204" pitchFamily="34" charset="0"/>
                <a:cs typeface="Arial" panose="020B0604020202020204" pitchFamily="34" charset="0"/>
              </a:rPr>
              <a:t> DOA</a:t>
            </a:r>
            <a:r>
              <a:rPr lang="zh-CN" altLang="en-US" sz="2200" dirty="0">
                <a:latin typeface="Arial" panose="020B0604020202020204" pitchFamily="34" charset="0"/>
                <a:cs typeface="Arial" panose="020B0604020202020204" pitchFamily="34" charset="0"/>
              </a:rPr>
              <a:t>值</a:t>
            </a:r>
            <a:r>
              <a:rPr lang="en-US" altLang="zh-CN" sz="2200" dirty="0">
                <a:latin typeface="Arial" panose="020B0604020202020204" pitchFamily="34" charset="0"/>
                <a:cs typeface="Arial" panose="020B0604020202020204" pitchFamily="34" charset="0"/>
              </a:rPr>
              <a:t>:</a:t>
            </a:r>
            <a:r>
              <a:rPr lang="zh-CN" altLang="en-US" sz="2200" dirty="0">
                <a:latin typeface="Arial" panose="020B0604020202020204" pitchFamily="34" charset="0"/>
                <a:cs typeface="Arial" panose="020B0604020202020204" pitchFamily="34" charset="0"/>
              </a:rPr>
              <a:t>在某些知识概念上掌握好的学生获得更高的诊断知识熟练程度</a:t>
            </a:r>
            <a:endParaRPr lang="zh-CN" altLang="en-US" sz="2200" dirty="0">
              <a:solidFill>
                <a:srgbClr val="FF0000"/>
              </a:solidFill>
              <a:latin typeface="Arial" panose="020B0604020202020204" pitchFamily="34" charset="0"/>
              <a:cs typeface="Arial" panose="020B0604020202020204" pitchFamily="34" charset="0"/>
            </a:endParaRPr>
          </a:p>
        </p:txBody>
      </p:sp>
      <p:sp>
        <p:nvSpPr>
          <p:cNvPr id="12" name="椭圆 11"/>
          <p:cNvSpPr/>
          <p:nvPr/>
        </p:nvSpPr>
        <p:spPr>
          <a:xfrm>
            <a:off x="612476" y="4113037"/>
            <a:ext cx="793630" cy="4572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610929" y="4464984"/>
            <a:ext cx="793630" cy="4572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8CF889BB-1FC7-4443-9578-F3033A1D18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2547915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5 </a:t>
            </a:r>
            <a:r>
              <a:rPr lang="zh-CN" altLang="en-US" dirty="0"/>
              <a:t>实验</a:t>
            </a:r>
          </a:p>
        </p:txBody>
      </p:sp>
      <p:sp>
        <p:nvSpPr>
          <p:cNvPr id="4" name="文本框 3"/>
          <p:cNvSpPr txBox="1"/>
          <p:nvPr/>
        </p:nvSpPr>
        <p:spPr>
          <a:xfrm>
            <a:off x="283464" y="1304285"/>
            <a:ext cx="3714707" cy="1323439"/>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案例研究</a:t>
            </a:r>
            <a:endParaRPr lang="en-US" altLang="zh-CN" sz="2000" b="1"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en-US" altLang="zh-CN" sz="2000" dirty="0">
                <a:latin typeface="Times New Roman" panose="02020603050405020304" pitchFamily="18" charset="0"/>
                <a:cs typeface="Times New Roman" panose="02020603050405020304" pitchFamily="18" charset="0"/>
              </a:rPr>
              <a:t>ASSIST</a:t>
            </a:r>
            <a:r>
              <a:rPr lang="zh-CN" altLang="en-US" sz="2000" dirty="0">
                <a:latin typeface="Times New Roman" panose="02020603050405020304" pitchFamily="18" charset="0"/>
                <a:cs typeface="Times New Roman" panose="02020603050405020304" pitchFamily="18" charset="0"/>
              </a:rPr>
              <a:t>数据集中某个学生在</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道习题上的表现及其诊断结果</a:t>
            </a:r>
            <a:endParaRPr lang="en-US" altLang="zh-CN" sz="2000"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3998171" y="2080329"/>
            <a:ext cx="4928230" cy="3889016"/>
          </a:xfrm>
          <a:prstGeom prst="rect">
            <a:avLst/>
          </a:prstGeom>
        </p:spPr>
      </p:pic>
      <p:sp>
        <p:nvSpPr>
          <p:cNvPr id="6" name="文本框 5"/>
          <p:cNvSpPr txBox="1"/>
          <p:nvPr/>
        </p:nvSpPr>
        <p:spPr>
          <a:xfrm>
            <a:off x="5282414" y="1706703"/>
            <a:ext cx="1179872"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Q-</a:t>
            </a:r>
            <a:r>
              <a:rPr lang="zh-CN" altLang="en-US" sz="2000" dirty="0">
                <a:latin typeface="Arial" panose="020B0604020202020204" pitchFamily="34" charset="0"/>
                <a:cs typeface="Arial" panose="020B0604020202020204" pitchFamily="34" charset="0"/>
              </a:rPr>
              <a:t>矩阵</a:t>
            </a:r>
          </a:p>
        </p:txBody>
      </p:sp>
      <p:sp>
        <p:nvSpPr>
          <p:cNvPr id="7" name="文本框 6"/>
          <p:cNvSpPr txBox="1"/>
          <p:nvPr/>
        </p:nvSpPr>
        <p:spPr>
          <a:xfrm>
            <a:off x="8090413" y="1407459"/>
            <a:ext cx="835988" cy="707886"/>
          </a:xfrm>
          <a:prstGeom prst="rect">
            <a:avLst/>
          </a:prstGeom>
          <a:noFill/>
        </p:spPr>
        <p:txBody>
          <a:bodyPr wrap="square" rtlCol="0">
            <a:spAutoFit/>
          </a:bodyPr>
          <a:lstStyle/>
          <a:p>
            <a:r>
              <a:rPr lang="zh-CN" altLang="en-US" sz="2000" dirty="0">
                <a:latin typeface="Arial" panose="020B0604020202020204" pitchFamily="34" charset="0"/>
                <a:cs typeface="Arial" panose="020B0604020202020204" pitchFamily="34" charset="0"/>
              </a:rPr>
              <a:t>作答情况</a:t>
            </a:r>
          </a:p>
        </p:txBody>
      </p:sp>
      <p:sp>
        <p:nvSpPr>
          <p:cNvPr id="8" name="文本框 7"/>
          <p:cNvSpPr txBox="1"/>
          <p:nvPr/>
        </p:nvSpPr>
        <p:spPr>
          <a:xfrm>
            <a:off x="4344692" y="6288629"/>
            <a:ext cx="4457532" cy="369332"/>
          </a:xfrm>
          <a:prstGeom prst="rect">
            <a:avLst/>
          </a:prstGeom>
          <a:noFill/>
        </p:spPr>
        <p:txBody>
          <a:bodyPr wrap="square" rtlCol="0">
            <a:spAutoFit/>
          </a:bodyPr>
          <a:lstStyle/>
          <a:p>
            <a:r>
              <a:rPr lang="zh-CN" altLang="en-US" dirty="0">
                <a:latin typeface="Arial" panose="020B0604020202020204" pitchFamily="34" charset="0"/>
                <a:cs typeface="Arial" panose="020B0604020202020204" pitchFamily="34" charset="0"/>
              </a:rPr>
              <a:t>学生知识水平</a:t>
            </a:r>
            <a:r>
              <a:rPr lang="en-US" altLang="zh-CN" dirty="0">
                <a:latin typeface="Arial" panose="020B0604020202020204" pitchFamily="34" charset="0"/>
                <a:cs typeface="Arial" panose="020B0604020202020204" pitchFamily="34" charset="0"/>
              </a:rPr>
              <a:t>(bars)</a:t>
            </a:r>
            <a:endParaRPr lang="zh-CN" altLang="en-US" dirty="0">
              <a:latin typeface="Arial" panose="020B0604020202020204" pitchFamily="34" charset="0"/>
              <a:cs typeface="Arial" panose="020B0604020202020204" pitchFamily="34" charset="0"/>
            </a:endParaRPr>
          </a:p>
        </p:txBody>
      </p:sp>
      <p:sp>
        <p:nvSpPr>
          <p:cNvPr id="9" name="矩形 8"/>
          <p:cNvSpPr/>
          <p:nvPr/>
        </p:nvSpPr>
        <p:spPr>
          <a:xfrm>
            <a:off x="4344692" y="5969345"/>
            <a:ext cx="1877437" cy="369332"/>
          </a:xfrm>
          <a:prstGeom prst="rect">
            <a:avLst/>
          </a:prstGeom>
        </p:spPr>
        <p:txBody>
          <a:bodyPr wrap="none">
            <a:spAutoFit/>
          </a:bodyPr>
          <a:lstStyle/>
          <a:p>
            <a:r>
              <a:rPr lang="zh-CN" altLang="en-US" dirty="0">
                <a:latin typeface="Arial" panose="020B0604020202020204" pitchFamily="34" charset="0"/>
                <a:cs typeface="Arial" panose="020B0604020202020204" pitchFamily="34" charset="0"/>
              </a:rPr>
              <a:t>习题难度</a:t>
            </a:r>
            <a:r>
              <a:rPr lang="en-US" altLang="zh-CN" dirty="0">
                <a:latin typeface="Arial" panose="020B0604020202020204" pitchFamily="34" charset="0"/>
                <a:cs typeface="Arial" panose="020B0604020202020204" pitchFamily="34" charset="0"/>
              </a:rPr>
              <a:t>(points)</a:t>
            </a:r>
            <a:endParaRPr lang="zh-CN" altLang="en-US" dirty="0">
              <a:latin typeface="Arial" panose="020B0604020202020204" pitchFamily="34" charset="0"/>
              <a:cs typeface="Arial" panose="020B0604020202020204" pitchFamily="34" charset="0"/>
            </a:endParaRPr>
          </a:p>
        </p:txBody>
      </p:sp>
      <p:sp>
        <p:nvSpPr>
          <p:cNvPr id="10" name="矩形 9"/>
          <p:cNvSpPr/>
          <p:nvPr/>
        </p:nvSpPr>
        <p:spPr>
          <a:xfrm>
            <a:off x="283464" y="3403045"/>
            <a:ext cx="3419069" cy="1015663"/>
          </a:xfrm>
          <a:prstGeom prst="rect">
            <a:avLst/>
          </a:prstGeom>
          <a:solidFill>
            <a:schemeClr val="bg1"/>
          </a:solidFill>
          <a:ln w="19050">
            <a:solidFill>
              <a:schemeClr val="tx1"/>
            </a:solidFill>
            <a:prstDash val="dash"/>
          </a:ln>
          <a:effectLst>
            <a:outerShdw blurRad="50800" dist="38100" dir="5400000" algn="t" rotWithShape="0">
              <a:prstClr val="black">
                <a:alpha val="40000"/>
              </a:prstClr>
            </a:outerShdw>
          </a:effectLst>
        </p:spPr>
        <p:txBody>
          <a:bodyPr wrap="square">
            <a:spAutoFit/>
          </a:bodyPr>
          <a:lstStyle/>
          <a:p>
            <a:r>
              <a:rPr lang="zh-CN" altLang="en-US" sz="2000" dirty="0">
                <a:latin typeface="Arial" panose="020B0604020202020204" pitchFamily="34" charset="0"/>
                <a:cs typeface="Arial" panose="020B0604020202020204" pitchFamily="34" charset="0"/>
              </a:rPr>
              <a:t>当学生的熟练程度满足习题的要求时，他</a:t>
            </a:r>
            <a:r>
              <a:rPr lang="en-US" altLang="zh-CN" sz="2000" dirty="0">
                <a:latin typeface="Arial" panose="020B0604020202020204" pitchFamily="34" charset="0"/>
                <a:cs typeface="Arial" panose="020B0604020202020204" pitchFamily="34" charset="0"/>
              </a:rPr>
              <a:t>/</a:t>
            </a:r>
            <a:r>
              <a:rPr lang="zh-CN" altLang="en-US" sz="2000" dirty="0">
                <a:latin typeface="Arial" panose="020B0604020202020204" pitchFamily="34" charset="0"/>
                <a:cs typeface="Arial" panose="020B0604020202020204" pitchFamily="34" charset="0"/>
              </a:rPr>
              <a:t>她更有可能做出正确的反应。</a:t>
            </a:r>
          </a:p>
        </p:txBody>
      </p:sp>
      <p:pic>
        <p:nvPicPr>
          <p:cNvPr id="11" name="图片 10">
            <a:extLst>
              <a:ext uri="{FF2B5EF4-FFF2-40B4-BE49-F238E27FC236}">
                <a16:creationId xmlns:a16="http://schemas.microsoft.com/office/drawing/2014/main" id="{11478A11-9603-4ABA-B843-95125E2A524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1919443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6 </a:t>
            </a:r>
            <a:r>
              <a:rPr lang="zh-CN" altLang="en-US" dirty="0"/>
              <a:t>结论</a:t>
            </a:r>
          </a:p>
        </p:txBody>
      </p:sp>
      <p:sp>
        <p:nvSpPr>
          <p:cNvPr id="3" name="文本框 2"/>
          <p:cNvSpPr txBox="1"/>
          <p:nvPr/>
        </p:nvSpPr>
        <p:spPr>
          <a:xfrm>
            <a:off x="177842" y="1422116"/>
            <a:ext cx="8714232" cy="3170099"/>
          </a:xfrm>
          <a:prstGeom prst="rect">
            <a:avLst/>
          </a:prstGeom>
          <a:solidFill>
            <a:schemeClr val="bg1"/>
          </a:solidFill>
        </p:spPr>
        <p:txBody>
          <a:bodyPr wrap="square" rtlCol="0">
            <a:spAutoFit/>
          </a:bodyPr>
          <a:lstStyle/>
          <a:p>
            <a:pPr marL="285750"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文章提出了一种全新的神经认知诊断框架</a:t>
            </a:r>
            <a:r>
              <a:rPr lang="en-US" altLang="zh-CN" sz="2000" dirty="0">
                <a:latin typeface="Arial" panose="020B0604020202020204" pitchFamily="34" charset="0"/>
                <a:cs typeface="Arial" panose="020B0604020202020204" pitchFamily="34" charset="0"/>
              </a:rPr>
              <a:t>: </a:t>
            </a:r>
            <a:r>
              <a:rPr lang="en-US" altLang="zh-CN" sz="2000" dirty="0" err="1">
                <a:latin typeface="Arial" panose="020B0604020202020204" pitchFamily="34" charset="0"/>
                <a:cs typeface="Arial" panose="020B0604020202020204" pitchFamily="34" charset="0"/>
              </a:rPr>
              <a:t>NeuralCD</a:t>
            </a: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学生和习题特征向量</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神经网络表征的交互函数</a:t>
            </a:r>
            <a:endParaRPr lang="en-US" altLang="zh-CN" sz="2000" dirty="0">
              <a:latin typeface="Arial" panose="020B0604020202020204" pitchFamily="34" charset="0"/>
              <a:cs typeface="Arial" panose="020B0604020202020204" pitchFamily="34" charset="0"/>
            </a:endParaRPr>
          </a:p>
          <a:p>
            <a:pPr marL="742950" lvl="1" indent="-285750">
              <a:buClr>
                <a:schemeClr val="accent5"/>
              </a:buClr>
              <a:buFont typeface="Wingdings" panose="05000000000000000000" pitchFamily="2" charset="2"/>
              <a:buChar char="n"/>
            </a:pPr>
            <a:r>
              <a:rPr lang="zh-CN" altLang="en-US" sz="2000" dirty="0">
                <a:latin typeface="Arial" panose="020B0604020202020204" pitchFamily="34" charset="0"/>
                <a:cs typeface="Arial" panose="020B0604020202020204" pitchFamily="34" charset="0"/>
              </a:rPr>
              <a:t>单调性假设</a:t>
            </a:r>
            <a:endParaRPr lang="en-US" altLang="zh-CN" sz="2000" dirty="0">
              <a:latin typeface="Arial" panose="020B0604020202020204" pitchFamily="34" charset="0"/>
              <a:cs typeface="Arial" panose="020B0604020202020204" pitchFamily="34" charset="0"/>
            </a:endParaRPr>
          </a:p>
          <a:p>
            <a:pPr lvl="1">
              <a:buClr>
                <a:schemeClr val="accent5"/>
              </a:buClr>
            </a:pPr>
            <a:endParaRPr lang="en-US" altLang="zh-CN" sz="2000" dirty="0">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endParaRPr lang="en-US" altLang="zh-CN" sz="2000" dirty="0">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实现方式</a:t>
            </a:r>
            <a:r>
              <a:rPr lang="en-US" altLang="zh-CN" sz="2000" b="1" dirty="0">
                <a:latin typeface="Arial" panose="020B0604020202020204" pitchFamily="34" charset="0"/>
                <a:cs typeface="Arial" panose="020B0604020202020204" pitchFamily="34" charset="0"/>
              </a:rPr>
              <a:t>1</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嵌入</a:t>
            </a:r>
            <a:r>
              <a:rPr lang="en-US" altLang="zh-CN" sz="2000" dirty="0">
                <a:latin typeface="Arial" panose="020B0604020202020204" pitchFamily="34" charset="0"/>
                <a:cs typeface="Arial" panose="020B0604020202020204" pitchFamily="34" charset="0"/>
              </a:rPr>
              <a:t>Q-</a:t>
            </a:r>
            <a:r>
              <a:rPr lang="zh-CN" altLang="en-US" sz="2000" dirty="0">
                <a:latin typeface="Arial" panose="020B0604020202020204" pitchFamily="34" charset="0"/>
                <a:cs typeface="Arial" panose="020B0604020202020204" pitchFamily="34" charset="0"/>
              </a:rPr>
              <a:t>矩阵的神经认知诊断模型</a:t>
            </a:r>
            <a:endParaRPr lang="en-US" altLang="zh-CN" sz="2000" dirty="0">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实现方式</a:t>
            </a:r>
            <a:r>
              <a:rPr lang="en-US" altLang="zh-CN" sz="2000" b="1" dirty="0">
                <a:latin typeface="Arial" panose="020B0604020202020204" pitchFamily="34" charset="0"/>
                <a:cs typeface="Arial" panose="020B0604020202020204" pitchFamily="34" charset="0"/>
              </a:rPr>
              <a:t>2</a:t>
            </a:r>
            <a:r>
              <a:rPr lang="en-US" altLang="zh-CN" sz="2000" dirty="0">
                <a:latin typeface="Arial" panose="020B0604020202020204" pitchFamily="34" charset="0"/>
                <a:cs typeface="Arial" panose="020B0604020202020204" pitchFamily="34" charset="0"/>
              </a:rPr>
              <a:t>:</a:t>
            </a:r>
            <a:r>
              <a:rPr lang="zh-CN" altLang="en-US" sz="2000" dirty="0">
                <a:latin typeface="Arial" panose="020B0604020202020204" pitchFamily="34" charset="0"/>
                <a:cs typeface="Arial" panose="020B0604020202020204" pitchFamily="34" charset="0"/>
              </a:rPr>
              <a:t>利用习题文本信息的改进</a:t>
            </a:r>
            <a:r>
              <a:rPr lang="en-US" altLang="zh-CN" sz="2000" dirty="0">
                <a:latin typeface="Arial" panose="020B0604020202020204" pitchFamily="34" charset="0"/>
                <a:cs typeface="Arial" panose="020B0604020202020204" pitchFamily="34" charset="0"/>
              </a:rPr>
              <a:t>Q</a:t>
            </a:r>
            <a:r>
              <a:rPr lang="zh-CN" altLang="en-US" sz="2000" dirty="0">
                <a:latin typeface="Arial" panose="020B0604020202020204" pitchFamily="34" charset="0"/>
                <a:cs typeface="Arial" panose="020B0604020202020204" pitchFamily="34" charset="0"/>
              </a:rPr>
              <a:t>矩阵的神经认知诊断模型</a:t>
            </a:r>
            <a:endParaRPr lang="en-US" altLang="zh-CN" sz="2000" dirty="0">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通用性</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可覆盖传统的模型</a:t>
            </a:r>
            <a:endParaRPr lang="en-US" altLang="zh-CN" sz="2000" dirty="0">
              <a:latin typeface="Arial" panose="020B0604020202020204" pitchFamily="34" charset="0"/>
              <a:cs typeface="Arial" panose="020B0604020202020204" pitchFamily="34" charset="0"/>
            </a:endParaRPr>
          </a:p>
          <a:p>
            <a:pPr marL="285750" indent="-285750">
              <a:buClr>
                <a:schemeClr val="accent5"/>
              </a:buClr>
              <a:buFont typeface="Wingdings" panose="05000000000000000000" pitchFamily="2" charset="2"/>
              <a:buChar char="n"/>
            </a:pPr>
            <a:r>
              <a:rPr lang="zh-CN" altLang="en-US" sz="2000" b="1" dirty="0">
                <a:latin typeface="Arial" panose="020B0604020202020204" pitchFamily="34" charset="0"/>
                <a:cs typeface="Arial" panose="020B0604020202020204" pitchFamily="34" charset="0"/>
              </a:rPr>
              <a:t>有效性和可解释性</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在真实世界的两个数据集验证了本模型的有效性和可解释性</a:t>
            </a:r>
            <a:endParaRPr lang="en-US" altLang="zh-CN" sz="2000" dirty="0">
              <a:latin typeface="Arial" panose="020B0604020202020204" pitchFamily="34" charset="0"/>
              <a:cs typeface="Arial" panose="020B0604020202020204" pitchFamily="34" charset="0"/>
            </a:endParaRPr>
          </a:p>
        </p:txBody>
      </p:sp>
      <p:pic>
        <p:nvPicPr>
          <p:cNvPr id="4" name="图片 3">
            <a:extLst>
              <a:ext uri="{FF2B5EF4-FFF2-40B4-BE49-F238E27FC236}">
                <a16:creationId xmlns:a16="http://schemas.microsoft.com/office/drawing/2014/main" id="{5C600C10-5753-4112-81FA-DDA2D57FCA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06640" y="90890"/>
            <a:ext cx="1700553" cy="1084900"/>
          </a:xfrm>
          <a:prstGeom prst="rect">
            <a:avLst/>
          </a:prstGeom>
        </p:spPr>
      </p:pic>
    </p:spTree>
    <p:extLst>
      <p:ext uri="{BB962C8B-B14F-4D97-AF65-F5344CB8AC3E}">
        <p14:creationId xmlns:p14="http://schemas.microsoft.com/office/powerpoint/2010/main" val="2807768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a:spLocks/>
          </p:cNvSpPr>
          <p:nvPr/>
        </p:nvSpPr>
        <p:spPr>
          <a:xfrm>
            <a:off x="1635717" y="2834817"/>
            <a:ext cx="6164115" cy="4616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4000" b="1" dirty="0">
                <a:solidFill>
                  <a:schemeClr val="accent5"/>
                </a:solidFill>
                <a:latin typeface="Arial" panose="020B0604020202020204" pitchFamily="34" charset="0"/>
                <a:cs typeface="Arial" panose="020B0604020202020204" pitchFamily="34" charset="0"/>
              </a:rPr>
              <a:t>Thank you for listening</a:t>
            </a:r>
            <a:endParaRPr lang="zh-CN" altLang="en-US" sz="4000" b="1" dirty="0">
              <a:solidFill>
                <a:schemeClr val="accent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9856874"/>
      </p:ext>
    </p:extLst>
  </p:cSld>
  <p:clrMapOvr>
    <a:masterClrMapping/>
  </p:clrMapOvr>
</p:sld>
</file>

<file path=ppt/theme/theme1.xml><?xml version="1.0" encoding="utf-8"?>
<a:theme xmlns:a="http://schemas.openxmlformats.org/drawingml/2006/main" name="KOPPT">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3456</TotalTime>
  <Words>2505</Words>
  <Application>Microsoft Office PowerPoint</Application>
  <PresentationFormat>全屏显示(4:3)</PresentationFormat>
  <Paragraphs>198</Paragraphs>
  <Slides>19</Slides>
  <Notes>18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宋体</vt:lpstr>
      <vt:lpstr>微软雅黑</vt:lpstr>
      <vt:lpstr>Arial</vt:lpstr>
      <vt:lpstr>Calibri</vt:lpstr>
      <vt:lpstr>Calibri Light</vt:lpstr>
      <vt:lpstr>Cambria Math</vt:lpstr>
      <vt:lpstr>Times New Roman</vt:lpstr>
      <vt:lpstr>Wingdings</vt:lpstr>
      <vt:lpstr>KOPPT</vt:lpstr>
      <vt:lpstr>Neural Cognitive Diagnosis for Intelligent Education Systems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Cognitive Diagnosis for Intelligent Education System</dc:title>
  <dc:creator>Wang Fei</dc:creator>
  <cp:lastModifiedBy>Administrator</cp:lastModifiedBy>
  <cp:revision>152</cp:revision>
  <dcterms:created xsi:type="dcterms:W3CDTF">2019-11-20T13:28:20Z</dcterms:created>
  <dcterms:modified xsi:type="dcterms:W3CDTF">2021-06-27T06:41:19Z</dcterms:modified>
</cp:coreProperties>
</file>